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8" r:id="rId3"/>
    <p:sldId id="259" r:id="rId4"/>
    <p:sldId id="260" r:id="rId5"/>
    <p:sldId id="257" r:id="rId6"/>
    <p:sldId id="281" r:id="rId7"/>
    <p:sldId id="282" r:id="rId8"/>
    <p:sldId id="283" r:id="rId9"/>
    <p:sldId id="284" r:id="rId10"/>
    <p:sldId id="285" r:id="rId11"/>
    <p:sldId id="261" r:id="rId12"/>
    <p:sldId id="262" r:id="rId13"/>
    <p:sldId id="263" r:id="rId14"/>
    <p:sldId id="264"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ok" id="{75E04F03-8E40-CD1A-C6AE-9DD1893CE9C9}">
          <p14:sldIdLst>
            <p14:sldId id="256"/>
            <p14:sldId id="258"/>
            <p14:sldId id="259"/>
            <p14:sldId id="260"/>
            <p14:sldId id="257"/>
            <p14:sldId id="281"/>
            <p14:sldId id="282"/>
            <p14:sldId id="283"/>
            <p14:sldId id="284"/>
            <p14:sldId id="285"/>
          </p14:sldIdLst>
        </p14:section>
        <p14:section name="Science" id="{79AC82C7-F877-43BF-D6B0-AB35EBB382BF}">
          <p14:sldIdLst>
            <p14:sldId id="261"/>
            <p14:sldId id="262"/>
            <p14:sldId id="263"/>
            <p14:sldId id="264"/>
          </p14:sldIdLst>
        </p14:section>
        <p14:section name="Break" id="{4CD0AA42-8826-47AC-49D0-CEEF2FDB8CAF}">
          <p14:sldIdLst/>
        </p14:section>
        <p14:section name="Tools" id="{9366A147-5461-CD3C-905A-B3166A61FE38}">
          <p14:sldIdLst>
            <p14:sldId id="266"/>
            <p14:sldId id="267"/>
            <p14:sldId id="268"/>
            <p14:sldId id="269"/>
            <p14:sldId id="270"/>
          </p14:sldIdLst>
        </p14:section>
        <p14:section name="Practice" id="{3AB1A5D4-1423-687E-1707-7FAEF5632231}">
          <p14:sldIdLst>
            <p14:sldId id="271"/>
            <p14:sldId id="272"/>
            <p14:sldId id="273"/>
            <p14:sldId id="274"/>
            <p14:sldId id="275"/>
          </p14:sldIdLst>
        </p14:section>
        <p14:section name="Apply" id="{4049D5A0-F84E-0FEB-F735-0B17AFDA6BAE}">
          <p14:sldIdLst>
            <p14:sldId id="276"/>
            <p14:sldId id="277"/>
            <p14:sldId id="278"/>
          </p14:sldIdLst>
        </p14:section>
        <p14:section name="Close" id="{F43AB479-0413-EBAB-66B1-A3F42B9D97F3}">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6260" autoAdjust="0"/>
  </p:normalViewPr>
  <p:slideViewPr>
    <p:cSldViewPr snapToGrid="0" snapToObjects="1">
      <p:cViewPr varScale="1">
        <p:scale>
          <a:sx n="51" d="100"/>
          <a:sy n="51" d="100"/>
        </p:scale>
        <p:origin x="9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45118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 to 0:02 (2 min)
OPEN BEFORE YOU SHOW ANYTHING SUBSTANTIVE. Ask the room: "Raise your hand if you have ever had a manager whose mood set the weather for the whole team." Pause and let the laughter and nods land. That is today's subject.
Frame the session: two hours, three parts. First the science (what positive psychology is and why it works), then personal tools (strengths, mindset, optimism, flow), then leading others (safety, gratitude, appreciative inquiry, and the pitfalls). We will do four short activities and one case study, so expect to talk, not just listen.
Housekeeping: tell them you will finish on time because they have their own presentations to deliver. There is a 5-minute break at the halfway mark.
TIP: Step away from the screen during the opening. The slides support you; they are not the show.</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0:04 to 0:06 (2 min)
Read the three objectives aloud and connect each one to a verb: EXPLAIN, USE, DESIGN. Students in a leadership MS program want to leave with something they can do on Monday, so say that explicitly.
The third objective contains the quiet warning of the day: "without toxic positivity." Plant that seed now. Many managers hear "positive leadership" and imagine forced cheerfulness. Tell them the research says almost the opposite: positive leaders are often the most honest ones, because their teams feel safe enough to tell the truth. We will return to this on slide 20.
TRANSITION: "Before I give you any theory, let me ask you to teach me something."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0:06 to 0:10 (4 min total: 1 min set-up, 3 min pair share; collect themes inside your buffer)
ACTIVITY: Best leader pair share.
SET-UP (30 seconds): Ask everyone to think silently for 20 seconds about the best leader they have ever worked for or learned from. It could be a boss, a teacher, a coach, or a family member.
PAIR SHARE: Each person gets 90 seconds to tell their partner (1) what the leader did and (2) how it felt to be around them. The third question, "what did you do differently because of them?", is the most important one; it shows that leader behavior changes follower behavior.
COLLECT THEMES: Take 4 to 6 words from the room and write them on the board. Expect words like: trust, belief in me, listened, gave credit, high standards, patient, honest, purpose.
THE PAYOFF: Point out that almost none of the words are about technical skill or IQ. They are about positive emotion, relationships, meaning, and strengths, which is exactly what today's science explains. Say: "You already know this. Today we find out why it works, and how to do it on purpose."
Keep the board words visible; refer back to them on slides 7 and 24.</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0:10 to 0:15 (5 min)
THE POINT: Positivity is not a soft extra. It is connected to hard outcomes.
THE THREE NUMBERS (cite the sources aloud):
1. 70%: Gallup's analyses of workplace engagement found that managers account for at least 70% of the variance in team engagement scores. In plain terms, the manager is the single biggest lever. That puts the responsibility squarely on the people in this room.
2. 12%: Oswald, Proto and Sgroi (University of Warwick, 2015) ran experiments in which people were made happier (for example, by watching a short comedy clip) and then completed tasks. Happier people were about 12% more productive. The effect was causal, because happiness was manipulated.
3. 225: Lyubomirsky, King and Diener (2005) reviewed 225 studies. They found that happiness is associated with later success in work, relationships, and health, not just the reverse. People often assume success makes you happy; this suggests happiness also helps produce success.
IMPORTANT CAVEAT (say it out loud; it builds credibility): These are associations and a few experiments, not guarantees. Positivity does not replace clear goals, good processes, or fair pay. It amplifies them.
QUESTION TO ASK THE ROOM (30 seconds): "Which of these three numbers surprises you most?" Take one or two answers.
TRANSITION: "So where did this field come from, and what exactly is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3098687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dirty="0"/>
          </a:p>
        </p:txBody>
      </p:sp>
    </p:spTree>
    <p:extLst>
      <p:ext uri="{BB962C8B-B14F-4D97-AF65-F5344CB8AC3E}">
        <p14:creationId xmlns:p14="http://schemas.microsoft.com/office/powerpoint/2010/main" val="3049641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514350" y="4400550"/>
            <a:ext cx="4114800" cy="3600450"/>
          </a:xfrm>
          <a:prstGeom prst="rect">
            <a:avLst/>
          </a:prstGeom>
        </p:spPr>
        <p:txBody>
          <a:bodyPr/>
          <a:lstStyle/>
          <a:p>
            <a:endParaRPr lang="en-US"/>
          </a:p>
        </p:txBody>
      </p:sp>
    </p:spTree>
    <p:extLst>
      <p:ext uri="{BB962C8B-B14F-4D97-AF65-F5344CB8AC3E}">
        <p14:creationId xmlns:p14="http://schemas.microsoft.com/office/powerpoint/2010/main" val="40328465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0:15 to 0:19 (4 min)
THE BIG IDEA: For most of the 20th century, psychology focused on what goes wrong: depression, anxiety, trauma, dysfunction. That work saved lives. But it left a gap. Getting someone from -5 to 0 means they are no longer suffering; it does not tell you how to help them thrive at +5.
Use the band graphic: left side is the traditional focus (reduce suffering), right side is the positive psychology focus (build flourishing). Emphasize that it is AND, not OR. Positive psychology does not deny problems; it adds a second question: "What makes life worth living, and how do we build more of it?"
THE FOUNDERS (brief):
- Martin Seligman made well-being the theme of his 1998 presidency of the American Psychological Association. That is usually treated as the field's launch.
- Mihaly Csikszentmihalyi (pronounced roughly "chick-sent-me-high") had been studying optimal experience, which he named "flow." We will meet it later.
- Christopher Peterson worked with Seligman on the classification of character strengths (slide 11).
LEADERSHIP LINK: A leader who only hunts for problems gets a team that hides them. A leader who also looks for what is working gets a team that grows. Ask: "How much of your last team meeting was about problems versus what was going well?"
TRANSITION: "Seligman organized the science into five elements. Here they are."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0:19 to 0:23 (4 min)
Introduce PERMA from Seligman's 2011 book Flourish. It is a model of well-being with five measurable building blocks. Say the acronym slowly and ask people to remember it by tapping out the letters on their fingers.
P, POSITIVE EMOTION: Not just happiness. It includes gratitude, hope, interest, pride, and amusement. Ask: "Which of these shows up most in your workplace?"
E, ENGAGEMENT: Being absorbed in a task that stretches you; time disappears. This is the flow state (slide 15).
R, RELATIONSHIPS: Feeling supported, valued, and connected to others. Of the five, this is probably the strongest predictor of well-being across studies.
M, MEANING: Belonging to and serving something larger than yourself. For some people that is faith, community, or family; at work it often means seeing who is helped by what you do.
A, ACCOMPLISHMENT: Mastery, progress, and goals achieved, pursued for their own sake.
POINT TO MAKE: Different people lean on different elements. One person is energized by relationships; another by achievement. A good leader notices which block is thin for each team member.
CALLBACK: Look back at the words on the board from the warm-up. Ask students to match two or three of them to a PERMA letter. (For example, "believed in me" maps to Accomplishment; "listened" maps to Relationships.)
TRANSITION: "Okay, that is the theory. What does it look like in an actual team?"</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0:23 to 0:26 (3 min)
This slide turns each PERMA element into a concrete leader behavior. Read one card each, then invite the room to add their own.
P: Open meetings with a win or good news. It takes 60 seconds and changes the emotional temperature of the room.
E: Match tasks to strengths and protect focus time. Constant interruptions are the enemy of engagement.
R: Real one-to-ones are not status updates. Ask about their lives and what support they need.
M: Link every task to the people it helps. A support-team member who hears from a customer they helped works with more energy. (Adam Grant has studied this with call-center fundraisers who met the scholarship students their work supported.)
A: Make progress visible: a simple board, a weekly "what we shipped" note. People need to see movement.
BALANCE card: Ask "what is working?" as often as "what is wrong?"
QUICK POLL (30 seconds): "Which one of these six could you do tomorrow with no budget and no permission?" Hands up for each letter. Most people say P or R, which makes the point that these are accessible.
CULTURAL NOTE FOR DISCUSSION: Most of this research was done in Western, individualistic settings. Invite students to think about how expressions of recognition, hierarchy, and feedback might look different in their own organizations. The principles tend to travel; the forms may need adapting.
TRANSITION: "Let me show you why these small things matter so much, mechanically."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0:26 to 0:32 (6 min)
THE THEORY: Barbara Fredrickson's broaden-and-build theory (2001). Negative emotions narrow our attention. That is useful: fear makes you focus on the threat. Positive emotions do the opposite. They broaden our attention and our repertoire of thoughts and actions.
WALK THE CYCLE (follow the arrows clockwise):
1. Positive emotion (joy, interest, gratitude).
2. A broader mind: we notice more, think more creatively, consider more options.
3. Over time we build durable resources: skills, social bonds, psychological resilience.
4. Those resources make more positive emotion possible. An upward spiral.
EXAMPLE TO TELL: A team that laughs together in a calm planning meeting generates more ideas than a team under fear of blame. Over months, the first team builds trust, which becomes a lasting resource.
NOW THE HONEST CAVEAT (right-hand card): You may have heard of the "3:1 positivity ratio," the claim that you need three positive emotions for every negative one to flourish. In 2013, Brown, Sokal and Friedman published a critique showing the mathematics behind that precise number did not hold up, and the specific ratio was withdrawn. The broader idea that positive emotions broaden and build is supported by many experiments, but there is no magic number. Tell students: this is a good habit for any research claim. When someone gives you an exact formula for human behavior, be curious about where it came from.
TRANSITION INTO BREAK: "Let's pause here. When we come back we move from the science to the toolkit."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0:37 to 0:43 (6 min)
TRANSITION IN: "Now to the personal toolkit. Start with the foundation: knowing your strengths."
THE IDEA: Christopher Peterson and Martin Seligman (2004) reviewed cultures and traditions and classified 24 character strengths grouped under six virtues. The six virtues are Wisdom, Courage, Humanity, Justice, Temperance, and Transcendence. Read the cards fast; do not read every strength.
KEY POINTS:
- Strengths are different from skills. A skill is what you can do; a strength is a trait that energizes you when you use it.
- Most people have 3 to 7 "signature strengths." Using them at work is linked to higher engagement and satisfaction.
- The free VIA survey (viacharacter.org) takes about 10 minutes and lists all 24 in rank order. Recommend it as homework.
QUICK ACTIVITY (2 min): Ask students to look at the 24 and silently circle the three that feel most "like me" and most energizing. Do not ask for answers yet; slide 12 uses them.
CULTURE NOTE: These strengths were found across many cultures, though how they are expressed varies. Invite students to think about whether the "leadership" strength looks the same in their context.
TRANSITION: "Now, how do you use strengths as a leader, not just as an individual?"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0:43 to 0:49 (6 min)
THE LEADER'S MOVE: Moving from knowing your own strengths to developing other people's.
THREE VERBS (left side):
- SPOT: Notice strengths in others and name them. "You are great at keeping calm when the client is angry" is a gift most people have never been given.
- MATCH: Allocate work that uses signature strengths where you can. Not everything, but more than you currently do.
- COMPLEMENT: No one has every strength. Great teams pair people so one person's strength covers another's gap. This also takes the pressure off the leader to be perfect.
You can mention that Gallup's research on strengths-based development, and its CliftonStrengths tool, points in the same direction: people who get to use their strengths daily tend to be more engaged. If you cite specific figures, check Gallup's current publications first.
ACTIVITY, 5 MINUTES (right-hand card):
1. Individually, 1 minute: write your top 3 strengths (use your VIA results if you have them, otherwise your circled ones from slide 11).
2. Pairs, 3 minutes: each person tells their partner about ONE time they used one of those strengths at work. Partner listens and says back: "The strength I heard was ___."
3. Debrief, 1 minute: ask how it felt to hear a strength named by someone else. Typical answers: "Surprisingly good," "Awkward at first." That reaction is the point; most workplaces do too little of it.
TRANSITION: "Strengths tell you what you have. Mindset tells you what you do with it."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0:49 to 0:54 (5 min)
THE THEORY: Carol Dweck's research (Mindset, 2006). People tend to hold either a fixed mindset (ability is set at birth) or a growth mindset (ability can be developed through effort, strategies, and help). Most of us have a mix, and it can vary by situation.
WALK THE TABLE: Read across each row, contrasting the left (fixed) and right (growth) responses:
- CHALLENGES: avoid them vs embrace them.
- SETBACKS: proof of my limits vs information to learn from.
- EFFORT: a sign of weakness vs the path to mastery.
- FEEDBACK: a threat to my ego vs a gift to use.
WHY LEADERS CARE: Teams take their cue from the leader. If a mistake is met with blame, people hide mistakes (fixed). If it is met with "what did we learn?", people take smart risks (growth).
PRACTICAL MOVE (bottom caption): Praise effort and strategy, not talent. "You tried three approaches before it worked" builds growth mindset. "You are so smart" can create pressure to look smart.
HONEST NOTE: Growth-mindset interventions have shown mixed results in large replication studies, with smaller effects than early claims, and they work best when the environment actually supports learning. A mindset slogan on the wall means nothing if people are punished for mistakes. That is a good bridge to psychological safety on slide 16.
ASK (30 seconds): "Where do you notice your own fixed mindset showing up?" Take one or two volunteers.
TRANSITION: "Mindset is about ability. Optimism is about how we explain events."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0:54 to 1:00 (6 min)
THE THEORY: Martin Seligman's Learned Optimism (1990). Optimists and pessimists differ mostly in explanatory style, the story they tell themselves about WHY bad things happen. Three dimensions, the 3 Ps:
- PERMANENCE: Pessimists think bad events are permanent ("It will always be this way"). Optimists see them as temporary.
- PERVASIVENESS: Pessimists think a setback spreads to everything ("This ruins everything"). Optimists keep it contained ("This affects one area").
- PERSONALIZATION: Pessimists blame themselves entirely ("It is all my fault"). Optimists see several causes, including their own part.
GOOD NEWS: Seligman's central claim is that explanatory style can be learned. It is a skill.
IMPORTANT NUANCE: This is NOT denying reality or taking no responsibility. The optimistic explanation is still honest: "I made a mistake in this proposal (my part), but it is one proposal (not pervasive), and I can fix it next week (temporary)." For GOOD events, the flip is healthy: permanent, pervasive, and about me.
ACTIVITY, 4 MINUTES (right-hand card):
1. Individually, 1 minute: write down one recent setback (something small to medium; remind them they will not have to share details).
2. Individually, 2 minutes: write the pessimistic story, then rewrite it using the 3 Ps.
3. Quick share, 1 minute: one volunteer shares how the rewrite changed how they felt about next steps. Not whether it was "true," but whether it was more useful.
OPTIONAL EXTENSION: If someone asks for a method, mention Seligman's ABCDE model: Adversity, Beliefs, Consequences, Disputation, Energization. It is on the toolkit slide.
LEADERSHIP LINK: Leaders model explanatory style out loud. "This quarter was rough; here is what we control, here is what we learned" teaches your team the optimistic habit.
TRANSITION: "Last tool in this block: how to design work that people lose themselves 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1:00 to 1:05 (5 min)
NOTE: This is the first slide to cut if you are behind schedule. Move straight to slide 16 and mention flow in one sentence.
THE THEORY: Mihaly Csikszentmihalyi's concept of flow (1990): a state of complete absorption in a task where time seems to disappear. It is the E in PERMA.
READ THE GRID (a simplified version of his model):
- Challenge too high, skill too low: ANXIETY.
- Challenge too low, skill too high: BOREDOM.
- Both low: APATHY.
- Both high and matched: FLOW.
Tell students flow lives in the match: the task stretches you just beyond your current ability.
THE LEADER'S JOB (right side):
1. Set stretch goals with clear targets so people know what "good" looks like.
2. Give fast, specific feedback; flow needs a feedback loop.
3. Protect focus time. A meeting every hour kills flow.
DIAGNOSTIC QUESTION (30 seconds): "Think of a team member who seems checked out. Are they bored or anxious?" The fix is opposite: boredom needs more challenge; anxiety needs more support or training.
Mention the grid is a simplified model. Csikszentmihalyi's original showed a diagonal channel and more states (like arousal and relaxation).
TRANSITION: "You now have a personal toolkit. Let's turn from yourself to your team." (This ends Personal tools at about 1:05.)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 to 1:11 (6 min)
THE FOUNDATION: Everything in positive leadership sits on psychological safety, which Amy Edmondson (1999) defined as a shared belief that the team is safe for interpersonal risk-taking. In plain language: people believe they will not be punished or humiliated for speaking up, asking questions, admitting mistakes, or disagreeing.
THE GOOGLE STORY: Google's Project Aristotle (published around 2015) studied what made its teams effective. Who was on the team mattered less than how the team worked together, and psychological safety stood out as the most important dynamic. It is a memorable example because Google expected that team composition (the smartest people) would matter most.
FOUR LEADER BEHAVIORS (right side):
- GO FIRST: Admit your own mistake before asking anyone else to. Nothing signals safety faster.
- ASK, THEN LISTEN: Genuine questions, and then silence long enough for answers.
- THANK PEOPLE FOR BAD NEWS: The first reaction to bad news determines whether you ever hear bad news again.
- CURIOSITY, NOT BLAME: "What happened?" before "Who did this?"
DISCUSSION (2 min): "What does the first reaction to bad news look like in your organization?" This is also a good place to acknowledge that hierarchy and authority differ across workplaces and cultures; ask students how safety might be built in steeply hierarchical settings. Often the answer is small, private, specific acts of trust by the leader.
LINK BACK: Growth mindset (slide 13) only works in an environment like this.
TRANSITION: "With that foundation, here is a framework for what leaders can actively do."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1:11 to 1:17 (6 min)
THE FRAMEWORK: Kim Cameron of the University of Michigan (Positive Leadership, 2008) is a leading figure in Positive Organizational Scholarship, the study of what makes organizations flourish. He describes four strategies that positive leaders use.
COVER EACH CARD IN ABOUT 90 SECONDS:
1. POSITIVE CLIMATE: Build a culture where gratitude, compassion, and forgiveness are normal. Research on organizational compassion and forgiveness shows benefits for commitment and performance. Ask: "What does your team do when someone makes a mistake?"
2. POSITIVE RELATIONSHIPS: Build energizing networks; notice who gives people energy and who drains it. Use the strengths you spotted earlier.
3. POSITIVE COMMUNICATION: Be supportive and specific. A useful exercise from the Michigan group is the Reflected Best Self: ask people close to you for stories of when you were at your best, and look for patterns. A manager can do a version of this with their team.
4. POSITIVE MEANING: Connect daily work to values and to the people it serves. This is the M in PERMA at the organizational level.
SHORT REFLECTION (1 min): "Which of the four is your organization strongest in? Which is weakest?" Hands up for weakest. Most rooms say meaning or communication.
CULTURAL NOTE: Concepts like compassion, forgiveness, and meaning are expressed through local customs and values. Invite students to think about how these might connect with the values and traditions in their own workplaces.
TRANSITION: "One of the simplest of these tools, and one of the most underused, is saying thank you."</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1:17 to 1:21 (4 min)
THE STUDY: Adam Grant and Francesca Gino (2010) ran an experiment with university fundraisers who made calls to alumni. Some fundraisers had a short visit from the director who thanked them for their work. Others did not. In the following week, the thanked group made about 50% more calls. A single, brief expression of gratitude changed behavior.
Tell the story with detail: it is a field experiment, not a survey, so it gives stronger evidence than most of the studies in this field. Explain that the thanked group felt more socially valued, and that feeling drove the effort.
FOUR RULES FOR RECOGNITION THAT WORKS (cards):
- SPECIFIC: Say what the person did and what difference it made. "Great job" fades; "Your summary let the client decide in one meeting" sticks.
- TIMELY: Within days. Waiting for the annual review turns gratitude into a formality.
- SINCERE: People can tell scripted praise. Only say what you mean.
- SHARED: Build a culture where peers thank each other. It scales and does not depend on you.
QUICK EXERCISE (1 min): "Think of one person who did something useful for you this week. In 30 seconds, write what you would say, using the 'specific' rule." Ask them to actually send it after class.
OPTIONAL: Mention Robert Emmons's research on gratitude journaling as a companion practice.
TRANSITION: "Now let's use positivity to run a change conversation."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1:21 to 1:25 (4 min)
NOTE: If short on time, spend one minute on this slide: name the four Ds, read the "Try it" line, and move on.
THE METHOD: Appreciative inquiry (AI) was developed by David Cooperrider and colleagues (Cooperrider and Srivastva, 1987; Cooperrider and Whitney, 2005). Instead of starting change with "what is the problem?", it starts with "what is working, and how do we get more of it?"
THE FOUR Ds:
1. DISCOVER: What gives life to us? Recall peak moments. Interview each other about times the team was at its best.
2. DREAM: What could this look like at its best? Let people imagine without limits.
3. DESIGN: What systems, roles, and processes would make that real?
4. DESTINY: What will we commit to doing? Concrete next steps. (Some versions call this Deliver.)
WHY IT WORKS: It draws on broaden-and-build (slide 9). Talking about strengths creates the positive emotion that opens up thinking. It also avoids defensiveness, which problem-first meetings often trigger.
TRY IT LINE (bottom strip): Open the next meeting with "Tell us about a time this month we were at our best." Ask the room to try it this week.
CAUTION: AI is not a license to ignore problems. It reframes how you approach them. The next slide is about that line.
TRANSITION: "Which brings us to the biggest misunderstanding about all of this."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1:25 to 1:30 (5 min)
THE MESSAGE: Positive leadership is not "just stay positive." That is toxic positivity, and it backfires.
TOXIC POSITIVITY (left): Insisting on a positive attitude regardless of reality. It hides problems until they grow, shames people for normal negative emotions (grief, fear, frustration), and silences dissent because speaking up looks "negative." It also erodes trust: people know when things are bad.
REALISTIC OPTIMISM (right): Faces the facts fully, and still believes effort can improve the situation. It makes room for worry and grief, welcomes bad news and dissent, and pairs hope with a concrete plan.
TWO TOOLS (bottom strip):
- STOCKDALE PARADOX (Jim Collins, Good to Great): Admiral James Stockdale survived years as a prisoner of war. He said the people who did not make it were the naive optimists ("we will be out by Christmas"). The survivors kept unwavering faith that they would prevail while confronting the brutal facts of their situation. Both at once.
- WOOP (Gabriele Oettingen): Wish, Outcome, Obstacle, Plan. Research on "mental contrasting" suggests that imagining the obstacle, not just the dream, helps people follow through.
ASK (1 min): "Where have you seen forced positivity go wrong?" Take one or two stories. Often this is the most memorable moment of the session.
GOOD CLOSING LINE: "Positive leaders are not the ones who smile the most. They are the ones whose teams feel safe telling them the truth."
CRITICAL READING: You may also mention Barbara Ehrenreich's book Bright-Sided as a well-known critique of the positive-thinking culture. It is worth reading if students want the skeptical side.
TRANSITION: "You have the ideas. Now let's test them on a real problem."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1:30 to 1:40 (10 min: 1 min set-up, 7 min group work, 2 min report-back)
THE CASE: Read the scenario aloud slowly. A new manager inherits a team of eight that has just lost two colleagues in a restructuring. Targets are unchanged. Meetings are silent and cynicism is rising.
SET-UP (1 min): Form groups of 4 to 5. Ask them to appoint a spokesperson. Tell them there is no single right answer, but they must be specific, and they should use at least two tools from today.
THREE QUESTIONS FOR THE GROUPS:
1. What do you do in your first week?
2. Which tools from today would you use, and in what order?
3. How do you stay honest and avoid toxic positivity?
WALK AROUND while they work. Listen for good moves and for traps:
- GOOD: acknowledging the loss openly; listening one-to-one first (psychological safety); naming what the team is still good at (strengths); clarifying what will not change; small wins to rebuild a sense of progress.
- TRAPS: opening with a pep talk; announcing "we are a family now"; skipping the loss and going straight to targets; being relentlessly cheerful.
REPORT-BACK (2 min): Ask two groups for their first-week move and the order of their tools. Common good answers: acknowledge loss, listen, then strengths and wins.
KEY POINT TO LAND: Sequence matters. You cannot do gratitude or appreciative inquiry before safety and honesty. People first need to feel their reality was heard.
If you are over time, cut the report-back to one group.</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1:40 to 1:43 (3 min)
THE POINT: The toolkit is small on purpose. Five practices, each takes minutes, each is backed by research. Read them quickly.
1. THREE GOOD THINGS: Each night, write down three things that went well and why they happened. In a well-known study (Seligman, Steen, Park and Peterson, 2005), people who did this for a week reported higher happiness and fewer depressive symptoms for months. It is the best-evidenced "starter" practice.
2. STRENGTHS SPOTTING: Name one strength you saw in someone today. Say it to them.
3. GRATITUDE NOTE: One specific thank-you per week (slide 18).
4. ABCDE REFRAME: After a setback, work through Adversity (what happened), Beliefs (what you told yourself), Consequences (how you felt and acted), Disputation (challenge the belief with evidence), Energization (the feeling after you reframe). This is Seligman's tool from slide 14.
5. WINS-FIRST MEETINGS: Open every meeting with one thing that worked.
THE RULE (dark card): Pick ONE. Start Monday. Research on habit change suggests that one small, specific action beats five ambitious intentions. Resist the urge to do all five.
TRANSITION: "Let's lock in your pick right now."</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1:43 to 1:45 (2 min)
ACTIVITY: Personal commitment. This is short, and it must not be skipped. Intentions written down and shared are much more likely to be acted on than intentions kept in your head.
INSTRUCTIONS:
1. Ask everyone to write their answers on a notepad or in their phone notes:
   - ONE practice I will start (from the toolkit).
   - ONE person I will start with (a team member, a peer, or even a family member).
   - HOW I WILL KNOW it is working (something observable, such as "people volunteer problems in meetings" or "I have sent four thank-you notes").
2. After 90 seconds, ask them to read it to their partner.
3. Optional: ask them to photograph or save it, and set a 30-day calendar reminder.
If you want a follow-up, invite students to email you one line about what happened in 30 days, or to report back at a future session. Mention that you will happily hear about what did not work too.
TRANSITION: "Let me pull the whole session into four sentences."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1:45 to 1:48 (3 min)
SLOW DOWN HERE. This is the slide people photograph. Read each takeaway aloud and add one sentence of reinforcement:
1. POSITIVITY IS A PERFORMANCE STRATEGY, NOT A MOOD. It is linked to engagement, productivity, and better outcomes. It is something you do, not something you feel.
2. BUILD ON STRENGTHS; GROW WITH MINDSET AND LEARNED OPTIMISM. Know your strengths, use them, spot them in others, and practice better explanations of setbacks.
3. CREATE SAFETY, GRATITUDE, AND MEANING FOR YOUR TEAM. Safety first, then the rest.
4. STAY HONEST: REALISTIC OPTIMISM BEATS FORCED CHEER. Believe in the effort and confront the facts.
CALLBACK: Return to the words on the board from the warm-up. Point to two or three and say: "Every one of these is a skill from today. The leaders you described were not born with it. They practiced it."
CLOSING LINE (suggested): "You will be remembered not for how clever your slides were, but for how people felt when they worked with you."
Pause for one beat of silence before moving to the next slide.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1:48 to 1:55 (up to 7 min including the buffer)
QUESTIONS: Invite questions for about 4 minutes. If there are none, seed the conversation with one of these:
- "Which idea today do you disagree with, and why?" (Invites critical thinking; nothing is wasted if students push back on the evidence.)
- "Where would positive leadership be hardest in your organization?"
- "How would you measure the effect of these practices on a team?"
FURTHER READING (right-hand card; say aloud that the slides can be shared):
- Seligman, Flourish (2011): the PERMA model.
- Seligman, Learned Optimism (1990): the 3 Ps and ABCDE.
- Fredrickson, Positivity (2009): broaden-and-build for general readers. Remember the 3:1 ratio caveat.
- Cameron, Positive Leadership (2008): four strategies.
- Dweck, Mindset (2006).
- Edmondson, The Fearless Organization (2018): psychological safety.
- Csikszentmihalyi, Flow (1990).
Other sources cited in the deck: Peterson and Seligman (2004), Grant and Gino (2010), Oswald, Proto and Sgroi (2015), Lyubomirsky, King and Diener (2005), Brown, Sokal and Friedman (2013), Cooperrider and Whitney (2005), Oettingen on WOOP, and Collins on the Stockdale paradox.
A NOTE ON EVIDENCE: Before sharing the deck, spot-check any figure you plan to repeat (especially the Gallup and Warwick numbers) against the original sources, as published numbers are sometimes updated.
TRANSITION TO THE STUDENT PRESENTATIONS: Thank them, restate the one-practice commitment, and say: "Now it is your turn to lead. Practice what we covered: give the first presenter your full attention, and name one strength you saw in each speaker." That sets a positive, supportive tone for the presentations.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spTree>
      <p:nvGrpSpPr>
        <p:cNvPr id="1" name=""/>
        <p:cNvGrpSpPr/>
        <p:nvPr/>
      </p:nvGrpSpPr>
      <p:grpSpPr>
        <a:xfrm>
          <a:off x="0" y="0"/>
          <a:ext cx="0" cy="0"/>
          <a:chOff x="0" y="0"/>
          <a:chExt cx="0" cy="0"/>
        </a:xfrm>
      </p:grpSpPr>
      <p:sp>
        <p:nvSpPr>
          <p:cNvPr id="2" name="Text 0"/>
          <p:cNvSpPr/>
          <p:nvPr/>
        </p:nvSpPr>
        <p:spPr>
          <a:xfrm>
            <a:off x="457200" y="4754880"/>
            <a:ext cx="4572000" cy="274320"/>
          </a:xfrm>
          <a:prstGeom prst="rect">
            <a:avLst/>
          </a:prstGeom>
          <a:noFill/>
          <a:ln/>
        </p:spPr>
        <p:txBody>
          <a:bodyPr wrap="square" lIns="0" tIns="0" rIns="0" bIns="0" rtlCol="0" anchor="ctr"/>
          <a:lstStyle/>
          <a:p>
            <a:pPr marL="0" indent="0">
              <a:buNone/>
            </a:pPr>
            <a:r>
              <a:rPr lang="en-US" sz="1000" dirty="0">
                <a:solidFill>
                  <a:schemeClr val="tx2"/>
                </a:solidFill>
              </a:rPr>
              <a:t>Leading with Positivity</a:t>
            </a:r>
            <a:endParaRPr lang="en-US" sz="1000" dirty="0"/>
          </a:p>
        </p:txBody>
      </p:sp>
      <p:sp>
        <p:nvSpPr>
          <p:cNvPr id="3" name="Text 1"/>
          <p:cNvSpPr>
            <a:spLocks noGrp="1"/>
          </p:cNvSpPr>
          <p:nvPr>
            <p:ph type="title" idx="101" hasCustomPrompt="1"/>
          </p:nvPr>
        </p:nvSpPr>
        <p:spPr>
          <a:xfrm>
            <a:off x="457200" y="274320"/>
            <a:ext cx="8229600" cy="777240"/>
          </a:xfrm>
          <a:prstGeom prst="rect">
            <a:avLst/>
          </a:prstGeom>
          <a:noFill/>
          <a:ln/>
        </p:spPr>
        <p:txBody>
          <a:bodyPr wrap="square" rtlCol="0"/>
          <a:lstStyle>
            <a:lvl1pPr marL="0" indent="0" algn="l">
              <a:buNone/>
              <a:defRPr lang="en-US" sz="3000" b="1" dirty="0">
                <a:solidFill>
                  <a:schemeClr val="tx2"/>
                </a:solidFill>
              </a:defRPr>
            </a:lvl1pPr>
          </a:lstStyle>
          <a:p>
            <a:pPr marL="0" indent="0" algn="l">
              <a:buNone/>
            </a:pPr>
            <a:endParaRPr lang="en-US" sz="3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sp>
      <p:sp>
        <p:nvSpPr>
          <p:cNvPr id="3" name="Text 1"/>
          <p:cNvSpPr>
            <a:spLocks noGrp="1"/>
          </p:cNvSpPr>
          <p:nvPr>
            <p:ph type="title" idx="101" hasCustomPrompt="1"/>
          </p:nvPr>
        </p:nvSpPr>
        <p:spPr>
          <a:xfrm>
            <a:off x="457200" y="274320"/>
            <a:ext cx="8229600" cy="777240"/>
          </a:xfrm>
          <a:prstGeom prst="rect">
            <a:avLst/>
          </a:prstGeom>
          <a:noFill/>
          <a:ln/>
        </p:spPr>
        <p:txBody>
          <a:bodyPr wrap="square" rtlCol="0"/>
          <a:lstStyle>
            <a:lvl1pPr marL="0" indent="0" algn="l">
              <a:buNone/>
              <a:defRPr lang="en-US" sz="3000" b="1" dirty="0">
                <a:solidFill>
                  <a:schemeClr val="bg1"/>
                </a:solidFill>
              </a:defRPr>
            </a:lvl1pPr>
          </a:lstStyle>
          <a:p>
            <a:pPr marL="0" indent="0" algn="l">
              <a:buNone/>
            </a:pPr>
            <a:endParaRPr lang="en-US" sz="3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2"/>
          </a:solidFill>
          <a:ln/>
        </p:spPr>
        <p:txBody>
          <a:bodyPr/>
          <a:lstStyle/>
          <a:p>
            <a:endParaRPr lang="en-US"/>
          </a:p>
        </p:txBody>
      </p:sp>
      <p:sp>
        <p:nvSpPr>
          <p:cNvPr id="3" name="Text 1"/>
          <p:cNvSpPr>
            <a:spLocks noGrp="1"/>
          </p:cNvSpPr>
          <p:nvPr>
            <p:ph type="title" idx="101" hasCustomPrompt="1"/>
          </p:nvPr>
        </p:nvSpPr>
        <p:spPr>
          <a:xfrm>
            <a:off x="640080" y="822960"/>
            <a:ext cx="5303520" cy="1828800"/>
          </a:xfrm>
          <a:prstGeom prst="rect">
            <a:avLst/>
          </a:prstGeom>
          <a:noFill/>
          <a:ln/>
        </p:spPr>
        <p:txBody>
          <a:bodyPr wrap="square" rtlCol="0"/>
          <a:lstStyle>
            <a:lvl1pPr marL="0" indent="0" algn="l">
              <a:buNone/>
              <a:defRPr lang="en-US" sz="4800" b="1" dirty="0">
                <a:solidFill>
                  <a:schemeClr val="bg1"/>
                </a:solidFill>
              </a:defRPr>
            </a:lvl1pPr>
          </a:lstStyle>
          <a:p>
            <a:pPr marL="0" indent="0" algn="l">
              <a:buNone/>
            </a:pPr>
            <a:endParaRPr lang="en-US" sz="4800" dirty="0"/>
          </a:p>
        </p:txBody>
      </p:sp>
      <p:sp>
        <p:nvSpPr>
          <p:cNvPr id="4" name="Text 1"/>
          <p:cNvSpPr>
            <a:spLocks noGrp="1"/>
          </p:cNvSpPr>
          <p:nvPr>
            <p:ph type="body" idx="102" hasCustomPrompt="1"/>
          </p:nvPr>
        </p:nvSpPr>
        <p:spPr>
          <a:xfrm>
            <a:off x="640080" y="2788920"/>
            <a:ext cx="5303520" cy="502920"/>
          </a:xfrm>
          <a:prstGeom prst="rect">
            <a:avLst/>
          </a:prstGeom>
          <a:noFill/>
          <a:ln/>
        </p:spPr>
        <p:txBody>
          <a:bodyPr wrap="square" rtlCol="0"/>
          <a:lstStyle>
            <a:lvl1pPr marL="0" indent="0" algn="l">
              <a:buNone/>
              <a:defRPr lang="en-US" sz="2400" dirty="0">
                <a:solidFill>
                  <a:schemeClr val="accent1"/>
                </a:solidFill>
              </a:defRPr>
            </a:lvl1pPr>
          </a:lstStyle>
          <a:p>
            <a:pPr marL="0" indent="0" algn="l">
              <a:buNone/>
            </a:pPr>
            <a:endParaRPr lang="en-US" sz="24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03-Oct-26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0408802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7.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24.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1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halo-1"/>
          <p:cNvSpPr/>
          <p:nvPr/>
        </p:nvSpPr>
        <p:spPr>
          <a:xfrm>
            <a:off x="5943600" y="731520"/>
            <a:ext cx="3108960" cy="3108960"/>
          </a:xfrm>
          <a:prstGeom prst="ellipse">
            <a:avLst/>
          </a:prstGeom>
          <a:solidFill>
            <a:schemeClr val="accent1">
              <a:alpha val="20000"/>
            </a:schemeClr>
          </a:solidFill>
          <a:ln/>
        </p:spPr>
        <p:txBody>
          <a:bodyPr/>
          <a:lstStyle/>
          <a:p>
            <a:endParaRPr lang="en-US"/>
          </a:p>
        </p:txBody>
      </p:sp>
      <p:sp>
        <p:nvSpPr>
          <p:cNvPr id="3" name="circle-2"/>
          <p:cNvSpPr/>
          <p:nvPr/>
        </p:nvSpPr>
        <p:spPr>
          <a:xfrm>
            <a:off x="6400800" y="1188720"/>
            <a:ext cx="2194560" cy="2194560"/>
          </a:xfrm>
          <a:prstGeom prst="ellipse">
            <a:avLst/>
          </a:prstGeom>
          <a:solidFill>
            <a:srgbClr val="F5A623"/>
          </a:solidFill>
          <a:ln/>
        </p:spPr>
        <p:txBody>
          <a:bodyPr/>
          <a:lstStyle/>
          <a:p>
            <a:endParaRPr lang="en-US"/>
          </a:p>
        </p:txBody>
      </p:sp>
      <p:pic>
        <p:nvPicPr>
          <p:cNvPr id="4" name="icon-3" descr="icon"/>
          <p:cNvPicPr>
            <a:picLocks noChangeAspect="1"/>
          </p:cNvPicPr>
          <p:nvPr/>
        </p:nvPicPr>
        <p:blipFill>
          <a:blip r:embed="rId3"/>
          <a:stretch>
            <a:fillRect/>
          </a:stretch>
        </p:blipFill>
        <p:spPr>
          <a:xfrm>
            <a:off x="6894576" y="1682496"/>
            <a:ext cx="1207008" cy="1207008"/>
          </a:xfrm>
          <a:prstGeom prst="rect">
            <a:avLst/>
          </a:prstGeom>
        </p:spPr>
      </p:pic>
      <p:sp>
        <p:nvSpPr>
          <p:cNvPr id="5" name="Text 1"/>
          <p:cNvSpPr>
            <a:spLocks noGrp="1"/>
          </p:cNvSpPr>
          <p:nvPr>
            <p:ph type="title" idx="101" hasCustomPrompt="1"/>
          </p:nvPr>
        </p:nvSpPr>
        <p:spPr>
          <a:xfrm>
            <a:off x="640080" y="822960"/>
            <a:ext cx="5303520" cy="1828800"/>
          </a:xfrm>
          <a:prstGeom prst="rect">
            <a:avLst/>
          </a:prstGeom>
          <a:noFill/>
          <a:ln/>
        </p:spPr>
        <p:txBody>
          <a:bodyPr wrap="square" lIns="0" tIns="0" rIns="0" bIns="0" rtlCol="0" anchor="b"/>
          <a:lstStyle/>
          <a:p>
            <a:pPr marL="0" indent="0" algn="l">
              <a:buNone/>
            </a:pPr>
            <a:r>
              <a:rPr lang="en-US" sz="4800" b="1" dirty="0">
                <a:solidFill>
                  <a:schemeClr val="bg1"/>
                </a:solidFill>
              </a:rPr>
              <a:t>Leading with Positivity</a:t>
            </a:r>
            <a:endParaRPr lang="en-US" sz="4800" dirty="0"/>
          </a:p>
        </p:txBody>
      </p:sp>
      <p:sp>
        <p:nvSpPr>
          <p:cNvPr id="6" name="Text 1"/>
          <p:cNvSpPr>
            <a:spLocks noGrp="1"/>
          </p:cNvSpPr>
          <p:nvPr>
            <p:ph type="body" idx="102" hasCustomPrompt="1"/>
          </p:nvPr>
        </p:nvSpPr>
        <p:spPr>
          <a:xfrm>
            <a:off x="640080" y="2788920"/>
            <a:ext cx="5303520" cy="502920"/>
          </a:xfrm>
          <a:prstGeom prst="rect">
            <a:avLst/>
          </a:prstGeom>
          <a:noFill/>
          <a:ln/>
        </p:spPr>
        <p:txBody>
          <a:bodyPr wrap="square" lIns="0" tIns="0" rIns="0" bIns="0" rtlCol="0" anchor="t"/>
          <a:lstStyle/>
          <a:p>
            <a:pPr marL="0" indent="0" algn="l">
              <a:buNone/>
            </a:pPr>
            <a:r>
              <a:rPr lang="en-US" sz="2400" dirty="0">
                <a:solidFill>
                  <a:schemeClr val="accent1"/>
                </a:solidFill>
              </a:rPr>
              <a:t>The Power of Positive Psychology</a:t>
            </a:r>
            <a:endParaRPr lang="en-US" sz="2400" dirty="0"/>
          </a:p>
        </p:txBody>
      </p:sp>
      <p:sp>
        <p:nvSpPr>
          <p:cNvPr id="7" name="text-4"/>
          <p:cNvSpPr txBox="1"/>
          <p:nvPr/>
        </p:nvSpPr>
        <p:spPr>
          <a:xfrm>
            <a:off x="640080" y="3611880"/>
            <a:ext cx="5486400" cy="365760"/>
          </a:xfrm>
          <a:prstGeom prst="rect">
            <a:avLst/>
          </a:prstGeom>
          <a:noFill/>
          <a:ln/>
        </p:spPr>
        <p:txBody>
          <a:bodyPr wrap="square" lIns="0" tIns="0" rIns="0" bIns="0" rtlCol="0" anchor="t"/>
          <a:lstStyle/>
          <a:p>
            <a:pPr marL="0" indent="0">
              <a:buNone/>
            </a:pPr>
            <a:r>
              <a:rPr lang="en-US" sz="1600" dirty="0">
                <a:solidFill>
                  <a:schemeClr val="bg1"/>
                </a:solidFill>
              </a:rPr>
              <a:t>MS  |  Leadership &amp; Management Techniques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By the end of this session</a:t>
            </a:r>
            <a:endParaRPr lang="en-US" sz="3000" dirty="0"/>
          </a:p>
        </p:txBody>
      </p:sp>
      <p:sp>
        <p:nvSpPr>
          <p:cNvPr id="3" name="objective-card-42"/>
          <p:cNvSpPr/>
          <p:nvPr/>
        </p:nvSpPr>
        <p:spPr>
          <a:xfrm>
            <a:off x="457200" y="1280160"/>
            <a:ext cx="8229600" cy="914400"/>
          </a:xfrm>
          <a:prstGeom prst="roundRect">
            <a:avLst>
              <a:gd name="adj" fmla="val 8000"/>
            </a:avLst>
          </a:prstGeom>
          <a:solidFill>
            <a:schemeClr val="bg2"/>
          </a:solidFill>
          <a:ln/>
        </p:spPr>
        <p:txBody>
          <a:bodyPr/>
          <a:lstStyle/>
          <a:p>
            <a:endParaRPr lang="en-US"/>
          </a:p>
        </p:txBody>
      </p:sp>
      <p:sp>
        <p:nvSpPr>
          <p:cNvPr id="4" name="circle-43"/>
          <p:cNvSpPr/>
          <p:nvPr/>
        </p:nvSpPr>
        <p:spPr>
          <a:xfrm>
            <a:off x="685800" y="1417320"/>
            <a:ext cx="640080" cy="640080"/>
          </a:xfrm>
          <a:prstGeom prst="ellipse">
            <a:avLst/>
          </a:prstGeom>
          <a:solidFill>
            <a:srgbClr val="1F8A8A"/>
          </a:solidFill>
          <a:ln/>
        </p:spPr>
        <p:txBody>
          <a:bodyPr/>
          <a:lstStyle/>
          <a:p>
            <a:endParaRPr lang="en-US"/>
          </a:p>
        </p:txBody>
      </p:sp>
      <p:sp>
        <p:nvSpPr>
          <p:cNvPr id="5" name="text-44"/>
          <p:cNvSpPr txBox="1"/>
          <p:nvPr/>
        </p:nvSpPr>
        <p:spPr>
          <a:xfrm>
            <a:off x="685800" y="1417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1</a:t>
            </a:r>
            <a:endParaRPr lang="en-US" sz="2400" dirty="0"/>
          </a:p>
        </p:txBody>
      </p:sp>
      <p:sp>
        <p:nvSpPr>
          <p:cNvPr id="6" name="text-45"/>
          <p:cNvSpPr txBox="1"/>
          <p:nvPr/>
        </p:nvSpPr>
        <p:spPr>
          <a:xfrm>
            <a:off x="1600200" y="1280160"/>
            <a:ext cx="6858000" cy="914400"/>
          </a:xfrm>
          <a:prstGeom prst="rect">
            <a:avLst/>
          </a:prstGeom>
          <a:noFill/>
          <a:ln/>
        </p:spPr>
        <p:txBody>
          <a:bodyPr wrap="square" lIns="0" tIns="0" rIns="0" bIns="0" rtlCol="0" anchor="ctr"/>
          <a:lstStyle/>
          <a:p>
            <a:pPr marL="0" indent="0">
              <a:buNone/>
            </a:pPr>
            <a:r>
              <a:rPr lang="en-US" sz="1800" dirty="0">
                <a:solidFill>
                  <a:schemeClr val="tx1"/>
                </a:solidFill>
              </a:rPr>
              <a:t>Explain the core ideas of positive psychology, including PERMA and broaden-and-build</a:t>
            </a:r>
            <a:endParaRPr lang="en-US" sz="1800" dirty="0"/>
          </a:p>
        </p:txBody>
      </p:sp>
      <p:sp>
        <p:nvSpPr>
          <p:cNvPr id="7" name="objective-card-46"/>
          <p:cNvSpPr/>
          <p:nvPr/>
        </p:nvSpPr>
        <p:spPr>
          <a:xfrm>
            <a:off x="457200" y="2377440"/>
            <a:ext cx="8229600" cy="914400"/>
          </a:xfrm>
          <a:prstGeom prst="roundRect">
            <a:avLst>
              <a:gd name="adj" fmla="val 8000"/>
            </a:avLst>
          </a:prstGeom>
          <a:solidFill>
            <a:schemeClr val="bg2"/>
          </a:solidFill>
          <a:ln/>
        </p:spPr>
        <p:txBody>
          <a:bodyPr/>
          <a:lstStyle/>
          <a:p>
            <a:endParaRPr lang="en-US"/>
          </a:p>
        </p:txBody>
      </p:sp>
      <p:sp>
        <p:nvSpPr>
          <p:cNvPr id="8" name="circle-47"/>
          <p:cNvSpPr/>
          <p:nvPr/>
        </p:nvSpPr>
        <p:spPr>
          <a:xfrm>
            <a:off x="685800" y="2514600"/>
            <a:ext cx="640080" cy="640080"/>
          </a:xfrm>
          <a:prstGeom prst="ellipse">
            <a:avLst/>
          </a:prstGeom>
          <a:solidFill>
            <a:srgbClr val="C8452F"/>
          </a:solidFill>
          <a:ln/>
        </p:spPr>
        <p:txBody>
          <a:bodyPr/>
          <a:lstStyle/>
          <a:p>
            <a:endParaRPr lang="en-US"/>
          </a:p>
        </p:txBody>
      </p:sp>
      <p:sp>
        <p:nvSpPr>
          <p:cNvPr id="9" name="text-48"/>
          <p:cNvSpPr txBox="1"/>
          <p:nvPr/>
        </p:nvSpPr>
        <p:spPr>
          <a:xfrm>
            <a:off x="685800" y="25146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2</a:t>
            </a:r>
            <a:endParaRPr lang="en-US" sz="2400" dirty="0"/>
          </a:p>
        </p:txBody>
      </p:sp>
      <p:sp>
        <p:nvSpPr>
          <p:cNvPr id="10" name="text-49"/>
          <p:cNvSpPr txBox="1"/>
          <p:nvPr/>
        </p:nvSpPr>
        <p:spPr>
          <a:xfrm>
            <a:off x="1600200" y="2377440"/>
            <a:ext cx="6858000" cy="914400"/>
          </a:xfrm>
          <a:prstGeom prst="rect">
            <a:avLst/>
          </a:prstGeom>
          <a:noFill/>
          <a:ln/>
        </p:spPr>
        <p:txBody>
          <a:bodyPr wrap="square" lIns="0" tIns="0" rIns="0" bIns="0" rtlCol="0" anchor="ctr"/>
          <a:lstStyle/>
          <a:p>
            <a:pPr marL="0" indent="0">
              <a:buNone/>
            </a:pPr>
            <a:r>
              <a:rPr lang="en-US" sz="1800" dirty="0">
                <a:solidFill>
                  <a:schemeClr val="tx1"/>
                </a:solidFill>
              </a:rPr>
              <a:t>Use strengths, mindset, and optimism tools to strengthen your own leadership</a:t>
            </a:r>
            <a:endParaRPr lang="en-US" sz="1800" dirty="0"/>
          </a:p>
        </p:txBody>
      </p:sp>
      <p:sp>
        <p:nvSpPr>
          <p:cNvPr id="11" name="objective-card-50"/>
          <p:cNvSpPr/>
          <p:nvPr/>
        </p:nvSpPr>
        <p:spPr>
          <a:xfrm>
            <a:off x="457200" y="3474720"/>
            <a:ext cx="8229600" cy="914400"/>
          </a:xfrm>
          <a:prstGeom prst="roundRect">
            <a:avLst>
              <a:gd name="adj" fmla="val 8000"/>
            </a:avLst>
          </a:prstGeom>
          <a:solidFill>
            <a:schemeClr val="bg2"/>
          </a:solidFill>
          <a:ln/>
        </p:spPr>
        <p:txBody>
          <a:bodyPr/>
          <a:lstStyle/>
          <a:p>
            <a:endParaRPr lang="en-US"/>
          </a:p>
        </p:txBody>
      </p:sp>
      <p:sp>
        <p:nvSpPr>
          <p:cNvPr id="12" name="circle-51"/>
          <p:cNvSpPr/>
          <p:nvPr/>
        </p:nvSpPr>
        <p:spPr>
          <a:xfrm>
            <a:off x="685800" y="3611880"/>
            <a:ext cx="640080" cy="640080"/>
          </a:xfrm>
          <a:prstGeom prst="ellipse">
            <a:avLst/>
          </a:prstGeom>
          <a:solidFill>
            <a:srgbClr val="6B4FA0"/>
          </a:solidFill>
          <a:ln/>
        </p:spPr>
        <p:txBody>
          <a:bodyPr/>
          <a:lstStyle/>
          <a:p>
            <a:endParaRPr lang="en-US"/>
          </a:p>
        </p:txBody>
      </p:sp>
      <p:sp>
        <p:nvSpPr>
          <p:cNvPr id="13" name="text-52"/>
          <p:cNvSpPr txBox="1"/>
          <p:nvPr/>
        </p:nvSpPr>
        <p:spPr>
          <a:xfrm>
            <a:off x="685800" y="361188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rPr>
              <a:t>3</a:t>
            </a:r>
            <a:endParaRPr lang="en-US" sz="2400" dirty="0"/>
          </a:p>
        </p:txBody>
      </p:sp>
      <p:sp>
        <p:nvSpPr>
          <p:cNvPr id="14" name="text-53"/>
          <p:cNvSpPr txBox="1"/>
          <p:nvPr/>
        </p:nvSpPr>
        <p:spPr>
          <a:xfrm>
            <a:off x="1600200" y="3474720"/>
            <a:ext cx="6858000" cy="914400"/>
          </a:xfrm>
          <a:prstGeom prst="rect">
            <a:avLst/>
          </a:prstGeom>
          <a:noFill/>
          <a:ln/>
        </p:spPr>
        <p:txBody>
          <a:bodyPr wrap="square" lIns="0" tIns="0" rIns="0" bIns="0" rtlCol="0" anchor="ctr"/>
          <a:lstStyle/>
          <a:p>
            <a:pPr marL="0" indent="0">
              <a:buNone/>
            </a:pPr>
            <a:r>
              <a:rPr lang="en-US" sz="1800" dirty="0">
                <a:solidFill>
                  <a:schemeClr val="tx1"/>
                </a:solidFill>
              </a:rPr>
              <a:t>Design practices that build positive, high-performing teams, without toxic positivity</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Warm-up: your best leader</a:t>
            </a:r>
            <a:endParaRPr lang="en-US" sz="3000" dirty="0"/>
          </a:p>
        </p:txBody>
      </p:sp>
      <p:sp>
        <p:nvSpPr>
          <p:cNvPr id="3" name="prompt-card-54"/>
          <p:cNvSpPr/>
          <p:nvPr/>
        </p:nvSpPr>
        <p:spPr>
          <a:xfrm>
            <a:off x="457200" y="1280160"/>
            <a:ext cx="4937760" cy="3200400"/>
          </a:xfrm>
          <a:prstGeom prst="roundRect">
            <a:avLst>
              <a:gd name="adj" fmla="val 2286"/>
            </a:avLst>
          </a:prstGeom>
          <a:solidFill>
            <a:schemeClr val="tx2"/>
          </a:solidFill>
          <a:ln/>
        </p:spPr>
        <p:txBody>
          <a:bodyPr/>
          <a:lstStyle/>
          <a:p>
            <a:endParaRPr lang="en-US"/>
          </a:p>
        </p:txBody>
      </p:sp>
      <p:sp>
        <p:nvSpPr>
          <p:cNvPr id="4" name="text-55"/>
          <p:cNvSpPr txBox="1"/>
          <p:nvPr/>
        </p:nvSpPr>
        <p:spPr>
          <a:xfrm>
            <a:off x="731520" y="1508760"/>
            <a:ext cx="4389120" cy="914400"/>
          </a:xfrm>
          <a:prstGeom prst="rect">
            <a:avLst/>
          </a:prstGeom>
          <a:noFill/>
          <a:ln/>
        </p:spPr>
        <p:txBody>
          <a:bodyPr wrap="square" lIns="0" tIns="0" rIns="0" bIns="0" rtlCol="0" anchor="t"/>
          <a:lstStyle/>
          <a:p>
            <a:pPr marL="0" indent="0">
              <a:buNone/>
            </a:pPr>
            <a:r>
              <a:rPr lang="en-US" sz="2000" b="1" dirty="0">
                <a:solidFill>
                  <a:schemeClr val="bg1"/>
                </a:solidFill>
              </a:rPr>
              <a:t>Think of the best leader you have ever worked for or learned from.</a:t>
            </a:r>
            <a:endParaRPr lang="en-US" sz="2000" dirty="0"/>
          </a:p>
        </p:txBody>
      </p:sp>
      <p:sp>
        <p:nvSpPr>
          <p:cNvPr id="5" name="text-56"/>
          <p:cNvSpPr txBox="1"/>
          <p:nvPr/>
        </p:nvSpPr>
        <p:spPr>
          <a:xfrm>
            <a:off x="731520" y="2606040"/>
            <a:ext cx="4389120" cy="164592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chemeClr val="bg1"/>
                </a:solidFill>
              </a:rPr>
              <a:t>What did they do?</a:t>
            </a:r>
            <a:endParaRPr lang="en-US" sz="1700" dirty="0"/>
          </a:p>
          <a:p>
            <a:pPr marL="342900" indent="-342900">
              <a:spcAft>
                <a:spcPts val="800"/>
              </a:spcAft>
              <a:buSzPct val="100000"/>
              <a:buChar char="•"/>
            </a:pPr>
            <a:r>
              <a:rPr lang="en-US" sz="1700" dirty="0">
                <a:solidFill>
                  <a:schemeClr val="bg1"/>
                </a:solidFill>
              </a:rPr>
              <a:t>How did you feel around them?</a:t>
            </a:r>
            <a:endParaRPr lang="en-US" sz="1700" dirty="0"/>
          </a:p>
          <a:p>
            <a:pPr marL="342900" indent="-342900">
              <a:spcAft>
                <a:spcPts val="800"/>
              </a:spcAft>
              <a:buSzPct val="100000"/>
              <a:buChar char="•"/>
            </a:pPr>
            <a:r>
              <a:rPr lang="en-US" sz="1700" dirty="0">
                <a:solidFill>
                  <a:schemeClr val="bg1"/>
                </a:solidFill>
              </a:rPr>
              <a:t>What did you do differently because of them?</a:t>
            </a:r>
            <a:endParaRPr lang="en-US" sz="1700" dirty="0"/>
          </a:p>
        </p:txBody>
      </p:sp>
      <p:sp>
        <p:nvSpPr>
          <p:cNvPr id="6" name="pair-card-57"/>
          <p:cNvSpPr/>
          <p:nvPr/>
        </p:nvSpPr>
        <p:spPr>
          <a:xfrm>
            <a:off x="5577840" y="1280160"/>
            <a:ext cx="3108960" cy="3200400"/>
          </a:xfrm>
          <a:prstGeom prst="roundRect">
            <a:avLst>
              <a:gd name="adj" fmla="val 2353"/>
            </a:avLst>
          </a:prstGeom>
          <a:solidFill>
            <a:schemeClr val="bg2"/>
          </a:solidFill>
          <a:ln/>
        </p:spPr>
        <p:txBody>
          <a:bodyPr/>
          <a:lstStyle/>
          <a:p>
            <a:endParaRPr lang="en-US"/>
          </a:p>
        </p:txBody>
      </p:sp>
      <p:sp>
        <p:nvSpPr>
          <p:cNvPr id="7" name="circle-58"/>
          <p:cNvSpPr/>
          <p:nvPr/>
        </p:nvSpPr>
        <p:spPr>
          <a:xfrm>
            <a:off x="6720840" y="1554480"/>
            <a:ext cx="822960" cy="822960"/>
          </a:xfrm>
          <a:prstGeom prst="ellipse">
            <a:avLst/>
          </a:prstGeom>
          <a:solidFill>
            <a:srgbClr val="F5A623"/>
          </a:solidFill>
          <a:ln/>
        </p:spPr>
        <p:txBody>
          <a:bodyPr/>
          <a:lstStyle/>
          <a:p>
            <a:endParaRPr lang="en-US"/>
          </a:p>
        </p:txBody>
      </p:sp>
      <p:pic>
        <p:nvPicPr>
          <p:cNvPr id="8" name="icon-59" descr="icon"/>
          <p:cNvPicPr>
            <a:picLocks noChangeAspect="1"/>
          </p:cNvPicPr>
          <p:nvPr/>
        </p:nvPicPr>
        <p:blipFill>
          <a:blip r:embed="rId3"/>
          <a:stretch>
            <a:fillRect/>
          </a:stretch>
        </p:blipFill>
        <p:spPr>
          <a:xfrm>
            <a:off x="6926580" y="1760220"/>
            <a:ext cx="411480" cy="411480"/>
          </a:xfrm>
          <a:prstGeom prst="rect">
            <a:avLst/>
          </a:prstGeom>
        </p:spPr>
      </p:pic>
      <p:sp>
        <p:nvSpPr>
          <p:cNvPr id="9" name="text-60"/>
          <p:cNvSpPr txBox="1"/>
          <p:nvPr/>
        </p:nvSpPr>
        <p:spPr>
          <a:xfrm>
            <a:off x="5760720" y="2560320"/>
            <a:ext cx="2743200" cy="365760"/>
          </a:xfrm>
          <a:prstGeom prst="rect">
            <a:avLst/>
          </a:prstGeom>
          <a:noFill/>
          <a:ln/>
        </p:spPr>
        <p:txBody>
          <a:bodyPr wrap="square" lIns="0" tIns="0" rIns="0" bIns="0" rtlCol="0" anchor="t"/>
          <a:lstStyle/>
          <a:p>
            <a:pPr marL="0" indent="0" algn="ctr">
              <a:buNone/>
            </a:pPr>
            <a:r>
              <a:rPr lang="en-US" sz="2200" b="1" dirty="0">
                <a:solidFill>
                  <a:schemeClr val="tx2"/>
                </a:solidFill>
              </a:rPr>
              <a:t>Pair share</a:t>
            </a:r>
            <a:endParaRPr lang="en-US" sz="2200" dirty="0"/>
          </a:p>
        </p:txBody>
      </p:sp>
      <p:sp>
        <p:nvSpPr>
          <p:cNvPr id="10" name="text-61"/>
          <p:cNvSpPr txBox="1"/>
          <p:nvPr/>
        </p:nvSpPr>
        <p:spPr>
          <a:xfrm>
            <a:off x="5852160" y="3063240"/>
            <a:ext cx="2560320" cy="1097280"/>
          </a:xfrm>
          <a:prstGeom prst="rect">
            <a:avLst/>
          </a:prstGeom>
          <a:noFill/>
          <a:ln/>
        </p:spPr>
        <p:txBody>
          <a:bodyPr wrap="square" lIns="0" tIns="0" rIns="0" bIns="0" rtlCol="0" anchor="t"/>
          <a:lstStyle/>
          <a:p>
            <a:pPr marL="0" indent="0" algn="ctr">
              <a:buNone/>
            </a:pPr>
            <a:r>
              <a:rPr lang="en-US" sz="1600" dirty="0">
                <a:solidFill>
                  <a:schemeClr val="tx1"/>
                </a:solidFill>
              </a:rPr>
              <a:t>3 minutes each way. Then we will collect the themes on the board.</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Positivity drives performance</a:t>
            </a:r>
            <a:endParaRPr lang="en-US" sz="3000" dirty="0"/>
          </a:p>
        </p:txBody>
      </p:sp>
      <p:sp>
        <p:nvSpPr>
          <p:cNvPr id="3" name="stat-card-62"/>
          <p:cNvSpPr/>
          <p:nvPr/>
        </p:nvSpPr>
        <p:spPr>
          <a:xfrm>
            <a:off x="457200" y="1280160"/>
            <a:ext cx="2651760" cy="3017520"/>
          </a:xfrm>
          <a:prstGeom prst="roundRect">
            <a:avLst>
              <a:gd name="adj" fmla="val 2759"/>
            </a:avLst>
          </a:prstGeom>
          <a:solidFill>
            <a:schemeClr val="bg2"/>
          </a:solidFill>
          <a:ln/>
        </p:spPr>
        <p:txBody>
          <a:bodyPr/>
          <a:lstStyle/>
          <a:p>
            <a:endParaRPr lang="en-US"/>
          </a:p>
        </p:txBody>
      </p:sp>
      <p:sp>
        <p:nvSpPr>
          <p:cNvPr id="4" name="text-63"/>
          <p:cNvSpPr txBox="1"/>
          <p:nvPr/>
        </p:nvSpPr>
        <p:spPr>
          <a:xfrm>
            <a:off x="685800" y="1463040"/>
            <a:ext cx="2194560" cy="914400"/>
          </a:xfrm>
          <a:prstGeom prst="rect">
            <a:avLst/>
          </a:prstGeom>
          <a:noFill/>
          <a:ln/>
        </p:spPr>
        <p:txBody>
          <a:bodyPr wrap="square" lIns="0" tIns="0" rIns="0" bIns="0" rtlCol="0" anchor="ctr"/>
          <a:lstStyle/>
          <a:p>
            <a:pPr marL="0" indent="0">
              <a:buNone/>
            </a:pPr>
            <a:r>
              <a:rPr lang="en-US" sz="5600" b="1" dirty="0">
                <a:solidFill>
                  <a:schemeClr val="tx2"/>
                </a:solidFill>
              </a:rPr>
              <a:t>70%</a:t>
            </a:r>
            <a:endParaRPr lang="en-US" sz="5600" dirty="0"/>
          </a:p>
        </p:txBody>
      </p:sp>
      <p:sp>
        <p:nvSpPr>
          <p:cNvPr id="5" name="text-64"/>
          <p:cNvSpPr txBox="1"/>
          <p:nvPr/>
        </p:nvSpPr>
        <p:spPr>
          <a:xfrm>
            <a:off x="685800" y="2514600"/>
            <a:ext cx="2194560" cy="1051560"/>
          </a:xfrm>
          <a:prstGeom prst="rect">
            <a:avLst/>
          </a:prstGeom>
          <a:noFill/>
          <a:ln/>
        </p:spPr>
        <p:txBody>
          <a:bodyPr wrap="square" lIns="0" tIns="0" rIns="0" bIns="0" rtlCol="0" anchor="t"/>
          <a:lstStyle/>
          <a:p>
            <a:pPr marL="0" indent="0">
              <a:buNone/>
            </a:pPr>
            <a:r>
              <a:rPr lang="en-US" sz="1500" dirty="0">
                <a:solidFill>
                  <a:schemeClr val="tx1"/>
                </a:solidFill>
              </a:rPr>
              <a:t>of the variation in team engagement is linked to the manager</a:t>
            </a:r>
            <a:endParaRPr lang="en-US" sz="1500" dirty="0"/>
          </a:p>
        </p:txBody>
      </p:sp>
      <p:sp>
        <p:nvSpPr>
          <p:cNvPr id="6" name="text-65"/>
          <p:cNvSpPr txBox="1"/>
          <p:nvPr/>
        </p:nvSpPr>
        <p:spPr>
          <a:xfrm>
            <a:off x="685800" y="3657600"/>
            <a:ext cx="2194560" cy="457200"/>
          </a:xfrm>
          <a:prstGeom prst="rect">
            <a:avLst/>
          </a:prstGeom>
          <a:noFill/>
          <a:ln/>
        </p:spPr>
        <p:txBody>
          <a:bodyPr wrap="square" lIns="0" tIns="0" rIns="0" bIns="0" rtlCol="0" anchor="t"/>
          <a:lstStyle/>
          <a:p>
            <a:pPr marL="0" indent="0">
              <a:buNone/>
            </a:pPr>
            <a:r>
              <a:rPr lang="en-US" sz="1200" i="1" dirty="0">
                <a:solidFill>
                  <a:schemeClr val="tx2"/>
                </a:solidFill>
              </a:rPr>
              <a:t>Gallup</a:t>
            </a:r>
            <a:endParaRPr lang="en-US" sz="1200" dirty="0"/>
          </a:p>
        </p:txBody>
      </p:sp>
      <p:sp>
        <p:nvSpPr>
          <p:cNvPr id="7" name="stat-card-66"/>
          <p:cNvSpPr/>
          <p:nvPr/>
        </p:nvSpPr>
        <p:spPr>
          <a:xfrm>
            <a:off x="3246120" y="1280160"/>
            <a:ext cx="2651760" cy="3017520"/>
          </a:xfrm>
          <a:prstGeom prst="roundRect">
            <a:avLst>
              <a:gd name="adj" fmla="val 2759"/>
            </a:avLst>
          </a:prstGeom>
          <a:solidFill>
            <a:schemeClr val="bg2"/>
          </a:solidFill>
          <a:ln/>
        </p:spPr>
        <p:txBody>
          <a:bodyPr/>
          <a:lstStyle/>
          <a:p>
            <a:endParaRPr lang="en-US"/>
          </a:p>
        </p:txBody>
      </p:sp>
      <p:sp>
        <p:nvSpPr>
          <p:cNvPr id="8" name="text-67"/>
          <p:cNvSpPr txBox="1"/>
          <p:nvPr/>
        </p:nvSpPr>
        <p:spPr>
          <a:xfrm>
            <a:off x="3474720" y="1463040"/>
            <a:ext cx="2194560" cy="914400"/>
          </a:xfrm>
          <a:prstGeom prst="rect">
            <a:avLst/>
          </a:prstGeom>
          <a:noFill/>
          <a:ln/>
        </p:spPr>
        <p:txBody>
          <a:bodyPr wrap="square" lIns="0" tIns="0" rIns="0" bIns="0" rtlCol="0" anchor="ctr"/>
          <a:lstStyle/>
          <a:p>
            <a:pPr marL="0" indent="0">
              <a:buNone/>
            </a:pPr>
            <a:r>
              <a:rPr lang="en-US" sz="5600" b="1" dirty="0">
                <a:solidFill>
                  <a:schemeClr val="tx2"/>
                </a:solidFill>
              </a:rPr>
              <a:t>12%</a:t>
            </a:r>
            <a:endParaRPr lang="en-US" sz="5600" dirty="0"/>
          </a:p>
        </p:txBody>
      </p:sp>
      <p:sp>
        <p:nvSpPr>
          <p:cNvPr id="9" name="text-68"/>
          <p:cNvSpPr txBox="1"/>
          <p:nvPr/>
        </p:nvSpPr>
        <p:spPr>
          <a:xfrm>
            <a:off x="3474720" y="2514600"/>
            <a:ext cx="2194560" cy="1051560"/>
          </a:xfrm>
          <a:prstGeom prst="rect">
            <a:avLst/>
          </a:prstGeom>
          <a:noFill/>
          <a:ln/>
        </p:spPr>
        <p:txBody>
          <a:bodyPr wrap="square" lIns="0" tIns="0" rIns="0" bIns="0" rtlCol="0" anchor="t"/>
          <a:lstStyle/>
          <a:p>
            <a:pPr marL="0" indent="0">
              <a:buNone/>
            </a:pPr>
            <a:r>
              <a:rPr lang="en-US" sz="1500" dirty="0">
                <a:solidFill>
                  <a:schemeClr val="tx1"/>
                </a:solidFill>
              </a:rPr>
              <a:t>productivity gain when people were made happier in experiments</a:t>
            </a:r>
            <a:endParaRPr lang="en-US" sz="1500" dirty="0"/>
          </a:p>
        </p:txBody>
      </p:sp>
      <p:sp>
        <p:nvSpPr>
          <p:cNvPr id="10" name="text-69"/>
          <p:cNvSpPr txBox="1"/>
          <p:nvPr/>
        </p:nvSpPr>
        <p:spPr>
          <a:xfrm>
            <a:off x="3474720" y="3657600"/>
            <a:ext cx="2194560" cy="457200"/>
          </a:xfrm>
          <a:prstGeom prst="rect">
            <a:avLst/>
          </a:prstGeom>
          <a:noFill/>
          <a:ln/>
        </p:spPr>
        <p:txBody>
          <a:bodyPr wrap="square" lIns="0" tIns="0" rIns="0" bIns="0" rtlCol="0" anchor="t"/>
          <a:lstStyle/>
          <a:p>
            <a:pPr marL="0" indent="0">
              <a:buNone/>
            </a:pPr>
            <a:r>
              <a:rPr lang="en-US" sz="1200" i="1" dirty="0">
                <a:solidFill>
                  <a:schemeClr val="tx2"/>
                </a:solidFill>
              </a:rPr>
              <a:t>Oswald, Proto &amp; Sgroi, 2015</a:t>
            </a:r>
            <a:endParaRPr lang="en-US" sz="1200" dirty="0"/>
          </a:p>
        </p:txBody>
      </p:sp>
      <p:sp>
        <p:nvSpPr>
          <p:cNvPr id="11" name="stat-card-70"/>
          <p:cNvSpPr/>
          <p:nvPr/>
        </p:nvSpPr>
        <p:spPr>
          <a:xfrm>
            <a:off x="6035040" y="1280160"/>
            <a:ext cx="2651760" cy="3017520"/>
          </a:xfrm>
          <a:prstGeom prst="roundRect">
            <a:avLst>
              <a:gd name="adj" fmla="val 2759"/>
            </a:avLst>
          </a:prstGeom>
          <a:solidFill>
            <a:schemeClr val="bg2"/>
          </a:solidFill>
          <a:ln/>
        </p:spPr>
        <p:txBody>
          <a:bodyPr/>
          <a:lstStyle/>
          <a:p>
            <a:endParaRPr lang="en-US"/>
          </a:p>
        </p:txBody>
      </p:sp>
      <p:sp>
        <p:nvSpPr>
          <p:cNvPr id="12" name="text-71"/>
          <p:cNvSpPr txBox="1"/>
          <p:nvPr/>
        </p:nvSpPr>
        <p:spPr>
          <a:xfrm>
            <a:off x="6263640" y="1463040"/>
            <a:ext cx="2194560" cy="914400"/>
          </a:xfrm>
          <a:prstGeom prst="rect">
            <a:avLst/>
          </a:prstGeom>
          <a:noFill/>
          <a:ln/>
        </p:spPr>
        <p:txBody>
          <a:bodyPr wrap="square" lIns="0" tIns="0" rIns="0" bIns="0" rtlCol="0" anchor="ctr"/>
          <a:lstStyle/>
          <a:p>
            <a:pPr marL="0" indent="0">
              <a:buNone/>
            </a:pPr>
            <a:r>
              <a:rPr lang="en-US" sz="5600" b="1" dirty="0">
                <a:solidFill>
                  <a:schemeClr val="tx2"/>
                </a:solidFill>
              </a:rPr>
              <a:t>225</a:t>
            </a:r>
            <a:endParaRPr lang="en-US" sz="5600" dirty="0"/>
          </a:p>
        </p:txBody>
      </p:sp>
      <p:sp>
        <p:nvSpPr>
          <p:cNvPr id="13" name="text-72"/>
          <p:cNvSpPr txBox="1"/>
          <p:nvPr/>
        </p:nvSpPr>
        <p:spPr>
          <a:xfrm>
            <a:off x="6263640" y="2514600"/>
            <a:ext cx="2194560" cy="1051560"/>
          </a:xfrm>
          <a:prstGeom prst="rect">
            <a:avLst/>
          </a:prstGeom>
          <a:noFill/>
          <a:ln/>
        </p:spPr>
        <p:txBody>
          <a:bodyPr wrap="square" lIns="0" tIns="0" rIns="0" bIns="0" rtlCol="0" anchor="t"/>
          <a:lstStyle/>
          <a:p>
            <a:pPr marL="0" indent="0">
              <a:buNone/>
            </a:pPr>
            <a:r>
              <a:rPr lang="en-US" sz="1500" dirty="0">
                <a:solidFill>
                  <a:schemeClr val="tx1"/>
                </a:solidFill>
              </a:rPr>
              <a:t>studies suggest happiness often comes before success, not only after</a:t>
            </a:r>
            <a:endParaRPr lang="en-US" sz="1500" dirty="0"/>
          </a:p>
        </p:txBody>
      </p:sp>
      <p:sp>
        <p:nvSpPr>
          <p:cNvPr id="14" name="text-73"/>
          <p:cNvSpPr txBox="1"/>
          <p:nvPr/>
        </p:nvSpPr>
        <p:spPr>
          <a:xfrm>
            <a:off x="6263640" y="3657600"/>
            <a:ext cx="2194560" cy="457200"/>
          </a:xfrm>
          <a:prstGeom prst="rect">
            <a:avLst/>
          </a:prstGeom>
          <a:noFill/>
          <a:ln/>
        </p:spPr>
        <p:txBody>
          <a:bodyPr wrap="square" lIns="0" tIns="0" rIns="0" bIns="0" rtlCol="0" anchor="t"/>
          <a:lstStyle/>
          <a:p>
            <a:pPr marL="0" indent="0">
              <a:buNone/>
            </a:pPr>
            <a:r>
              <a:rPr lang="en-US" sz="1200" i="1" dirty="0">
                <a:solidFill>
                  <a:schemeClr val="tx2"/>
                </a:solidFill>
              </a:rPr>
              <a:t>Lyubomirsky, King &amp; Diener, 2005</a:t>
            </a:r>
            <a:endParaRPr lang="en-US" sz="1200" dirty="0"/>
          </a:p>
        </p:txBody>
      </p:sp>
      <p:sp>
        <p:nvSpPr>
          <p:cNvPr id="15" name="text-74"/>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200" i="1" dirty="0">
                <a:solidFill>
                  <a:schemeClr val="tx2"/>
                </a:solidFill>
              </a:rPr>
              <a:t>These are associations, not guarantees. Positivity helps; it does not replace good management.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1431"/>
            <a:ext cx="9144000" cy="510063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1431"/>
            <a:ext cx="9144000" cy="5100638"/>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21431"/>
            <a:ext cx="9144000" cy="51006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1431"/>
            <a:ext cx="9144000" cy="510063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488867"/>
            <a:ext cx="9144000" cy="4633202"/>
          </a:xfrm>
          <a:prstGeom prst="rect">
            <a:avLst/>
          </a:prstGeom>
        </p:spPr>
      </p:pic>
      <p:sp>
        <p:nvSpPr>
          <p:cNvPr id="3" name="TextBox 2">
            <a:extLst>
              <a:ext uri="{FF2B5EF4-FFF2-40B4-BE49-F238E27FC236}">
                <a16:creationId xmlns:a16="http://schemas.microsoft.com/office/drawing/2014/main" id="{9FF891FC-838A-BA93-9A8B-FE8437A339C7}"/>
              </a:ext>
            </a:extLst>
          </p:cNvPr>
          <p:cNvSpPr txBox="1"/>
          <p:nvPr/>
        </p:nvSpPr>
        <p:spPr>
          <a:xfrm>
            <a:off x="1528762" y="21432"/>
            <a:ext cx="5700713" cy="507831"/>
          </a:xfrm>
          <a:prstGeom prst="rect">
            <a:avLst/>
          </a:prstGeom>
          <a:noFill/>
        </p:spPr>
        <p:txBody>
          <a:bodyPr wrap="square" rtlCol="0">
            <a:spAutoFit/>
          </a:bodyPr>
          <a:lstStyle/>
          <a:p>
            <a:r>
              <a:rPr lang="en-US" sz="2700" b="1" dirty="0">
                <a:latin typeface="Times New Roman" panose="02020603050405020304" pitchFamily="18" charset="0"/>
                <a:cs typeface="Times New Roman" panose="02020603050405020304" pitchFamily="18" charset="0"/>
              </a:rPr>
              <a:t>Psychological Capital – Luthans et al.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1431"/>
            <a:ext cx="9144000" cy="5100638"/>
          </a:xfrm>
          <a:prstGeom prst="rect">
            <a:avLst/>
          </a:prstGeom>
        </p:spPr>
      </p:pic>
      <p:sp>
        <p:nvSpPr>
          <p:cNvPr id="3" name="TextBox 2">
            <a:extLst>
              <a:ext uri="{FF2B5EF4-FFF2-40B4-BE49-F238E27FC236}">
                <a16:creationId xmlns:a16="http://schemas.microsoft.com/office/drawing/2014/main" id="{4BCC8343-4724-3F5E-233A-E593B39F187D}"/>
              </a:ext>
            </a:extLst>
          </p:cNvPr>
          <p:cNvSpPr txBox="1"/>
          <p:nvPr/>
        </p:nvSpPr>
        <p:spPr>
          <a:xfrm>
            <a:off x="6543675" y="759279"/>
            <a:ext cx="2600325"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By Deci &amp; Ryan 1985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From fixing to flourishing</a:t>
            </a:r>
            <a:endParaRPr lang="en-US" sz="3000" dirty="0"/>
          </a:p>
        </p:txBody>
      </p:sp>
      <p:sp>
        <p:nvSpPr>
          <p:cNvPr id="3" name="band-left-75"/>
          <p:cNvSpPr/>
          <p:nvPr/>
        </p:nvSpPr>
        <p:spPr>
          <a:xfrm>
            <a:off x="457200" y="1280160"/>
            <a:ext cx="4114800" cy="1280160"/>
          </a:xfrm>
          <a:prstGeom prst="rect">
            <a:avLst/>
          </a:prstGeom>
          <a:solidFill>
            <a:schemeClr val="accent2"/>
          </a:solidFill>
          <a:ln/>
        </p:spPr>
        <p:txBody>
          <a:bodyPr/>
          <a:lstStyle/>
          <a:p>
            <a:endParaRPr lang="en-US"/>
          </a:p>
        </p:txBody>
      </p:sp>
      <p:sp>
        <p:nvSpPr>
          <p:cNvPr id="4" name="band-right-76"/>
          <p:cNvSpPr/>
          <p:nvPr/>
        </p:nvSpPr>
        <p:spPr>
          <a:xfrm>
            <a:off x="4572000" y="1280160"/>
            <a:ext cx="4114800" cy="1280160"/>
          </a:xfrm>
          <a:prstGeom prst="rect">
            <a:avLst/>
          </a:prstGeom>
          <a:solidFill>
            <a:schemeClr val="tx2"/>
          </a:solidFill>
          <a:ln/>
        </p:spPr>
        <p:txBody>
          <a:bodyPr/>
          <a:lstStyle/>
          <a:p>
            <a:endParaRPr lang="en-US"/>
          </a:p>
        </p:txBody>
      </p:sp>
      <p:sp>
        <p:nvSpPr>
          <p:cNvPr id="5" name="text-77"/>
          <p:cNvSpPr txBox="1"/>
          <p:nvPr/>
        </p:nvSpPr>
        <p:spPr>
          <a:xfrm>
            <a:off x="685800" y="1371600"/>
            <a:ext cx="3291840" cy="1097280"/>
          </a:xfrm>
          <a:prstGeom prst="rect">
            <a:avLst/>
          </a:prstGeom>
          <a:noFill/>
          <a:ln/>
        </p:spPr>
        <p:txBody>
          <a:bodyPr wrap="square" lIns="0" tIns="0" rIns="0" bIns="0" rtlCol="0" anchor="ctr"/>
          <a:lstStyle/>
          <a:p>
            <a:pPr marL="0" indent="0">
              <a:buNone/>
            </a:pPr>
            <a:r>
              <a:rPr lang="en-US" sz="2000" b="1" dirty="0">
                <a:solidFill>
                  <a:schemeClr val="bg1"/>
                </a:solidFill>
              </a:rPr>
              <a:t>Traditional psychology</a:t>
            </a:r>
            <a:endParaRPr lang="en-US" sz="1400" dirty="0"/>
          </a:p>
          <a:p>
            <a:pPr marL="0" indent="0">
              <a:buNone/>
            </a:pPr>
            <a:r>
              <a:rPr lang="en-US" sz="1500" dirty="0">
                <a:solidFill>
                  <a:schemeClr val="bg1"/>
                </a:solidFill>
              </a:rPr>
              <a:t>Reduce suffering: -5 to 0</a:t>
            </a:r>
            <a:endParaRPr lang="en-US" sz="1400" dirty="0"/>
          </a:p>
        </p:txBody>
      </p:sp>
      <p:sp>
        <p:nvSpPr>
          <p:cNvPr id="6" name="text-78"/>
          <p:cNvSpPr txBox="1"/>
          <p:nvPr/>
        </p:nvSpPr>
        <p:spPr>
          <a:xfrm>
            <a:off x="5074920" y="1371600"/>
            <a:ext cx="3474720" cy="1097280"/>
          </a:xfrm>
          <a:prstGeom prst="rect">
            <a:avLst/>
          </a:prstGeom>
          <a:noFill/>
          <a:ln/>
        </p:spPr>
        <p:txBody>
          <a:bodyPr wrap="square" lIns="0" tIns="0" rIns="0" bIns="0" rtlCol="0" anchor="ctr"/>
          <a:lstStyle/>
          <a:p>
            <a:pPr marL="0" indent="0">
              <a:buNone/>
            </a:pPr>
            <a:r>
              <a:rPr lang="en-US" sz="2000" b="1" dirty="0">
                <a:solidFill>
                  <a:schemeClr val="bg1"/>
                </a:solidFill>
              </a:rPr>
              <a:t>Positive psychology</a:t>
            </a:r>
            <a:endParaRPr lang="en-US" sz="1400" dirty="0"/>
          </a:p>
          <a:p>
            <a:pPr marL="0" indent="0">
              <a:buNone/>
            </a:pPr>
            <a:r>
              <a:rPr lang="en-US" sz="1500" dirty="0">
                <a:solidFill>
                  <a:schemeClr val="bg1"/>
                </a:solidFill>
              </a:rPr>
              <a:t>Build flourishing: 0 to +5</a:t>
            </a:r>
            <a:endParaRPr lang="en-US" sz="1400" dirty="0"/>
          </a:p>
        </p:txBody>
      </p:sp>
      <p:sp>
        <p:nvSpPr>
          <p:cNvPr id="7" name="circle-79"/>
          <p:cNvSpPr/>
          <p:nvPr/>
        </p:nvSpPr>
        <p:spPr>
          <a:xfrm>
            <a:off x="4251960" y="1600200"/>
            <a:ext cx="640080" cy="640080"/>
          </a:xfrm>
          <a:prstGeom prst="ellipse">
            <a:avLst/>
          </a:prstGeom>
          <a:solidFill>
            <a:srgbClr val="F5A623"/>
          </a:solidFill>
          <a:ln/>
        </p:spPr>
        <p:txBody>
          <a:bodyPr/>
          <a:lstStyle/>
          <a:p>
            <a:endParaRPr lang="en-US"/>
          </a:p>
        </p:txBody>
      </p:sp>
      <p:sp>
        <p:nvSpPr>
          <p:cNvPr id="8" name="text-80"/>
          <p:cNvSpPr txBox="1"/>
          <p:nvPr/>
        </p:nvSpPr>
        <p:spPr>
          <a:xfrm>
            <a:off x="4251960" y="1600200"/>
            <a:ext cx="640080" cy="640080"/>
          </a:xfrm>
          <a:prstGeom prst="rect">
            <a:avLst/>
          </a:prstGeom>
          <a:noFill/>
          <a:ln/>
        </p:spPr>
        <p:txBody>
          <a:bodyPr wrap="square" lIns="0" tIns="0" rIns="0" bIns="0" rtlCol="0" anchor="ctr"/>
          <a:lstStyle/>
          <a:p>
            <a:pPr marL="0" indent="0" algn="ctr">
              <a:buNone/>
            </a:pPr>
            <a:r>
              <a:rPr lang="en-US" sz="2600" b="1" dirty="0">
                <a:solidFill>
                  <a:srgbClr val="0B3C49"/>
                </a:solidFill>
              </a:rPr>
              <a:t>0</a:t>
            </a:r>
            <a:endParaRPr lang="en-US" sz="2600" dirty="0"/>
          </a:p>
        </p:txBody>
      </p:sp>
      <p:sp>
        <p:nvSpPr>
          <p:cNvPr id="9" name="text-81"/>
          <p:cNvSpPr txBox="1"/>
          <p:nvPr/>
        </p:nvSpPr>
        <p:spPr>
          <a:xfrm>
            <a:off x="457200" y="2743200"/>
            <a:ext cx="3657600" cy="274320"/>
          </a:xfrm>
          <a:prstGeom prst="rect">
            <a:avLst/>
          </a:prstGeom>
          <a:noFill/>
          <a:ln/>
        </p:spPr>
        <p:txBody>
          <a:bodyPr wrap="square" lIns="0" tIns="0" rIns="0" bIns="0" rtlCol="0" anchor="t"/>
          <a:lstStyle/>
          <a:p>
            <a:pPr marL="0" indent="0">
              <a:buNone/>
            </a:pPr>
            <a:r>
              <a:rPr lang="en-US" sz="1600" b="1" dirty="0">
                <a:solidFill>
                  <a:schemeClr val="tx2"/>
                </a:solidFill>
              </a:rPr>
              <a:t>Founding voices</a:t>
            </a:r>
            <a:endParaRPr lang="en-US" sz="1600" dirty="0"/>
          </a:p>
        </p:txBody>
      </p:sp>
      <p:sp>
        <p:nvSpPr>
          <p:cNvPr id="10" name="voice-card-82"/>
          <p:cNvSpPr/>
          <p:nvPr/>
        </p:nvSpPr>
        <p:spPr>
          <a:xfrm>
            <a:off x="457200" y="3108960"/>
            <a:ext cx="2651760" cy="1325880"/>
          </a:xfrm>
          <a:prstGeom prst="roundRect">
            <a:avLst>
              <a:gd name="adj" fmla="val 5517"/>
            </a:avLst>
          </a:prstGeom>
          <a:solidFill>
            <a:schemeClr val="bg2"/>
          </a:solidFill>
          <a:ln/>
        </p:spPr>
        <p:txBody>
          <a:bodyPr/>
          <a:lstStyle/>
          <a:p>
            <a:endParaRPr lang="en-US"/>
          </a:p>
        </p:txBody>
      </p:sp>
      <p:sp>
        <p:nvSpPr>
          <p:cNvPr id="11" name="text-83"/>
          <p:cNvSpPr txBox="1"/>
          <p:nvPr/>
        </p:nvSpPr>
        <p:spPr>
          <a:xfrm>
            <a:off x="640080" y="3246120"/>
            <a:ext cx="2286000" cy="320040"/>
          </a:xfrm>
          <a:prstGeom prst="rect">
            <a:avLst/>
          </a:prstGeom>
          <a:noFill/>
          <a:ln/>
        </p:spPr>
        <p:txBody>
          <a:bodyPr wrap="square" lIns="0" tIns="0" rIns="0" bIns="0" rtlCol="0" anchor="t"/>
          <a:lstStyle/>
          <a:p>
            <a:pPr marL="0" indent="0">
              <a:buNone/>
            </a:pPr>
            <a:r>
              <a:rPr lang="en-US" sz="1600" b="1" dirty="0">
                <a:solidFill>
                  <a:schemeClr val="tx2"/>
                </a:solidFill>
              </a:rPr>
              <a:t>Martin Seligman</a:t>
            </a:r>
            <a:endParaRPr lang="en-US" sz="1600" dirty="0"/>
          </a:p>
        </p:txBody>
      </p:sp>
      <p:sp>
        <p:nvSpPr>
          <p:cNvPr id="12" name="text-84"/>
          <p:cNvSpPr txBox="1"/>
          <p:nvPr/>
        </p:nvSpPr>
        <p:spPr>
          <a:xfrm>
            <a:off x="640080" y="3611880"/>
            <a:ext cx="2286000" cy="731520"/>
          </a:xfrm>
          <a:prstGeom prst="rect">
            <a:avLst/>
          </a:prstGeom>
          <a:noFill/>
          <a:ln/>
        </p:spPr>
        <p:txBody>
          <a:bodyPr wrap="square" lIns="0" tIns="0" rIns="0" bIns="0" rtlCol="0" anchor="t"/>
          <a:lstStyle/>
          <a:p>
            <a:pPr marL="0" indent="0">
              <a:buNone/>
            </a:pPr>
            <a:r>
              <a:rPr lang="en-US" sz="1400" dirty="0">
                <a:solidFill>
                  <a:schemeClr val="tx1"/>
                </a:solidFill>
              </a:rPr>
              <a:t>Launched the field as APA president in 1998</a:t>
            </a:r>
            <a:endParaRPr lang="en-US" sz="1400" dirty="0"/>
          </a:p>
        </p:txBody>
      </p:sp>
      <p:sp>
        <p:nvSpPr>
          <p:cNvPr id="13" name="voice-card-85"/>
          <p:cNvSpPr/>
          <p:nvPr/>
        </p:nvSpPr>
        <p:spPr>
          <a:xfrm>
            <a:off x="3246120" y="3108960"/>
            <a:ext cx="2651760" cy="1325880"/>
          </a:xfrm>
          <a:prstGeom prst="roundRect">
            <a:avLst>
              <a:gd name="adj" fmla="val 5517"/>
            </a:avLst>
          </a:prstGeom>
          <a:solidFill>
            <a:schemeClr val="bg2"/>
          </a:solidFill>
          <a:ln/>
        </p:spPr>
        <p:txBody>
          <a:bodyPr/>
          <a:lstStyle/>
          <a:p>
            <a:endParaRPr lang="en-US"/>
          </a:p>
        </p:txBody>
      </p:sp>
      <p:sp>
        <p:nvSpPr>
          <p:cNvPr id="14" name="text-86"/>
          <p:cNvSpPr txBox="1"/>
          <p:nvPr/>
        </p:nvSpPr>
        <p:spPr>
          <a:xfrm>
            <a:off x="3429000" y="3246120"/>
            <a:ext cx="2286000" cy="320040"/>
          </a:xfrm>
          <a:prstGeom prst="rect">
            <a:avLst/>
          </a:prstGeom>
          <a:noFill/>
          <a:ln/>
        </p:spPr>
        <p:txBody>
          <a:bodyPr wrap="square" lIns="0" tIns="0" rIns="0" bIns="0" rtlCol="0" anchor="t"/>
          <a:lstStyle/>
          <a:p>
            <a:pPr marL="0" indent="0">
              <a:buNone/>
            </a:pPr>
            <a:r>
              <a:rPr lang="en-US" sz="1600" b="1" dirty="0">
                <a:solidFill>
                  <a:schemeClr val="tx2"/>
                </a:solidFill>
              </a:rPr>
              <a:t>Csikszentmihalyi</a:t>
            </a:r>
            <a:endParaRPr lang="en-US" sz="1600" dirty="0"/>
          </a:p>
        </p:txBody>
      </p:sp>
      <p:sp>
        <p:nvSpPr>
          <p:cNvPr id="15" name="text-87"/>
          <p:cNvSpPr txBox="1"/>
          <p:nvPr/>
        </p:nvSpPr>
        <p:spPr>
          <a:xfrm>
            <a:off x="3429000" y="3611880"/>
            <a:ext cx="2286000" cy="731520"/>
          </a:xfrm>
          <a:prstGeom prst="rect">
            <a:avLst/>
          </a:prstGeom>
          <a:noFill/>
          <a:ln/>
        </p:spPr>
        <p:txBody>
          <a:bodyPr wrap="square" lIns="0" tIns="0" rIns="0" bIns="0" rtlCol="0" anchor="t"/>
          <a:lstStyle/>
          <a:p>
            <a:pPr marL="0" indent="0">
              <a:buNone/>
            </a:pPr>
            <a:r>
              <a:rPr lang="en-US" sz="1400" dirty="0">
                <a:solidFill>
                  <a:schemeClr val="tx1"/>
                </a:solidFill>
              </a:rPr>
              <a:t>Studied flow and optimal experience</a:t>
            </a:r>
            <a:endParaRPr lang="en-US" sz="1400" dirty="0"/>
          </a:p>
        </p:txBody>
      </p:sp>
      <p:sp>
        <p:nvSpPr>
          <p:cNvPr id="16" name="voice-card-88"/>
          <p:cNvSpPr/>
          <p:nvPr/>
        </p:nvSpPr>
        <p:spPr>
          <a:xfrm>
            <a:off x="6035040" y="3108960"/>
            <a:ext cx="2651760" cy="1325880"/>
          </a:xfrm>
          <a:prstGeom prst="roundRect">
            <a:avLst>
              <a:gd name="adj" fmla="val 5517"/>
            </a:avLst>
          </a:prstGeom>
          <a:solidFill>
            <a:schemeClr val="bg2"/>
          </a:solidFill>
          <a:ln/>
        </p:spPr>
        <p:txBody>
          <a:bodyPr/>
          <a:lstStyle/>
          <a:p>
            <a:endParaRPr lang="en-US"/>
          </a:p>
        </p:txBody>
      </p:sp>
      <p:sp>
        <p:nvSpPr>
          <p:cNvPr id="17" name="text-89"/>
          <p:cNvSpPr txBox="1"/>
          <p:nvPr/>
        </p:nvSpPr>
        <p:spPr>
          <a:xfrm>
            <a:off x="6217920" y="3246120"/>
            <a:ext cx="2286000" cy="320040"/>
          </a:xfrm>
          <a:prstGeom prst="rect">
            <a:avLst/>
          </a:prstGeom>
          <a:noFill/>
          <a:ln/>
        </p:spPr>
        <p:txBody>
          <a:bodyPr wrap="square" lIns="0" tIns="0" rIns="0" bIns="0" rtlCol="0" anchor="t"/>
          <a:lstStyle/>
          <a:p>
            <a:pPr marL="0" indent="0">
              <a:buNone/>
            </a:pPr>
            <a:r>
              <a:rPr lang="en-US" sz="1600" b="1" dirty="0">
                <a:solidFill>
                  <a:schemeClr val="tx2"/>
                </a:solidFill>
              </a:rPr>
              <a:t>Christopher Peterson</a:t>
            </a:r>
            <a:endParaRPr lang="en-US" sz="1600" dirty="0"/>
          </a:p>
        </p:txBody>
      </p:sp>
      <p:sp>
        <p:nvSpPr>
          <p:cNvPr id="18" name="text-90"/>
          <p:cNvSpPr txBox="1"/>
          <p:nvPr/>
        </p:nvSpPr>
        <p:spPr>
          <a:xfrm>
            <a:off x="6217920" y="3611880"/>
            <a:ext cx="2286000" cy="731520"/>
          </a:xfrm>
          <a:prstGeom prst="rect">
            <a:avLst/>
          </a:prstGeom>
          <a:noFill/>
          <a:ln/>
        </p:spPr>
        <p:txBody>
          <a:bodyPr wrap="square" lIns="0" tIns="0" rIns="0" bIns="0" rtlCol="0" anchor="t"/>
          <a:lstStyle/>
          <a:p>
            <a:pPr marL="0" indent="0">
              <a:buNone/>
            </a:pPr>
            <a:r>
              <a:rPr lang="en-US" sz="1400" dirty="0">
                <a:solidFill>
                  <a:schemeClr val="tx1"/>
                </a:solidFill>
              </a:rPr>
              <a:t>Mapped 24 character strengths with Seligman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PERMA: the five building blocks</a:t>
            </a:r>
            <a:endParaRPr lang="en-US" sz="3000" dirty="0"/>
          </a:p>
        </p:txBody>
      </p:sp>
      <p:sp>
        <p:nvSpPr>
          <p:cNvPr id="3" name="perma-row-91"/>
          <p:cNvSpPr/>
          <p:nvPr/>
        </p:nvSpPr>
        <p:spPr>
          <a:xfrm>
            <a:off x="457200" y="1234440"/>
            <a:ext cx="8229600" cy="566928"/>
          </a:xfrm>
          <a:prstGeom prst="roundRect">
            <a:avLst>
              <a:gd name="adj" fmla="val 12903"/>
            </a:avLst>
          </a:prstGeom>
          <a:solidFill>
            <a:schemeClr val="bg2"/>
          </a:solidFill>
          <a:ln/>
        </p:spPr>
        <p:txBody>
          <a:bodyPr/>
          <a:lstStyle/>
          <a:p>
            <a:endParaRPr lang="en-US"/>
          </a:p>
        </p:txBody>
      </p:sp>
      <p:sp>
        <p:nvSpPr>
          <p:cNvPr id="4" name="circle-92"/>
          <p:cNvSpPr/>
          <p:nvPr/>
        </p:nvSpPr>
        <p:spPr>
          <a:xfrm>
            <a:off x="594360" y="1289304"/>
            <a:ext cx="457200" cy="457200"/>
          </a:xfrm>
          <a:prstGeom prst="ellipse">
            <a:avLst/>
          </a:prstGeom>
          <a:solidFill>
            <a:srgbClr val="F5A623"/>
          </a:solidFill>
          <a:ln/>
        </p:spPr>
        <p:txBody>
          <a:bodyPr/>
          <a:lstStyle/>
          <a:p>
            <a:endParaRPr lang="en-US"/>
          </a:p>
        </p:txBody>
      </p:sp>
      <p:sp>
        <p:nvSpPr>
          <p:cNvPr id="5" name="text-93"/>
          <p:cNvSpPr txBox="1"/>
          <p:nvPr/>
        </p:nvSpPr>
        <p:spPr>
          <a:xfrm>
            <a:off x="594360" y="1289304"/>
            <a:ext cx="457200" cy="457200"/>
          </a:xfrm>
          <a:prstGeom prst="rect">
            <a:avLst/>
          </a:prstGeom>
          <a:noFill/>
          <a:ln/>
        </p:spPr>
        <p:txBody>
          <a:bodyPr wrap="square" lIns="0" tIns="0" rIns="0" bIns="0" rtlCol="0" anchor="ctr"/>
          <a:lstStyle/>
          <a:p>
            <a:pPr marL="0" indent="0" algn="ctr">
              <a:buNone/>
            </a:pPr>
            <a:r>
              <a:rPr lang="en-US" sz="2200" b="1" dirty="0">
                <a:solidFill>
                  <a:srgbClr val="0B3C49"/>
                </a:solidFill>
              </a:rPr>
              <a:t>P</a:t>
            </a:r>
            <a:endParaRPr lang="en-US" sz="2200" dirty="0"/>
          </a:p>
        </p:txBody>
      </p:sp>
      <p:sp>
        <p:nvSpPr>
          <p:cNvPr id="6" name="text-94"/>
          <p:cNvSpPr txBox="1"/>
          <p:nvPr/>
        </p:nvSpPr>
        <p:spPr>
          <a:xfrm>
            <a:off x="1280160" y="1234440"/>
            <a:ext cx="2377440" cy="566928"/>
          </a:xfrm>
          <a:prstGeom prst="rect">
            <a:avLst/>
          </a:prstGeom>
          <a:noFill/>
          <a:ln/>
        </p:spPr>
        <p:txBody>
          <a:bodyPr wrap="square" lIns="0" tIns="0" rIns="0" bIns="0" rtlCol="0" anchor="ctr"/>
          <a:lstStyle/>
          <a:p>
            <a:pPr marL="0" indent="0">
              <a:buNone/>
            </a:pPr>
            <a:r>
              <a:rPr lang="en-US" sz="1800" b="1" dirty="0">
                <a:solidFill>
                  <a:schemeClr val="tx2"/>
                </a:solidFill>
              </a:rPr>
              <a:t>Positive emotion</a:t>
            </a:r>
            <a:endParaRPr lang="en-US" sz="1800" dirty="0"/>
          </a:p>
        </p:txBody>
      </p:sp>
      <p:sp>
        <p:nvSpPr>
          <p:cNvPr id="7" name="text-95"/>
          <p:cNvSpPr txBox="1"/>
          <p:nvPr/>
        </p:nvSpPr>
        <p:spPr>
          <a:xfrm>
            <a:off x="3749040" y="1234440"/>
            <a:ext cx="4754880" cy="566928"/>
          </a:xfrm>
          <a:prstGeom prst="rect">
            <a:avLst/>
          </a:prstGeom>
          <a:noFill/>
          <a:ln/>
        </p:spPr>
        <p:txBody>
          <a:bodyPr wrap="square" lIns="0" tIns="0" rIns="0" bIns="0" rtlCol="0" anchor="ctr"/>
          <a:lstStyle/>
          <a:p>
            <a:pPr marL="0" indent="0">
              <a:buNone/>
            </a:pPr>
            <a:r>
              <a:rPr lang="en-US" sz="1500" dirty="0">
                <a:solidFill>
                  <a:schemeClr val="tx1"/>
                </a:solidFill>
              </a:rPr>
              <a:t>Joy, gratitude, hope, and curiosity</a:t>
            </a:r>
            <a:endParaRPr lang="en-US" sz="1500" dirty="0"/>
          </a:p>
        </p:txBody>
      </p:sp>
      <p:sp>
        <p:nvSpPr>
          <p:cNvPr id="8" name="perma-row-96"/>
          <p:cNvSpPr/>
          <p:nvPr/>
        </p:nvSpPr>
        <p:spPr>
          <a:xfrm>
            <a:off x="457200" y="1874520"/>
            <a:ext cx="8229600" cy="566928"/>
          </a:xfrm>
          <a:prstGeom prst="roundRect">
            <a:avLst>
              <a:gd name="adj" fmla="val 12903"/>
            </a:avLst>
          </a:prstGeom>
          <a:solidFill>
            <a:schemeClr val="bg2"/>
          </a:solidFill>
          <a:ln/>
        </p:spPr>
        <p:txBody>
          <a:bodyPr/>
          <a:lstStyle/>
          <a:p>
            <a:endParaRPr lang="en-US"/>
          </a:p>
        </p:txBody>
      </p:sp>
      <p:sp>
        <p:nvSpPr>
          <p:cNvPr id="9" name="circle-97"/>
          <p:cNvSpPr/>
          <p:nvPr/>
        </p:nvSpPr>
        <p:spPr>
          <a:xfrm>
            <a:off x="594360" y="1929384"/>
            <a:ext cx="457200" cy="457200"/>
          </a:xfrm>
          <a:prstGeom prst="ellipse">
            <a:avLst/>
          </a:prstGeom>
          <a:solidFill>
            <a:srgbClr val="1F8A8A"/>
          </a:solidFill>
          <a:ln/>
        </p:spPr>
        <p:txBody>
          <a:bodyPr/>
          <a:lstStyle/>
          <a:p>
            <a:endParaRPr lang="en-US"/>
          </a:p>
        </p:txBody>
      </p:sp>
      <p:sp>
        <p:nvSpPr>
          <p:cNvPr id="10" name="text-98"/>
          <p:cNvSpPr txBox="1"/>
          <p:nvPr/>
        </p:nvSpPr>
        <p:spPr>
          <a:xfrm>
            <a:off x="594360" y="1929384"/>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rPr>
              <a:t>E</a:t>
            </a:r>
            <a:endParaRPr lang="en-US" sz="2200" dirty="0"/>
          </a:p>
        </p:txBody>
      </p:sp>
      <p:sp>
        <p:nvSpPr>
          <p:cNvPr id="11" name="text-99"/>
          <p:cNvSpPr txBox="1"/>
          <p:nvPr/>
        </p:nvSpPr>
        <p:spPr>
          <a:xfrm>
            <a:off x="1280160" y="1874520"/>
            <a:ext cx="2377440" cy="566928"/>
          </a:xfrm>
          <a:prstGeom prst="rect">
            <a:avLst/>
          </a:prstGeom>
          <a:noFill/>
          <a:ln/>
        </p:spPr>
        <p:txBody>
          <a:bodyPr wrap="square" lIns="0" tIns="0" rIns="0" bIns="0" rtlCol="0" anchor="ctr"/>
          <a:lstStyle/>
          <a:p>
            <a:pPr marL="0" indent="0">
              <a:buNone/>
            </a:pPr>
            <a:r>
              <a:rPr lang="en-US" sz="1800" b="1" dirty="0">
                <a:solidFill>
                  <a:schemeClr val="tx2"/>
                </a:solidFill>
              </a:rPr>
              <a:t>Engagement</a:t>
            </a:r>
            <a:endParaRPr lang="en-US" sz="1800" dirty="0"/>
          </a:p>
        </p:txBody>
      </p:sp>
      <p:sp>
        <p:nvSpPr>
          <p:cNvPr id="12" name="text-100"/>
          <p:cNvSpPr txBox="1"/>
          <p:nvPr/>
        </p:nvSpPr>
        <p:spPr>
          <a:xfrm>
            <a:off x="3749040" y="1874520"/>
            <a:ext cx="4754880" cy="566928"/>
          </a:xfrm>
          <a:prstGeom prst="rect">
            <a:avLst/>
          </a:prstGeom>
          <a:noFill/>
          <a:ln/>
        </p:spPr>
        <p:txBody>
          <a:bodyPr wrap="square" lIns="0" tIns="0" rIns="0" bIns="0" rtlCol="0" anchor="ctr"/>
          <a:lstStyle/>
          <a:p>
            <a:pPr marL="0" indent="0">
              <a:buNone/>
            </a:pPr>
            <a:r>
              <a:rPr lang="en-US" sz="1500" dirty="0">
                <a:solidFill>
                  <a:schemeClr val="tx1"/>
                </a:solidFill>
              </a:rPr>
              <a:t>Absorption in a meaningful challenge</a:t>
            </a:r>
            <a:endParaRPr lang="en-US" sz="1500" dirty="0"/>
          </a:p>
        </p:txBody>
      </p:sp>
      <p:sp>
        <p:nvSpPr>
          <p:cNvPr id="13" name="perma-row-101"/>
          <p:cNvSpPr/>
          <p:nvPr/>
        </p:nvSpPr>
        <p:spPr>
          <a:xfrm>
            <a:off x="457200" y="2514600"/>
            <a:ext cx="8229600" cy="566928"/>
          </a:xfrm>
          <a:prstGeom prst="roundRect">
            <a:avLst>
              <a:gd name="adj" fmla="val 12903"/>
            </a:avLst>
          </a:prstGeom>
          <a:solidFill>
            <a:schemeClr val="bg2"/>
          </a:solidFill>
          <a:ln/>
        </p:spPr>
        <p:txBody>
          <a:bodyPr/>
          <a:lstStyle/>
          <a:p>
            <a:endParaRPr lang="en-US"/>
          </a:p>
        </p:txBody>
      </p:sp>
      <p:sp>
        <p:nvSpPr>
          <p:cNvPr id="14" name="circle-102"/>
          <p:cNvSpPr/>
          <p:nvPr/>
        </p:nvSpPr>
        <p:spPr>
          <a:xfrm>
            <a:off x="594360" y="2569464"/>
            <a:ext cx="457200" cy="457200"/>
          </a:xfrm>
          <a:prstGeom prst="ellipse">
            <a:avLst/>
          </a:prstGeom>
          <a:solidFill>
            <a:srgbClr val="C8452F"/>
          </a:solidFill>
          <a:ln/>
        </p:spPr>
        <p:txBody>
          <a:bodyPr/>
          <a:lstStyle/>
          <a:p>
            <a:endParaRPr lang="en-US"/>
          </a:p>
        </p:txBody>
      </p:sp>
      <p:sp>
        <p:nvSpPr>
          <p:cNvPr id="15" name="text-103"/>
          <p:cNvSpPr txBox="1"/>
          <p:nvPr/>
        </p:nvSpPr>
        <p:spPr>
          <a:xfrm>
            <a:off x="594360" y="2569464"/>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rPr>
              <a:t>R</a:t>
            </a:r>
            <a:endParaRPr lang="en-US" sz="2200" dirty="0"/>
          </a:p>
        </p:txBody>
      </p:sp>
      <p:sp>
        <p:nvSpPr>
          <p:cNvPr id="16" name="text-104"/>
          <p:cNvSpPr txBox="1"/>
          <p:nvPr/>
        </p:nvSpPr>
        <p:spPr>
          <a:xfrm>
            <a:off x="1280160" y="2514600"/>
            <a:ext cx="2377440" cy="566928"/>
          </a:xfrm>
          <a:prstGeom prst="rect">
            <a:avLst/>
          </a:prstGeom>
          <a:noFill/>
          <a:ln/>
        </p:spPr>
        <p:txBody>
          <a:bodyPr wrap="square" lIns="0" tIns="0" rIns="0" bIns="0" rtlCol="0" anchor="ctr"/>
          <a:lstStyle/>
          <a:p>
            <a:pPr marL="0" indent="0">
              <a:buNone/>
            </a:pPr>
            <a:r>
              <a:rPr lang="en-US" sz="1800" b="1" dirty="0">
                <a:solidFill>
                  <a:schemeClr val="tx2"/>
                </a:solidFill>
              </a:rPr>
              <a:t>Relationships</a:t>
            </a:r>
            <a:endParaRPr lang="en-US" sz="1800" dirty="0"/>
          </a:p>
        </p:txBody>
      </p:sp>
      <p:sp>
        <p:nvSpPr>
          <p:cNvPr id="17" name="text-105"/>
          <p:cNvSpPr txBox="1"/>
          <p:nvPr/>
        </p:nvSpPr>
        <p:spPr>
          <a:xfrm>
            <a:off x="3749040" y="2514600"/>
            <a:ext cx="4754880" cy="566928"/>
          </a:xfrm>
          <a:prstGeom prst="rect">
            <a:avLst/>
          </a:prstGeom>
          <a:noFill/>
          <a:ln/>
        </p:spPr>
        <p:txBody>
          <a:bodyPr wrap="square" lIns="0" tIns="0" rIns="0" bIns="0" rtlCol="0" anchor="ctr"/>
          <a:lstStyle/>
          <a:p>
            <a:pPr marL="0" indent="0">
              <a:buNone/>
            </a:pPr>
            <a:r>
              <a:rPr lang="en-US" sz="1500" dirty="0">
                <a:solidFill>
                  <a:schemeClr val="tx1"/>
                </a:solidFill>
              </a:rPr>
              <a:t>Feeling supported, valued, and connected</a:t>
            </a:r>
            <a:endParaRPr lang="en-US" sz="1500" dirty="0"/>
          </a:p>
        </p:txBody>
      </p:sp>
      <p:sp>
        <p:nvSpPr>
          <p:cNvPr id="18" name="perma-row-106"/>
          <p:cNvSpPr/>
          <p:nvPr/>
        </p:nvSpPr>
        <p:spPr>
          <a:xfrm>
            <a:off x="457200" y="3154680"/>
            <a:ext cx="8229600" cy="566928"/>
          </a:xfrm>
          <a:prstGeom prst="roundRect">
            <a:avLst>
              <a:gd name="adj" fmla="val 12903"/>
            </a:avLst>
          </a:prstGeom>
          <a:solidFill>
            <a:schemeClr val="bg2"/>
          </a:solidFill>
          <a:ln/>
        </p:spPr>
        <p:txBody>
          <a:bodyPr/>
          <a:lstStyle/>
          <a:p>
            <a:endParaRPr lang="en-US"/>
          </a:p>
        </p:txBody>
      </p:sp>
      <p:sp>
        <p:nvSpPr>
          <p:cNvPr id="19" name="circle-107"/>
          <p:cNvSpPr/>
          <p:nvPr/>
        </p:nvSpPr>
        <p:spPr>
          <a:xfrm>
            <a:off x="594360" y="3209544"/>
            <a:ext cx="457200" cy="457200"/>
          </a:xfrm>
          <a:prstGeom prst="ellipse">
            <a:avLst/>
          </a:prstGeom>
          <a:solidFill>
            <a:srgbClr val="6B4FA0"/>
          </a:solidFill>
          <a:ln/>
        </p:spPr>
        <p:txBody>
          <a:bodyPr/>
          <a:lstStyle/>
          <a:p>
            <a:endParaRPr lang="en-US"/>
          </a:p>
        </p:txBody>
      </p:sp>
      <p:sp>
        <p:nvSpPr>
          <p:cNvPr id="20" name="text-108"/>
          <p:cNvSpPr txBox="1"/>
          <p:nvPr/>
        </p:nvSpPr>
        <p:spPr>
          <a:xfrm>
            <a:off x="594360" y="3209544"/>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rPr>
              <a:t>M</a:t>
            </a:r>
            <a:endParaRPr lang="en-US" sz="2200" dirty="0"/>
          </a:p>
        </p:txBody>
      </p:sp>
      <p:sp>
        <p:nvSpPr>
          <p:cNvPr id="21" name="text-109"/>
          <p:cNvSpPr txBox="1"/>
          <p:nvPr/>
        </p:nvSpPr>
        <p:spPr>
          <a:xfrm>
            <a:off x="1280160" y="3154680"/>
            <a:ext cx="2377440" cy="566928"/>
          </a:xfrm>
          <a:prstGeom prst="rect">
            <a:avLst/>
          </a:prstGeom>
          <a:noFill/>
          <a:ln/>
        </p:spPr>
        <p:txBody>
          <a:bodyPr wrap="square" lIns="0" tIns="0" rIns="0" bIns="0" rtlCol="0" anchor="ctr"/>
          <a:lstStyle/>
          <a:p>
            <a:pPr marL="0" indent="0">
              <a:buNone/>
            </a:pPr>
            <a:r>
              <a:rPr lang="en-US" sz="1800" b="1" dirty="0">
                <a:solidFill>
                  <a:schemeClr val="tx2"/>
                </a:solidFill>
              </a:rPr>
              <a:t>Meaning</a:t>
            </a:r>
            <a:endParaRPr lang="en-US" sz="1800" dirty="0"/>
          </a:p>
        </p:txBody>
      </p:sp>
      <p:sp>
        <p:nvSpPr>
          <p:cNvPr id="22" name="text-110"/>
          <p:cNvSpPr txBox="1"/>
          <p:nvPr/>
        </p:nvSpPr>
        <p:spPr>
          <a:xfrm>
            <a:off x="3749040" y="3154680"/>
            <a:ext cx="4754880" cy="566928"/>
          </a:xfrm>
          <a:prstGeom prst="rect">
            <a:avLst/>
          </a:prstGeom>
          <a:noFill/>
          <a:ln/>
        </p:spPr>
        <p:txBody>
          <a:bodyPr wrap="square" lIns="0" tIns="0" rIns="0" bIns="0" rtlCol="0" anchor="ctr"/>
          <a:lstStyle/>
          <a:p>
            <a:pPr marL="0" indent="0">
              <a:buNone/>
            </a:pPr>
            <a:r>
              <a:rPr lang="en-US" sz="1500" dirty="0">
                <a:solidFill>
                  <a:schemeClr val="tx1"/>
                </a:solidFill>
              </a:rPr>
              <a:t>Serving something bigger than yourself</a:t>
            </a:r>
            <a:endParaRPr lang="en-US" sz="1500" dirty="0"/>
          </a:p>
        </p:txBody>
      </p:sp>
      <p:sp>
        <p:nvSpPr>
          <p:cNvPr id="23" name="perma-row-111"/>
          <p:cNvSpPr/>
          <p:nvPr/>
        </p:nvSpPr>
        <p:spPr>
          <a:xfrm>
            <a:off x="457200" y="3794760"/>
            <a:ext cx="8229600" cy="566928"/>
          </a:xfrm>
          <a:prstGeom prst="roundRect">
            <a:avLst>
              <a:gd name="adj" fmla="val 12903"/>
            </a:avLst>
          </a:prstGeom>
          <a:solidFill>
            <a:schemeClr val="bg2"/>
          </a:solidFill>
          <a:ln/>
        </p:spPr>
        <p:txBody>
          <a:bodyPr/>
          <a:lstStyle/>
          <a:p>
            <a:endParaRPr lang="en-US"/>
          </a:p>
        </p:txBody>
      </p:sp>
      <p:sp>
        <p:nvSpPr>
          <p:cNvPr id="24" name="circle-112"/>
          <p:cNvSpPr/>
          <p:nvPr/>
        </p:nvSpPr>
        <p:spPr>
          <a:xfrm>
            <a:off x="594360" y="3849624"/>
            <a:ext cx="457200" cy="457200"/>
          </a:xfrm>
          <a:prstGeom prst="ellipse">
            <a:avLst/>
          </a:prstGeom>
          <a:solidFill>
            <a:srgbClr val="3E8E5A"/>
          </a:solidFill>
          <a:ln/>
        </p:spPr>
        <p:txBody>
          <a:bodyPr/>
          <a:lstStyle/>
          <a:p>
            <a:endParaRPr lang="en-US"/>
          </a:p>
        </p:txBody>
      </p:sp>
      <p:sp>
        <p:nvSpPr>
          <p:cNvPr id="25" name="text-113"/>
          <p:cNvSpPr txBox="1"/>
          <p:nvPr/>
        </p:nvSpPr>
        <p:spPr>
          <a:xfrm>
            <a:off x="594360" y="3849624"/>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rPr>
              <a:t>A</a:t>
            </a:r>
            <a:endParaRPr lang="en-US" sz="2200" dirty="0"/>
          </a:p>
        </p:txBody>
      </p:sp>
      <p:sp>
        <p:nvSpPr>
          <p:cNvPr id="26" name="text-114"/>
          <p:cNvSpPr txBox="1"/>
          <p:nvPr/>
        </p:nvSpPr>
        <p:spPr>
          <a:xfrm>
            <a:off x="1280160" y="3794760"/>
            <a:ext cx="2377440" cy="566928"/>
          </a:xfrm>
          <a:prstGeom prst="rect">
            <a:avLst/>
          </a:prstGeom>
          <a:noFill/>
          <a:ln/>
        </p:spPr>
        <p:txBody>
          <a:bodyPr wrap="square" lIns="0" tIns="0" rIns="0" bIns="0" rtlCol="0" anchor="ctr"/>
          <a:lstStyle/>
          <a:p>
            <a:pPr marL="0" indent="0">
              <a:buNone/>
            </a:pPr>
            <a:r>
              <a:rPr lang="en-US" sz="1800" b="1" dirty="0">
                <a:solidFill>
                  <a:schemeClr val="tx2"/>
                </a:solidFill>
              </a:rPr>
              <a:t>Accomplishment</a:t>
            </a:r>
            <a:endParaRPr lang="en-US" sz="1800" dirty="0"/>
          </a:p>
        </p:txBody>
      </p:sp>
      <p:sp>
        <p:nvSpPr>
          <p:cNvPr id="27" name="text-115"/>
          <p:cNvSpPr txBox="1"/>
          <p:nvPr/>
        </p:nvSpPr>
        <p:spPr>
          <a:xfrm>
            <a:off x="3749040" y="3794760"/>
            <a:ext cx="4754880" cy="566928"/>
          </a:xfrm>
          <a:prstGeom prst="rect">
            <a:avLst/>
          </a:prstGeom>
          <a:noFill/>
          <a:ln/>
        </p:spPr>
        <p:txBody>
          <a:bodyPr wrap="square" lIns="0" tIns="0" rIns="0" bIns="0" rtlCol="0" anchor="ctr"/>
          <a:lstStyle/>
          <a:p>
            <a:pPr marL="0" indent="0">
              <a:buNone/>
            </a:pPr>
            <a:r>
              <a:rPr lang="en-US" sz="1500" dirty="0">
                <a:solidFill>
                  <a:schemeClr val="tx1"/>
                </a:solidFill>
              </a:rPr>
              <a:t>Mastery, progress, and goals achieved</a:t>
            </a:r>
            <a:endParaRPr lang="en-US" sz="1500" dirty="0"/>
          </a:p>
        </p:txBody>
      </p:sp>
      <p:sp>
        <p:nvSpPr>
          <p:cNvPr id="28" name="text-116"/>
          <p:cNvSpPr txBox="1"/>
          <p:nvPr/>
        </p:nvSpPr>
        <p:spPr>
          <a:xfrm>
            <a:off x="457200" y="4526280"/>
            <a:ext cx="8229600" cy="274320"/>
          </a:xfrm>
          <a:prstGeom prst="rect">
            <a:avLst/>
          </a:prstGeom>
          <a:noFill/>
          <a:ln/>
        </p:spPr>
        <p:txBody>
          <a:bodyPr wrap="square" lIns="0" tIns="0" rIns="0" bIns="0" rtlCol="0" anchor="t"/>
          <a:lstStyle/>
          <a:p>
            <a:pPr marL="0" indent="0">
              <a:buNone/>
            </a:pPr>
            <a:r>
              <a:rPr lang="en-US" sz="1200" i="1" dirty="0">
                <a:solidFill>
                  <a:schemeClr val="tx2"/>
                </a:solidFill>
              </a:rPr>
              <a:t>Seligman, Flourish (2011)</a:t>
            </a:r>
            <a:endParaRPr lang="en-US" sz="1200" dirty="0"/>
          </a:p>
        </p:txBody>
      </p:sp>
      <p:sp>
        <p:nvSpPr>
          <p:cNvPr id="29"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12</a:t>
            </a:fld>
            <a:endParaRPr lang="en-US"/>
          </a:p>
        </p:txBody>
      </p:sp>
      <p:sp>
        <p:nvSpPr>
          <p:cNvPr id="30" name="TextBox 29">
            <a:extLst>
              <a:ext uri="{FF2B5EF4-FFF2-40B4-BE49-F238E27FC236}">
                <a16:creationId xmlns:a16="http://schemas.microsoft.com/office/drawing/2014/main" id="{FBACC7C8-CC44-6B63-7465-24898827C2E8}"/>
              </a:ext>
            </a:extLst>
          </p:cNvPr>
          <p:cNvSpPr txBox="1"/>
          <p:nvPr/>
        </p:nvSpPr>
        <p:spPr>
          <a:xfrm>
            <a:off x="1993392" y="4502634"/>
            <a:ext cx="2139696" cy="276999"/>
          </a:xfrm>
          <a:prstGeom prst="rect">
            <a:avLst/>
          </a:prstGeom>
          <a:noFill/>
        </p:spPr>
        <p:txBody>
          <a:bodyPr wrap="square" rtlCol="0">
            <a:spAutoFit/>
          </a:bodyPr>
          <a:lstStyle/>
          <a:p>
            <a:r>
              <a:rPr lang="en-US" sz="1200"/>
              <a:t>book Flourish</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PERMA in your team</a:t>
            </a:r>
            <a:endParaRPr lang="en-US" sz="3000" dirty="0"/>
          </a:p>
        </p:txBody>
      </p:sp>
      <p:sp>
        <p:nvSpPr>
          <p:cNvPr id="3" name="perma-work-card-117"/>
          <p:cNvSpPr/>
          <p:nvPr/>
        </p:nvSpPr>
        <p:spPr>
          <a:xfrm>
            <a:off x="457200" y="1280160"/>
            <a:ext cx="2651760" cy="1554480"/>
          </a:xfrm>
          <a:prstGeom prst="roundRect">
            <a:avLst>
              <a:gd name="adj" fmla="val 4706"/>
            </a:avLst>
          </a:prstGeom>
          <a:solidFill>
            <a:schemeClr val="bg2"/>
          </a:solidFill>
          <a:ln/>
        </p:spPr>
        <p:txBody>
          <a:bodyPr/>
          <a:lstStyle/>
          <a:p>
            <a:endParaRPr lang="en-US"/>
          </a:p>
        </p:txBody>
      </p:sp>
      <p:sp>
        <p:nvSpPr>
          <p:cNvPr id="4" name="circle-118"/>
          <p:cNvSpPr/>
          <p:nvPr/>
        </p:nvSpPr>
        <p:spPr>
          <a:xfrm>
            <a:off x="640080" y="1463040"/>
            <a:ext cx="502920" cy="502920"/>
          </a:xfrm>
          <a:prstGeom prst="ellipse">
            <a:avLst/>
          </a:prstGeom>
          <a:solidFill>
            <a:srgbClr val="F5A623"/>
          </a:solidFill>
          <a:ln/>
        </p:spPr>
        <p:txBody>
          <a:bodyPr/>
          <a:lstStyle/>
          <a:p>
            <a:endParaRPr lang="en-US"/>
          </a:p>
        </p:txBody>
      </p:sp>
      <p:pic>
        <p:nvPicPr>
          <p:cNvPr id="5" name="icon-119" descr="icon"/>
          <p:cNvPicPr>
            <a:picLocks noChangeAspect="1"/>
          </p:cNvPicPr>
          <p:nvPr/>
        </p:nvPicPr>
        <p:blipFill>
          <a:blip r:embed="rId3"/>
          <a:stretch>
            <a:fillRect/>
          </a:stretch>
        </p:blipFill>
        <p:spPr>
          <a:xfrm>
            <a:off x="760781" y="1583741"/>
            <a:ext cx="261518" cy="261518"/>
          </a:xfrm>
          <a:prstGeom prst="rect">
            <a:avLst/>
          </a:prstGeom>
        </p:spPr>
      </p:pic>
      <p:sp>
        <p:nvSpPr>
          <p:cNvPr id="6" name="text-120"/>
          <p:cNvSpPr txBox="1"/>
          <p:nvPr/>
        </p:nvSpPr>
        <p:spPr>
          <a:xfrm>
            <a:off x="1280160" y="1463040"/>
            <a:ext cx="1737360" cy="502920"/>
          </a:xfrm>
          <a:prstGeom prst="rect">
            <a:avLst/>
          </a:prstGeom>
          <a:noFill/>
          <a:ln/>
        </p:spPr>
        <p:txBody>
          <a:bodyPr wrap="square" lIns="0" tIns="0" rIns="0" bIns="0" rtlCol="0" anchor="ctr"/>
          <a:lstStyle/>
          <a:p>
            <a:pPr marL="0" indent="0">
              <a:buNone/>
            </a:pPr>
            <a:r>
              <a:rPr lang="en-US" sz="1600" b="1" dirty="0">
                <a:solidFill>
                  <a:schemeClr val="tx2"/>
                </a:solidFill>
              </a:rPr>
              <a:t>Positive emotion</a:t>
            </a:r>
            <a:endParaRPr lang="en-US" sz="1600" dirty="0"/>
          </a:p>
        </p:txBody>
      </p:sp>
      <p:sp>
        <p:nvSpPr>
          <p:cNvPr id="7" name="text-121"/>
          <p:cNvSpPr txBox="1"/>
          <p:nvPr/>
        </p:nvSpPr>
        <p:spPr>
          <a:xfrm>
            <a:off x="640080" y="2103120"/>
            <a:ext cx="2286000" cy="640080"/>
          </a:xfrm>
          <a:prstGeom prst="rect">
            <a:avLst/>
          </a:prstGeom>
          <a:noFill/>
          <a:ln/>
        </p:spPr>
        <p:txBody>
          <a:bodyPr wrap="square" lIns="0" tIns="0" rIns="0" bIns="0" rtlCol="0" anchor="t"/>
          <a:lstStyle/>
          <a:p>
            <a:pPr marL="0" indent="0">
              <a:buNone/>
            </a:pPr>
            <a:r>
              <a:rPr lang="en-US" sz="1400" dirty="0">
                <a:solidFill>
                  <a:schemeClr val="tx1"/>
                </a:solidFill>
              </a:rPr>
              <a:t>Open meetings with a win or good news</a:t>
            </a:r>
            <a:endParaRPr lang="en-US" sz="1400" dirty="0"/>
          </a:p>
        </p:txBody>
      </p:sp>
      <p:sp>
        <p:nvSpPr>
          <p:cNvPr id="8" name="perma-work-card-122"/>
          <p:cNvSpPr/>
          <p:nvPr/>
        </p:nvSpPr>
        <p:spPr>
          <a:xfrm>
            <a:off x="3246120" y="1280160"/>
            <a:ext cx="2651760" cy="1554480"/>
          </a:xfrm>
          <a:prstGeom prst="roundRect">
            <a:avLst>
              <a:gd name="adj" fmla="val 4706"/>
            </a:avLst>
          </a:prstGeom>
          <a:solidFill>
            <a:schemeClr val="bg2"/>
          </a:solidFill>
          <a:ln/>
        </p:spPr>
        <p:txBody>
          <a:bodyPr/>
          <a:lstStyle/>
          <a:p>
            <a:endParaRPr lang="en-US"/>
          </a:p>
        </p:txBody>
      </p:sp>
      <p:sp>
        <p:nvSpPr>
          <p:cNvPr id="9" name="circle-123"/>
          <p:cNvSpPr/>
          <p:nvPr/>
        </p:nvSpPr>
        <p:spPr>
          <a:xfrm>
            <a:off x="3429000" y="1463040"/>
            <a:ext cx="502920" cy="502920"/>
          </a:xfrm>
          <a:prstGeom prst="ellipse">
            <a:avLst/>
          </a:prstGeom>
          <a:solidFill>
            <a:srgbClr val="1F8A8A"/>
          </a:solidFill>
          <a:ln/>
        </p:spPr>
        <p:txBody>
          <a:bodyPr/>
          <a:lstStyle/>
          <a:p>
            <a:endParaRPr lang="en-US"/>
          </a:p>
        </p:txBody>
      </p:sp>
      <p:pic>
        <p:nvPicPr>
          <p:cNvPr id="10" name="icon-124" descr="icon"/>
          <p:cNvPicPr>
            <a:picLocks noChangeAspect="1"/>
          </p:cNvPicPr>
          <p:nvPr/>
        </p:nvPicPr>
        <p:blipFill>
          <a:blip r:embed="rId4"/>
          <a:stretch>
            <a:fillRect/>
          </a:stretch>
        </p:blipFill>
        <p:spPr>
          <a:xfrm>
            <a:off x="3549701" y="1583741"/>
            <a:ext cx="261518" cy="261518"/>
          </a:xfrm>
          <a:prstGeom prst="rect">
            <a:avLst/>
          </a:prstGeom>
        </p:spPr>
      </p:pic>
      <p:sp>
        <p:nvSpPr>
          <p:cNvPr id="11" name="text-125"/>
          <p:cNvSpPr txBox="1"/>
          <p:nvPr/>
        </p:nvSpPr>
        <p:spPr>
          <a:xfrm>
            <a:off x="4069080" y="1463040"/>
            <a:ext cx="1737360" cy="502920"/>
          </a:xfrm>
          <a:prstGeom prst="rect">
            <a:avLst/>
          </a:prstGeom>
          <a:noFill/>
          <a:ln/>
        </p:spPr>
        <p:txBody>
          <a:bodyPr wrap="square" lIns="0" tIns="0" rIns="0" bIns="0" rtlCol="0" anchor="ctr"/>
          <a:lstStyle/>
          <a:p>
            <a:pPr marL="0" indent="0">
              <a:buNone/>
            </a:pPr>
            <a:r>
              <a:rPr lang="en-US" sz="1600" b="1" dirty="0">
                <a:solidFill>
                  <a:schemeClr val="tx2"/>
                </a:solidFill>
              </a:rPr>
              <a:t>Engagement</a:t>
            </a:r>
            <a:endParaRPr lang="en-US" sz="1600" dirty="0"/>
          </a:p>
        </p:txBody>
      </p:sp>
      <p:sp>
        <p:nvSpPr>
          <p:cNvPr id="12" name="text-126"/>
          <p:cNvSpPr txBox="1"/>
          <p:nvPr/>
        </p:nvSpPr>
        <p:spPr>
          <a:xfrm>
            <a:off x="3429000" y="2103120"/>
            <a:ext cx="2286000" cy="640080"/>
          </a:xfrm>
          <a:prstGeom prst="rect">
            <a:avLst/>
          </a:prstGeom>
          <a:noFill/>
          <a:ln/>
        </p:spPr>
        <p:txBody>
          <a:bodyPr wrap="square" lIns="0" tIns="0" rIns="0" bIns="0" rtlCol="0" anchor="t"/>
          <a:lstStyle/>
          <a:p>
            <a:pPr marL="0" indent="0">
              <a:buNone/>
            </a:pPr>
            <a:r>
              <a:rPr lang="en-US" sz="1400" dirty="0">
                <a:solidFill>
                  <a:schemeClr val="tx1"/>
                </a:solidFill>
              </a:rPr>
              <a:t>Match tasks to strengths; protect focus time</a:t>
            </a:r>
            <a:endParaRPr lang="en-US" sz="1400" dirty="0"/>
          </a:p>
        </p:txBody>
      </p:sp>
      <p:sp>
        <p:nvSpPr>
          <p:cNvPr id="13" name="perma-work-card-127"/>
          <p:cNvSpPr/>
          <p:nvPr/>
        </p:nvSpPr>
        <p:spPr>
          <a:xfrm>
            <a:off x="6035040" y="1280160"/>
            <a:ext cx="2651760" cy="1554480"/>
          </a:xfrm>
          <a:prstGeom prst="roundRect">
            <a:avLst>
              <a:gd name="adj" fmla="val 4706"/>
            </a:avLst>
          </a:prstGeom>
          <a:solidFill>
            <a:schemeClr val="bg2"/>
          </a:solidFill>
          <a:ln/>
        </p:spPr>
        <p:txBody>
          <a:bodyPr/>
          <a:lstStyle/>
          <a:p>
            <a:endParaRPr lang="en-US"/>
          </a:p>
        </p:txBody>
      </p:sp>
      <p:sp>
        <p:nvSpPr>
          <p:cNvPr id="14" name="circle-128"/>
          <p:cNvSpPr/>
          <p:nvPr/>
        </p:nvSpPr>
        <p:spPr>
          <a:xfrm>
            <a:off x="6217920" y="1463040"/>
            <a:ext cx="502920" cy="502920"/>
          </a:xfrm>
          <a:prstGeom prst="ellipse">
            <a:avLst/>
          </a:prstGeom>
          <a:solidFill>
            <a:srgbClr val="C8452F"/>
          </a:solidFill>
          <a:ln/>
        </p:spPr>
        <p:txBody>
          <a:bodyPr/>
          <a:lstStyle/>
          <a:p>
            <a:endParaRPr lang="en-US"/>
          </a:p>
        </p:txBody>
      </p:sp>
      <p:pic>
        <p:nvPicPr>
          <p:cNvPr id="15" name="icon-129" descr="icon"/>
          <p:cNvPicPr>
            <a:picLocks noChangeAspect="1"/>
          </p:cNvPicPr>
          <p:nvPr/>
        </p:nvPicPr>
        <p:blipFill>
          <a:blip r:embed="rId5"/>
          <a:stretch>
            <a:fillRect/>
          </a:stretch>
        </p:blipFill>
        <p:spPr>
          <a:xfrm>
            <a:off x="6338621" y="1583741"/>
            <a:ext cx="261518" cy="261518"/>
          </a:xfrm>
          <a:prstGeom prst="rect">
            <a:avLst/>
          </a:prstGeom>
        </p:spPr>
      </p:pic>
      <p:sp>
        <p:nvSpPr>
          <p:cNvPr id="16" name="text-130"/>
          <p:cNvSpPr txBox="1"/>
          <p:nvPr/>
        </p:nvSpPr>
        <p:spPr>
          <a:xfrm>
            <a:off x="6858000" y="1463040"/>
            <a:ext cx="1737360" cy="502920"/>
          </a:xfrm>
          <a:prstGeom prst="rect">
            <a:avLst/>
          </a:prstGeom>
          <a:noFill/>
          <a:ln/>
        </p:spPr>
        <p:txBody>
          <a:bodyPr wrap="square" lIns="0" tIns="0" rIns="0" bIns="0" rtlCol="0" anchor="ctr"/>
          <a:lstStyle/>
          <a:p>
            <a:pPr marL="0" indent="0">
              <a:buNone/>
            </a:pPr>
            <a:r>
              <a:rPr lang="en-US" sz="1600" b="1" dirty="0">
                <a:solidFill>
                  <a:schemeClr val="tx2"/>
                </a:solidFill>
              </a:rPr>
              <a:t>Relationships</a:t>
            </a:r>
            <a:endParaRPr lang="en-US" sz="1600" dirty="0"/>
          </a:p>
        </p:txBody>
      </p:sp>
      <p:sp>
        <p:nvSpPr>
          <p:cNvPr id="17" name="text-131"/>
          <p:cNvSpPr txBox="1"/>
          <p:nvPr/>
        </p:nvSpPr>
        <p:spPr>
          <a:xfrm>
            <a:off x="6217920" y="2103120"/>
            <a:ext cx="2286000" cy="640080"/>
          </a:xfrm>
          <a:prstGeom prst="rect">
            <a:avLst/>
          </a:prstGeom>
          <a:noFill/>
          <a:ln/>
        </p:spPr>
        <p:txBody>
          <a:bodyPr wrap="square" lIns="0" tIns="0" rIns="0" bIns="0" rtlCol="0" anchor="t"/>
          <a:lstStyle/>
          <a:p>
            <a:pPr marL="0" indent="0">
              <a:buNone/>
            </a:pPr>
            <a:r>
              <a:rPr lang="en-US" sz="1400" dirty="0">
                <a:solidFill>
                  <a:schemeClr val="tx1"/>
                </a:solidFill>
              </a:rPr>
              <a:t>Hold real one-to-ones; ask about their lives</a:t>
            </a:r>
            <a:endParaRPr lang="en-US" sz="1400" dirty="0"/>
          </a:p>
        </p:txBody>
      </p:sp>
      <p:sp>
        <p:nvSpPr>
          <p:cNvPr id="18" name="perma-work-card-132"/>
          <p:cNvSpPr/>
          <p:nvPr/>
        </p:nvSpPr>
        <p:spPr>
          <a:xfrm>
            <a:off x="457200" y="2971800"/>
            <a:ext cx="2651760" cy="1554480"/>
          </a:xfrm>
          <a:prstGeom prst="roundRect">
            <a:avLst>
              <a:gd name="adj" fmla="val 4706"/>
            </a:avLst>
          </a:prstGeom>
          <a:solidFill>
            <a:schemeClr val="bg2"/>
          </a:solidFill>
          <a:ln/>
        </p:spPr>
        <p:txBody>
          <a:bodyPr/>
          <a:lstStyle/>
          <a:p>
            <a:endParaRPr lang="en-US"/>
          </a:p>
        </p:txBody>
      </p:sp>
      <p:sp>
        <p:nvSpPr>
          <p:cNvPr id="19" name="circle-133"/>
          <p:cNvSpPr/>
          <p:nvPr/>
        </p:nvSpPr>
        <p:spPr>
          <a:xfrm>
            <a:off x="640080" y="3154680"/>
            <a:ext cx="502920" cy="502920"/>
          </a:xfrm>
          <a:prstGeom prst="ellipse">
            <a:avLst/>
          </a:prstGeom>
          <a:solidFill>
            <a:srgbClr val="6B4FA0"/>
          </a:solidFill>
          <a:ln/>
        </p:spPr>
        <p:txBody>
          <a:bodyPr/>
          <a:lstStyle/>
          <a:p>
            <a:endParaRPr lang="en-US"/>
          </a:p>
        </p:txBody>
      </p:sp>
      <p:pic>
        <p:nvPicPr>
          <p:cNvPr id="20" name="icon-134" descr="icon"/>
          <p:cNvPicPr>
            <a:picLocks noChangeAspect="1"/>
          </p:cNvPicPr>
          <p:nvPr/>
        </p:nvPicPr>
        <p:blipFill>
          <a:blip r:embed="rId6"/>
          <a:stretch>
            <a:fillRect/>
          </a:stretch>
        </p:blipFill>
        <p:spPr>
          <a:xfrm>
            <a:off x="760781" y="3275381"/>
            <a:ext cx="261518" cy="261518"/>
          </a:xfrm>
          <a:prstGeom prst="rect">
            <a:avLst/>
          </a:prstGeom>
        </p:spPr>
      </p:pic>
      <p:sp>
        <p:nvSpPr>
          <p:cNvPr id="21" name="text-135"/>
          <p:cNvSpPr txBox="1"/>
          <p:nvPr/>
        </p:nvSpPr>
        <p:spPr>
          <a:xfrm>
            <a:off x="1280160" y="3154680"/>
            <a:ext cx="1737360" cy="502920"/>
          </a:xfrm>
          <a:prstGeom prst="rect">
            <a:avLst/>
          </a:prstGeom>
          <a:noFill/>
          <a:ln/>
        </p:spPr>
        <p:txBody>
          <a:bodyPr wrap="square" lIns="0" tIns="0" rIns="0" bIns="0" rtlCol="0" anchor="ctr"/>
          <a:lstStyle/>
          <a:p>
            <a:pPr marL="0" indent="0">
              <a:buNone/>
            </a:pPr>
            <a:r>
              <a:rPr lang="en-US" sz="1600" b="1" dirty="0">
                <a:solidFill>
                  <a:schemeClr val="tx2"/>
                </a:solidFill>
              </a:rPr>
              <a:t>Meaning</a:t>
            </a:r>
            <a:endParaRPr lang="en-US" sz="1600" dirty="0"/>
          </a:p>
        </p:txBody>
      </p:sp>
      <p:sp>
        <p:nvSpPr>
          <p:cNvPr id="22" name="text-136"/>
          <p:cNvSpPr txBox="1"/>
          <p:nvPr/>
        </p:nvSpPr>
        <p:spPr>
          <a:xfrm>
            <a:off x="640080" y="3794760"/>
            <a:ext cx="2286000" cy="640080"/>
          </a:xfrm>
          <a:prstGeom prst="rect">
            <a:avLst/>
          </a:prstGeom>
          <a:noFill/>
          <a:ln/>
        </p:spPr>
        <p:txBody>
          <a:bodyPr wrap="square" lIns="0" tIns="0" rIns="0" bIns="0" rtlCol="0" anchor="t"/>
          <a:lstStyle/>
          <a:p>
            <a:pPr marL="0" indent="0">
              <a:buNone/>
            </a:pPr>
            <a:r>
              <a:rPr lang="en-US" sz="1400" dirty="0">
                <a:solidFill>
                  <a:schemeClr val="tx1"/>
                </a:solidFill>
              </a:rPr>
              <a:t>Link every task to the people it helps</a:t>
            </a:r>
            <a:endParaRPr lang="en-US" sz="1400" dirty="0"/>
          </a:p>
        </p:txBody>
      </p:sp>
      <p:sp>
        <p:nvSpPr>
          <p:cNvPr id="23" name="perma-work-card-137"/>
          <p:cNvSpPr/>
          <p:nvPr/>
        </p:nvSpPr>
        <p:spPr>
          <a:xfrm>
            <a:off x="3246120" y="2971800"/>
            <a:ext cx="2651760" cy="1554480"/>
          </a:xfrm>
          <a:prstGeom prst="roundRect">
            <a:avLst>
              <a:gd name="adj" fmla="val 4706"/>
            </a:avLst>
          </a:prstGeom>
          <a:solidFill>
            <a:schemeClr val="bg2"/>
          </a:solidFill>
          <a:ln/>
        </p:spPr>
        <p:txBody>
          <a:bodyPr/>
          <a:lstStyle/>
          <a:p>
            <a:endParaRPr lang="en-US"/>
          </a:p>
        </p:txBody>
      </p:sp>
      <p:sp>
        <p:nvSpPr>
          <p:cNvPr id="24" name="circle-138"/>
          <p:cNvSpPr/>
          <p:nvPr/>
        </p:nvSpPr>
        <p:spPr>
          <a:xfrm>
            <a:off x="3429000" y="3154680"/>
            <a:ext cx="502920" cy="502920"/>
          </a:xfrm>
          <a:prstGeom prst="ellipse">
            <a:avLst/>
          </a:prstGeom>
          <a:solidFill>
            <a:srgbClr val="3E8E5A"/>
          </a:solidFill>
          <a:ln/>
        </p:spPr>
        <p:txBody>
          <a:bodyPr/>
          <a:lstStyle/>
          <a:p>
            <a:endParaRPr lang="en-US"/>
          </a:p>
        </p:txBody>
      </p:sp>
      <p:pic>
        <p:nvPicPr>
          <p:cNvPr id="25" name="icon-139" descr="icon"/>
          <p:cNvPicPr>
            <a:picLocks noChangeAspect="1"/>
          </p:cNvPicPr>
          <p:nvPr/>
        </p:nvPicPr>
        <p:blipFill>
          <a:blip r:embed="rId7"/>
          <a:stretch>
            <a:fillRect/>
          </a:stretch>
        </p:blipFill>
        <p:spPr>
          <a:xfrm>
            <a:off x="3549701" y="3275381"/>
            <a:ext cx="261518" cy="261518"/>
          </a:xfrm>
          <a:prstGeom prst="rect">
            <a:avLst/>
          </a:prstGeom>
        </p:spPr>
      </p:pic>
      <p:sp>
        <p:nvSpPr>
          <p:cNvPr id="26" name="text-140"/>
          <p:cNvSpPr txBox="1"/>
          <p:nvPr/>
        </p:nvSpPr>
        <p:spPr>
          <a:xfrm>
            <a:off x="4069080" y="3154680"/>
            <a:ext cx="1737360" cy="502920"/>
          </a:xfrm>
          <a:prstGeom prst="rect">
            <a:avLst/>
          </a:prstGeom>
          <a:noFill/>
          <a:ln/>
        </p:spPr>
        <p:txBody>
          <a:bodyPr wrap="square" lIns="0" tIns="0" rIns="0" bIns="0" rtlCol="0" anchor="ctr"/>
          <a:lstStyle/>
          <a:p>
            <a:pPr marL="0" indent="0">
              <a:buNone/>
            </a:pPr>
            <a:r>
              <a:rPr lang="en-US" sz="1600" b="1" dirty="0">
                <a:solidFill>
                  <a:schemeClr val="tx2"/>
                </a:solidFill>
              </a:rPr>
              <a:t>Accomplishment</a:t>
            </a:r>
            <a:endParaRPr lang="en-US" sz="1600" dirty="0"/>
          </a:p>
        </p:txBody>
      </p:sp>
      <p:sp>
        <p:nvSpPr>
          <p:cNvPr id="27" name="text-141"/>
          <p:cNvSpPr txBox="1"/>
          <p:nvPr/>
        </p:nvSpPr>
        <p:spPr>
          <a:xfrm>
            <a:off x="3429000" y="3794760"/>
            <a:ext cx="2286000" cy="640080"/>
          </a:xfrm>
          <a:prstGeom prst="rect">
            <a:avLst/>
          </a:prstGeom>
          <a:noFill/>
          <a:ln/>
        </p:spPr>
        <p:txBody>
          <a:bodyPr wrap="square" lIns="0" tIns="0" rIns="0" bIns="0" rtlCol="0" anchor="t"/>
          <a:lstStyle/>
          <a:p>
            <a:pPr marL="0" indent="0">
              <a:buNone/>
            </a:pPr>
            <a:r>
              <a:rPr lang="en-US" sz="1400" dirty="0">
                <a:solidFill>
                  <a:schemeClr val="tx1"/>
                </a:solidFill>
              </a:rPr>
              <a:t>Make progress visible; celebrate milestones</a:t>
            </a:r>
            <a:endParaRPr lang="en-US" sz="1400" dirty="0"/>
          </a:p>
        </p:txBody>
      </p:sp>
      <p:sp>
        <p:nvSpPr>
          <p:cNvPr id="28" name="perma-work-card-142"/>
          <p:cNvSpPr/>
          <p:nvPr/>
        </p:nvSpPr>
        <p:spPr>
          <a:xfrm>
            <a:off x="6035040" y="2971800"/>
            <a:ext cx="2651760" cy="1554480"/>
          </a:xfrm>
          <a:prstGeom prst="roundRect">
            <a:avLst>
              <a:gd name="adj" fmla="val 4706"/>
            </a:avLst>
          </a:prstGeom>
          <a:solidFill>
            <a:schemeClr val="bg2"/>
          </a:solidFill>
          <a:ln/>
        </p:spPr>
        <p:txBody>
          <a:bodyPr/>
          <a:lstStyle/>
          <a:p>
            <a:endParaRPr lang="en-US"/>
          </a:p>
        </p:txBody>
      </p:sp>
      <p:sp>
        <p:nvSpPr>
          <p:cNvPr id="29" name="circle-143"/>
          <p:cNvSpPr/>
          <p:nvPr/>
        </p:nvSpPr>
        <p:spPr>
          <a:xfrm>
            <a:off x="6217920" y="3154680"/>
            <a:ext cx="502920" cy="502920"/>
          </a:xfrm>
          <a:prstGeom prst="ellipse">
            <a:avLst/>
          </a:prstGeom>
          <a:solidFill>
            <a:srgbClr val="0B3C49"/>
          </a:solidFill>
          <a:ln/>
        </p:spPr>
        <p:txBody>
          <a:bodyPr/>
          <a:lstStyle/>
          <a:p>
            <a:endParaRPr lang="en-US"/>
          </a:p>
        </p:txBody>
      </p:sp>
      <p:pic>
        <p:nvPicPr>
          <p:cNvPr id="30" name="icon-144" descr="icon"/>
          <p:cNvPicPr>
            <a:picLocks noChangeAspect="1"/>
          </p:cNvPicPr>
          <p:nvPr/>
        </p:nvPicPr>
        <p:blipFill>
          <a:blip r:embed="rId8"/>
          <a:stretch>
            <a:fillRect/>
          </a:stretch>
        </p:blipFill>
        <p:spPr>
          <a:xfrm>
            <a:off x="6338621" y="3275381"/>
            <a:ext cx="261518" cy="261518"/>
          </a:xfrm>
          <a:prstGeom prst="rect">
            <a:avLst/>
          </a:prstGeom>
        </p:spPr>
      </p:pic>
      <p:sp>
        <p:nvSpPr>
          <p:cNvPr id="31" name="text-145"/>
          <p:cNvSpPr txBox="1"/>
          <p:nvPr/>
        </p:nvSpPr>
        <p:spPr>
          <a:xfrm>
            <a:off x="6858000" y="3154680"/>
            <a:ext cx="1737360" cy="502920"/>
          </a:xfrm>
          <a:prstGeom prst="rect">
            <a:avLst/>
          </a:prstGeom>
          <a:noFill/>
          <a:ln/>
        </p:spPr>
        <p:txBody>
          <a:bodyPr wrap="square" lIns="0" tIns="0" rIns="0" bIns="0" rtlCol="0" anchor="ctr"/>
          <a:lstStyle/>
          <a:p>
            <a:pPr marL="0" indent="0">
              <a:buNone/>
            </a:pPr>
            <a:r>
              <a:rPr lang="en-US" sz="1600" b="1" dirty="0">
                <a:solidFill>
                  <a:schemeClr val="tx2"/>
                </a:solidFill>
              </a:rPr>
              <a:t>Balance</a:t>
            </a:r>
            <a:endParaRPr lang="en-US" sz="1600" dirty="0"/>
          </a:p>
        </p:txBody>
      </p:sp>
      <p:sp>
        <p:nvSpPr>
          <p:cNvPr id="32" name="text-146"/>
          <p:cNvSpPr txBox="1"/>
          <p:nvPr/>
        </p:nvSpPr>
        <p:spPr>
          <a:xfrm>
            <a:off x="6217920" y="3794760"/>
            <a:ext cx="2286000" cy="640080"/>
          </a:xfrm>
          <a:prstGeom prst="rect">
            <a:avLst/>
          </a:prstGeom>
          <a:noFill/>
          <a:ln/>
        </p:spPr>
        <p:txBody>
          <a:bodyPr wrap="square" lIns="0" tIns="0" rIns="0" bIns="0" rtlCol="0" anchor="t"/>
          <a:lstStyle/>
          <a:p>
            <a:pPr marL="0" indent="0">
              <a:buNone/>
            </a:pPr>
            <a:r>
              <a:rPr lang="en-US" sz="1400" dirty="0">
                <a:solidFill>
                  <a:schemeClr val="tx1"/>
                </a:solidFill>
              </a:rPr>
              <a:t>Ask “what’s working?” as often as “what’s wrong?”</a:t>
            </a:r>
            <a:endParaRPr lang="en-US" sz="1400" dirty="0"/>
          </a:p>
        </p:txBody>
      </p:sp>
      <p:sp>
        <p:nvSpPr>
          <p:cNvPr id="33"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r>
              <a:rPr lang="en-US" sz="3000" b="1" dirty="0">
                <a:solidFill>
                  <a:schemeClr val="tx2"/>
                </a:solidFill>
              </a:rPr>
              <a:t>Broaden and build </a:t>
            </a:r>
            <a:r>
              <a:rPr lang="en-US" sz="1800" dirty="0"/>
              <a:t>Barbara Fredrickson's broaden-and-build 				            theory (2001). </a:t>
            </a:r>
          </a:p>
        </p:txBody>
      </p:sp>
      <p:sp>
        <p:nvSpPr>
          <p:cNvPr id="3" name="cycle-node-147"/>
          <p:cNvSpPr/>
          <p:nvPr/>
        </p:nvSpPr>
        <p:spPr>
          <a:xfrm>
            <a:off x="457200" y="1280160"/>
            <a:ext cx="2240280" cy="1234440"/>
          </a:xfrm>
          <a:prstGeom prst="roundRect">
            <a:avLst>
              <a:gd name="adj" fmla="val 5926"/>
            </a:avLst>
          </a:prstGeom>
          <a:solidFill>
            <a:srgbClr val="F5A623"/>
          </a:solidFill>
          <a:ln/>
        </p:spPr>
        <p:txBody>
          <a:bodyPr/>
          <a:lstStyle/>
          <a:p>
            <a:endParaRPr lang="en-US"/>
          </a:p>
        </p:txBody>
      </p:sp>
      <p:sp>
        <p:nvSpPr>
          <p:cNvPr id="4" name="text-148"/>
          <p:cNvSpPr txBox="1"/>
          <p:nvPr/>
        </p:nvSpPr>
        <p:spPr>
          <a:xfrm>
            <a:off x="640080" y="1371600"/>
            <a:ext cx="1920240" cy="1051560"/>
          </a:xfrm>
          <a:prstGeom prst="rect">
            <a:avLst/>
          </a:prstGeom>
          <a:noFill/>
          <a:ln/>
        </p:spPr>
        <p:txBody>
          <a:bodyPr wrap="square" lIns="0" tIns="0" rIns="0" bIns="0" rtlCol="0" anchor="ctr"/>
          <a:lstStyle/>
          <a:p>
            <a:pPr marL="0" indent="0">
              <a:buNone/>
            </a:pPr>
            <a:r>
              <a:rPr lang="en-US" sz="1600" b="1" dirty="0">
                <a:solidFill>
                  <a:schemeClr val="tx2"/>
                </a:solidFill>
              </a:rPr>
              <a:t>1  Positive emotion</a:t>
            </a:r>
            <a:endParaRPr lang="en-US" sz="1400" dirty="0"/>
          </a:p>
          <a:p>
            <a:pPr marL="0" indent="0">
              <a:buNone/>
            </a:pPr>
            <a:r>
              <a:rPr lang="en-US" sz="1400" dirty="0">
                <a:solidFill>
                  <a:schemeClr val="tx2"/>
                </a:solidFill>
              </a:rPr>
              <a:t>joy, interest, gratitude</a:t>
            </a:r>
            <a:endParaRPr lang="en-US" sz="1400" dirty="0"/>
          </a:p>
        </p:txBody>
      </p:sp>
      <p:sp>
        <p:nvSpPr>
          <p:cNvPr id="5" name="cycle-node-149"/>
          <p:cNvSpPr/>
          <p:nvPr/>
        </p:nvSpPr>
        <p:spPr>
          <a:xfrm>
            <a:off x="3246120" y="1280160"/>
            <a:ext cx="2240280" cy="1234440"/>
          </a:xfrm>
          <a:prstGeom prst="roundRect">
            <a:avLst>
              <a:gd name="adj" fmla="val 5926"/>
            </a:avLst>
          </a:prstGeom>
          <a:solidFill>
            <a:srgbClr val="1F8A8A"/>
          </a:solidFill>
          <a:ln/>
        </p:spPr>
        <p:txBody>
          <a:bodyPr/>
          <a:lstStyle/>
          <a:p>
            <a:endParaRPr lang="en-US"/>
          </a:p>
        </p:txBody>
      </p:sp>
      <p:sp>
        <p:nvSpPr>
          <p:cNvPr id="6" name="text-150"/>
          <p:cNvSpPr txBox="1"/>
          <p:nvPr/>
        </p:nvSpPr>
        <p:spPr>
          <a:xfrm>
            <a:off x="3429000" y="1371600"/>
            <a:ext cx="1920240" cy="1051560"/>
          </a:xfrm>
          <a:prstGeom prst="rect">
            <a:avLst/>
          </a:prstGeom>
          <a:noFill/>
          <a:ln/>
        </p:spPr>
        <p:txBody>
          <a:bodyPr wrap="square" lIns="0" tIns="0" rIns="0" bIns="0" rtlCol="0" anchor="ctr"/>
          <a:lstStyle/>
          <a:p>
            <a:pPr marL="0" indent="0">
              <a:buNone/>
            </a:pPr>
            <a:r>
              <a:rPr lang="en-US" sz="1600" b="1" dirty="0">
                <a:solidFill>
                  <a:schemeClr val="bg1"/>
                </a:solidFill>
              </a:rPr>
              <a:t>2  Broader mind</a:t>
            </a:r>
            <a:endParaRPr lang="en-US" sz="1400" dirty="0"/>
          </a:p>
          <a:p>
            <a:pPr marL="0" indent="0">
              <a:buNone/>
            </a:pPr>
            <a:r>
              <a:rPr lang="en-US" sz="1400" dirty="0">
                <a:solidFill>
                  <a:schemeClr val="bg1"/>
                </a:solidFill>
              </a:rPr>
              <a:t>more ideas and options</a:t>
            </a:r>
            <a:endParaRPr lang="en-US" sz="1400" dirty="0"/>
          </a:p>
        </p:txBody>
      </p:sp>
      <p:sp>
        <p:nvSpPr>
          <p:cNvPr id="7" name="cycle-node-151"/>
          <p:cNvSpPr/>
          <p:nvPr/>
        </p:nvSpPr>
        <p:spPr>
          <a:xfrm>
            <a:off x="3246120" y="3246120"/>
            <a:ext cx="2240280" cy="1234440"/>
          </a:xfrm>
          <a:prstGeom prst="roundRect">
            <a:avLst>
              <a:gd name="adj" fmla="val 5926"/>
            </a:avLst>
          </a:prstGeom>
          <a:solidFill>
            <a:srgbClr val="0B3C49"/>
          </a:solidFill>
          <a:ln/>
        </p:spPr>
        <p:txBody>
          <a:bodyPr/>
          <a:lstStyle/>
          <a:p>
            <a:endParaRPr lang="en-US"/>
          </a:p>
        </p:txBody>
      </p:sp>
      <p:sp>
        <p:nvSpPr>
          <p:cNvPr id="8" name="text-152"/>
          <p:cNvSpPr txBox="1"/>
          <p:nvPr/>
        </p:nvSpPr>
        <p:spPr>
          <a:xfrm>
            <a:off x="3429000" y="3337560"/>
            <a:ext cx="1920240" cy="1051560"/>
          </a:xfrm>
          <a:prstGeom prst="rect">
            <a:avLst/>
          </a:prstGeom>
          <a:noFill/>
          <a:ln/>
        </p:spPr>
        <p:txBody>
          <a:bodyPr wrap="square" lIns="0" tIns="0" rIns="0" bIns="0" rtlCol="0" anchor="ctr"/>
          <a:lstStyle/>
          <a:p>
            <a:pPr marL="0" indent="0">
              <a:buNone/>
            </a:pPr>
            <a:r>
              <a:rPr lang="en-US" sz="1600" b="1" dirty="0">
                <a:solidFill>
                  <a:schemeClr val="bg1"/>
                </a:solidFill>
              </a:rPr>
              <a:t>3  New resources</a:t>
            </a:r>
            <a:endParaRPr lang="en-US" sz="1400" dirty="0"/>
          </a:p>
          <a:p>
            <a:pPr marL="0" indent="0">
              <a:buNone/>
            </a:pPr>
            <a:r>
              <a:rPr lang="en-US" sz="1400" dirty="0">
                <a:solidFill>
                  <a:schemeClr val="bg1"/>
                </a:solidFill>
              </a:rPr>
              <a:t>skills, bonds, resilience</a:t>
            </a:r>
            <a:endParaRPr lang="en-US" sz="1400" dirty="0"/>
          </a:p>
        </p:txBody>
      </p:sp>
      <p:sp>
        <p:nvSpPr>
          <p:cNvPr id="9" name="cycle-node-153"/>
          <p:cNvSpPr/>
          <p:nvPr/>
        </p:nvSpPr>
        <p:spPr>
          <a:xfrm>
            <a:off x="457200" y="3246120"/>
            <a:ext cx="2240280" cy="1234440"/>
          </a:xfrm>
          <a:prstGeom prst="roundRect">
            <a:avLst>
              <a:gd name="adj" fmla="val 5926"/>
            </a:avLst>
          </a:prstGeom>
          <a:solidFill>
            <a:srgbClr val="C8452F"/>
          </a:solidFill>
          <a:ln/>
        </p:spPr>
        <p:txBody>
          <a:bodyPr/>
          <a:lstStyle/>
          <a:p>
            <a:endParaRPr lang="en-US"/>
          </a:p>
        </p:txBody>
      </p:sp>
      <p:sp>
        <p:nvSpPr>
          <p:cNvPr id="10" name="text-154"/>
          <p:cNvSpPr txBox="1"/>
          <p:nvPr/>
        </p:nvSpPr>
        <p:spPr>
          <a:xfrm>
            <a:off x="640080" y="3337560"/>
            <a:ext cx="1920240" cy="1051560"/>
          </a:xfrm>
          <a:prstGeom prst="rect">
            <a:avLst/>
          </a:prstGeom>
          <a:noFill/>
          <a:ln/>
        </p:spPr>
        <p:txBody>
          <a:bodyPr wrap="square" lIns="0" tIns="0" rIns="0" bIns="0" rtlCol="0" anchor="ctr"/>
          <a:lstStyle/>
          <a:p>
            <a:pPr marL="0" indent="0">
              <a:buNone/>
            </a:pPr>
            <a:r>
              <a:rPr lang="en-US" sz="1600" b="1" dirty="0">
                <a:solidFill>
                  <a:schemeClr val="bg1"/>
                </a:solidFill>
              </a:rPr>
              <a:t>4  Upward spiral</a:t>
            </a:r>
            <a:endParaRPr lang="en-US" sz="1400" dirty="0"/>
          </a:p>
          <a:p>
            <a:pPr marL="0" indent="0">
              <a:buNone/>
            </a:pPr>
            <a:r>
              <a:rPr lang="en-US" sz="1400" dirty="0">
                <a:solidFill>
                  <a:schemeClr val="bg1"/>
                </a:solidFill>
              </a:rPr>
              <a:t>more positive emotion</a:t>
            </a:r>
            <a:endParaRPr lang="en-US" sz="1400" dirty="0"/>
          </a:p>
        </p:txBody>
      </p:sp>
      <p:sp>
        <p:nvSpPr>
          <p:cNvPr id="11" name="cycle-arrow-155"/>
          <p:cNvSpPr/>
          <p:nvPr/>
        </p:nvSpPr>
        <p:spPr>
          <a:xfrm>
            <a:off x="2743200" y="1691640"/>
            <a:ext cx="457200" cy="411480"/>
          </a:xfrm>
          <a:prstGeom prst="rightArrow">
            <a:avLst/>
          </a:prstGeom>
          <a:solidFill>
            <a:schemeClr val="tx2"/>
          </a:solidFill>
          <a:ln/>
        </p:spPr>
        <p:txBody>
          <a:bodyPr/>
          <a:lstStyle/>
          <a:p>
            <a:endParaRPr lang="en-US"/>
          </a:p>
        </p:txBody>
      </p:sp>
      <p:sp>
        <p:nvSpPr>
          <p:cNvPr id="12" name="cycle-arrow-156"/>
          <p:cNvSpPr/>
          <p:nvPr/>
        </p:nvSpPr>
        <p:spPr>
          <a:xfrm>
            <a:off x="4160520" y="2651760"/>
            <a:ext cx="411480" cy="457200"/>
          </a:xfrm>
          <a:prstGeom prst="downArrow">
            <a:avLst/>
          </a:prstGeom>
          <a:solidFill>
            <a:schemeClr val="tx2"/>
          </a:solidFill>
          <a:ln/>
        </p:spPr>
        <p:txBody>
          <a:bodyPr/>
          <a:lstStyle/>
          <a:p>
            <a:endParaRPr lang="en-US"/>
          </a:p>
        </p:txBody>
      </p:sp>
      <p:sp>
        <p:nvSpPr>
          <p:cNvPr id="13" name="cycle-arrow-157"/>
          <p:cNvSpPr/>
          <p:nvPr/>
        </p:nvSpPr>
        <p:spPr>
          <a:xfrm>
            <a:off x="2743200" y="3657600"/>
            <a:ext cx="457200" cy="411480"/>
          </a:xfrm>
          <a:prstGeom prst="leftArrow">
            <a:avLst/>
          </a:prstGeom>
          <a:solidFill>
            <a:schemeClr val="tx2"/>
          </a:solidFill>
          <a:ln/>
        </p:spPr>
        <p:txBody>
          <a:bodyPr/>
          <a:lstStyle/>
          <a:p>
            <a:endParaRPr lang="en-US"/>
          </a:p>
        </p:txBody>
      </p:sp>
      <p:sp>
        <p:nvSpPr>
          <p:cNvPr id="14" name="cycle-arrow-158"/>
          <p:cNvSpPr/>
          <p:nvPr/>
        </p:nvSpPr>
        <p:spPr>
          <a:xfrm>
            <a:off x="1371600" y="2651760"/>
            <a:ext cx="411480" cy="457200"/>
          </a:xfrm>
          <a:prstGeom prst="upArrow">
            <a:avLst/>
          </a:prstGeom>
          <a:solidFill>
            <a:schemeClr val="tx2"/>
          </a:solidFill>
          <a:ln/>
        </p:spPr>
        <p:txBody>
          <a:bodyPr/>
          <a:lstStyle/>
          <a:p>
            <a:endParaRPr lang="en-US"/>
          </a:p>
        </p:txBody>
      </p:sp>
      <p:sp>
        <p:nvSpPr>
          <p:cNvPr id="15" name="caveat-card-159"/>
          <p:cNvSpPr/>
          <p:nvPr/>
        </p:nvSpPr>
        <p:spPr>
          <a:xfrm>
            <a:off x="5852160" y="1280160"/>
            <a:ext cx="2834640" cy="3200400"/>
          </a:xfrm>
          <a:prstGeom prst="roundRect">
            <a:avLst>
              <a:gd name="adj" fmla="val 2581"/>
            </a:avLst>
          </a:prstGeom>
          <a:solidFill>
            <a:schemeClr val="bg2"/>
          </a:solidFill>
          <a:ln/>
        </p:spPr>
        <p:txBody>
          <a:bodyPr/>
          <a:lstStyle/>
          <a:p>
            <a:endParaRPr lang="en-US"/>
          </a:p>
        </p:txBody>
      </p:sp>
      <p:sp>
        <p:nvSpPr>
          <p:cNvPr id="16" name="text-160"/>
          <p:cNvSpPr txBox="1"/>
          <p:nvPr/>
        </p:nvSpPr>
        <p:spPr>
          <a:xfrm>
            <a:off x="6080760" y="1463040"/>
            <a:ext cx="2377440" cy="365760"/>
          </a:xfrm>
          <a:prstGeom prst="rect">
            <a:avLst/>
          </a:prstGeom>
          <a:noFill/>
          <a:ln/>
        </p:spPr>
        <p:txBody>
          <a:bodyPr wrap="square" lIns="0" tIns="0" rIns="0" bIns="0" rtlCol="0" anchor="t"/>
          <a:lstStyle/>
          <a:p>
            <a:pPr marL="0" indent="0">
              <a:buNone/>
            </a:pPr>
            <a:r>
              <a:rPr lang="en-US" sz="1800" b="1" dirty="0">
                <a:solidFill>
                  <a:schemeClr val="tx2"/>
                </a:solidFill>
              </a:rPr>
              <a:t>An honest caveat</a:t>
            </a:r>
            <a:endParaRPr lang="en-US" sz="1800" dirty="0"/>
          </a:p>
        </p:txBody>
      </p:sp>
      <p:sp>
        <p:nvSpPr>
          <p:cNvPr id="17" name="text-161"/>
          <p:cNvSpPr txBox="1"/>
          <p:nvPr/>
        </p:nvSpPr>
        <p:spPr>
          <a:xfrm>
            <a:off x="6080760" y="1920240"/>
            <a:ext cx="2377440" cy="1371600"/>
          </a:xfrm>
          <a:prstGeom prst="rect">
            <a:avLst/>
          </a:prstGeom>
          <a:noFill/>
          <a:ln/>
        </p:spPr>
        <p:txBody>
          <a:bodyPr wrap="square" lIns="0" tIns="0" rIns="0" bIns="0" rtlCol="0" anchor="t"/>
          <a:lstStyle/>
          <a:p>
            <a:pPr marL="0" indent="0">
              <a:buNone/>
            </a:pPr>
            <a:r>
              <a:rPr lang="en-US" sz="1400" dirty="0">
                <a:solidFill>
                  <a:schemeClr val="tx1"/>
                </a:solidFill>
              </a:rPr>
              <a:t>The famous 3:1 “positivity ratio” was challenged on mathematical grounds (Brown, Sokal &amp; Friedman, 2013).</a:t>
            </a:r>
            <a:endParaRPr lang="en-US" sz="1400" dirty="0"/>
          </a:p>
        </p:txBody>
      </p:sp>
      <p:sp>
        <p:nvSpPr>
          <p:cNvPr id="19" name="text-163"/>
          <p:cNvSpPr txBox="1"/>
          <p:nvPr/>
        </p:nvSpPr>
        <p:spPr>
          <a:xfrm>
            <a:off x="457200" y="4526280"/>
            <a:ext cx="4572000" cy="274320"/>
          </a:xfrm>
          <a:prstGeom prst="rect">
            <a:avLst/>
          </a:prstGeom>
          <a:noFill/>
          <a:ln/>
        </p:spPr>
        <p:txBody>
          <a:bodyPr wrap="square" lIns="0" tIns="0" rIns="0" bIns="0" rtlCol="0" anchor="t"/>
          <a:lstStyle/>
          <a:p>
            <a:pPr marL="0" indent="0">
              <a:buNone/>
            </a:pPr>
            <a:r>
              <a:rPr lang="en-US" sz="1200" i="1" dirty="0">
                <a:solidFill>
                  <a:schemeClr val="tx2"/>
                </a:solidFill>
              </a:rPr>
              <a:t>Fredrickson (2001)</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14</a:t>
            </a:fld>
            <a:endParaRPr lang="en-US"/>
          </a:p>
        </p:txBody>
      </p:sp>
      <p:sp>
        <p:nvSpPr>
          <p:cNvPr id="20" name="TextBox 19">
            <a:extLst>
              <a:ext uri="{FF2B5EF4-FFF2-40B4-BE49-F238E27FC236}">
                <a16:creationId xmlns:a16="http://schemas.microsoft.com/office/drawing/2014/main" id="{91CED57F-C728-1829-EC4C-ADBEE9CA5136}"/>
              </a:ext>
            </a:extLst>
          </p:cNvPr>
          <p:cNvSpPr txBox="1"/>
          <p:nvPr/>
        </p:nvSpPr>
        <p:spPr>
          <a:xfrm>
            <a:off x="1764792" y="4489704"/>
            <a:ext cx="4069080" cy="276999"/>
          </a:xfrm>
          <a:prstGeom prst="rect">
            <a:avLst/>
          </a:prstGeom>
          <a:noFill/>
        </p:spPr>
        <p:txBody>
          <a:bodyPr wrap="square" rtlCol="0">
            <a:spAutoFit/>
          </a:bodyPr>
          <a:lstStyle/>
          <a:p>
            <a:r>
              <a:rPr lang="en-US" sz="1200" dirty="0"/>
              <a:t>Negative emotions narrow our attention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24 strengths, 6 virtues</a:t>
            </a:r>
            <a:endParaRPr lang="en-US" sz="3000" dirty="0"/>
          </a:p>
        </p:txBody>
      </p:sp>
      <p:sp>
        <p:nvSpPr>
          <p:cNvPr id="3" name="virtue-card-169"/>
          <p:cNvSpPr/>
          <p:nvPr/>
        </p:nvSpPr>
        <p:spPr>
          <a:xfrm>
            <a:off x="457200" y="1280160"/>
            <a:ext cx="2651760" cy="1508760"/>
          </a:xfrm>
          <a:prstGeom prst="roundRect">
            <a:avLst>
              <a:gd name="adj" fmla="val 4848"/>
            </a:avLst>
          </a:prstGeom>
          <a:solidFill>
            <a:schemeClr val="bg2"/>
          </a:solidFill>
          <a:ln/>
        </p:spPr>
        <p:txBody>
          <a:bodyPr/>
          <a:lstStyle/>
          <a:p>
            <a:endParaRPr lang="en-US"/>
          </a:p>
        </p:txBody>
      </p:sp>
      <p:sp>
        <p:nvSpPr>
          <p:cNvPr id="4" name="circle-170"/>
          <p:cNvSpPr/>
          <p:nvPr/>
        </p:nvSpPr>
        <p:spPr>
          <a:xfrm>
            <a:off x="640080" y="1463040"/>
            <a:ext cx="502920" cy="502920"/>
          </a:xfrm>
          <a:prstGeom prst="ellipse">
            <a:avLst/>
          </a:prstGeom>
          <a:solidFill>
            <a:srgbClr val="F5A623"/>
          </a:solidFill>
          <a:ln/>
        </p:spPr>
        <p:txBody>
          <a:bodyPr/>
          <a:lstStyle/>
          <a:p>
            <a:endParaRPr lang="en-US"/>
          </a:p>
        </p:txBody>
      </p:sp>
      <p:pic>
        <p:nvPicPr>
          <p:cNvPr id="5" name="icon-171" descr="icon"/>
          <p:cNvPicPr>
            <a:picLocks noChangeAspect="1"/>
          </p:cNvPicPr>
          <p:nvPr/>
        </p:nvPicPr>
        <p:blipFill>
          <a:blip r:embed="rId3"/>
          <a:stretch>
            <a:fillRect/>
          </a:stretch>
        </p:blipFill>
        <p:spPr>
          <a:xfrm>
            <a:off x="760781" y="1583741"/>
            <a:ext cx="261518" cy="261518"/>
          </a:xfrm>
          <a:prstGeom prst="rect">
            <a:avLst/>
          </a:prstGeom>
        </p:spPr>
      </p:pic>
      <p:sp>
        <p:nvSpPr>
          <p:cNvPr id="6" name="text-172"/>
          <p:cNvSpPr txBox="1"/>
          <p:nvPr/>
        </p:nvSpPr>
        <p:spPr>
          <a:xfrm>
            <a:off x="1280160" y="1463040"/>
            <a:ext cx="1737360" cy="502920"/>
          </a:xfrm>
          <a:prstGeom prst="rect">
            <a:avLst/>
          </a:prstGeom>
          <a:noFill/>
          <a:ln/>
        </p:spPr>
        <p:txBody>
          <a:bodyPr wrap="square" lIns="0" tIns="0" rIns="0" bIns="0" rtlCol="0" anchor="ctr"/>
          <a:lstStyle/>
          <a:p>
            <a:pPr marL="0" indent="0">
              <a:buNone/>
            </a:pPr>
            <a:r>
              <a:rPr lang="en-US" sz="1800" b="1" dirty="0">
                <a:solidFill>
                  <a:schemeClr val="tx2"/>
                </a:solidFill>
              </a:rPr>
              <a:t>Wisdom</a:t>
            </a:r>
            <a:endParaRPr lang="en-US" sz="1800" dirty="0"/>
          </a:p>
        </p:txBody>
      </p:sp>
      <p:sp>
        <p:nvSpPr>
          <p:cNvPr id="7" name="text-173"/>
          <p:cNvSpPr txBox="1"/>
          <p:nvPr/>
        </p:nvSpPr>
        <p:spPr>
          <a:xfrm>
            <a:off x="640080" y="2103120"/>
            <a:ext cx="2286000" cy="640080"/>
          </a:xfrm>
          <a:prstGeom prst="rect">
            <a:avLst/>
          </a:prstGeom>
          <a:noFill/>
          <a:ln/>
        </p:spPr>
        <p:txBody>
          <a:bodyPr wrap="square" lIns="0" tIns="0" rIns="0" bIns="0" rtlCol="0" anchor="t"/>
          <a:lstStyle/>
          <a:p>
            <a:pPr marL="0" indent="0">
              <a:buNone/>
            </a:pPr>
            <a:r>
              <a:rPr lang="en-US" sz="1400" dirty="0">
                <a:solidFill>
                  <a:schemeClr val="tx1"/>
                </a:solidFill>
              </a:rPr>
              <a:t>Creativity, curiosity, judgment, learning, perspective</a:t>
            </a:r>
            <a:endParaRPr lang="en-US" sz="1400" dirty="0"/>
          </a:p>
        </p:txBody>
      </p:sp>
      <p:sp>
        <p:nvSpPr>
          <p:cNvPr id="8" name="virtue-card-174"/>
          <p:cNvSpPr/>
          <p:nvPr/>
        </p:nvSpPr>
        <p:spPr>
          <a:xfrm>
            <a:off x="3246120" y="1280160"/>
            <a:ext cx="2651760" cy="1508760"/>
          </a:xfrm>
          <a:prstGeom prst="roundRect">
            <a:avLst>
              <a:gd name="adj" fmla="val 4848"/>
            </a:avLst>
          </a:prstGeom>
          <a:solidFill>
            <a:schemeClr val="bg2"/>
          </a:solidFill>
          <a:ln/>
        </p:spPr>
        <p:txBody>
          <a:bodyPr/>
          <a:lstStyle/>
          <a:p>
            <a:endParaRPr lang="en-US"/>
          </a:p>
        </p:txBody>
      </p:sp>
      <p:sp>
        <p:nvSpPr>
          <p:cNvPr id="9" name="circle-175"/>
          <p:cNvSpPr/>
          <p:nvPr/>
        </p:nvSpPr>
        <p:spPr>
          <a:xfrm>
            <a:off x="3429000" y="1463040"/>
            <a:ext cx="502920" cy="502920"/>
          </a:xfrm>
          <a:prstGeom prst="ellipse">
            <a:avLst/>
          </a:prstGeom>
          <a:solidFill>
            <a:srgbClr val="1F8A8A"/>
          </a:solidFill>
          <a:ln/>
        </p:spPr>
        <p:txBody>
          <a:bodyPr/>
          <a:lstStyle/>
          <a:p>
            <a:endParaRPr lang="en-US"/>
          </a:p>
        </p:txBody>
      </p:sp>
      <p:pic>
        <p:nvPicPr>
          <p:cNvPr id="10" name="icon-176" descr="icon"/>
          <p:cNvPicPr>
            <a:picLocks noChangeAspect="1"/>
          </p:cNvPicPr>
          <p:nvPr/>
        </p:nvPicPr>
        <p:blipFill>
          <a:blip r:embed="rId4"/>
          <a:stretch>
            <a:fillRect/>
          </a:stretch>
        </p:blipFill>
        <p:spPr>
          <a:xfrm>
            <a:off x="3549701" y="1583741"/>
            <a:ext cx="261518" cy="261518"/>
          </a:xfrm>
          <a:prstGeom prst="rect">
            <a:avLst/>
          </a:prstGeom>
        </p:spPr>
      </p:pic>
      <p:sp>
        <p:nvSpPr>
          <p:cNvPr id="11" name="text-177"/>
          <p:cNvSpPr txBox="1"/>
          <p:nvPr/>
        </p:nvSpPr>
        <p:spPr>
          <a:xfrm>
            <a:off x="4069080" y="1463040"/>
            <a:ext cx="1737360" cy="502920"/>
          </a:xfrm>
          <a:prstGeom prst="rect">
            <a:avLst/>
          </a:prstGeom>
          <a:noFill/>
          <a:ln/>
        </p:spPr>
        <p:txBody>
          <a:bodyPr wrap="square" lIns="0" tIns="0" rIns="0" bIns="0" rtlCol="0" anchor="ctr"/>
          <a:lstStyle/>
          <a:p>
            <a:pPr marL="0" indent="0">
              <a:buNone/>
            </a:pPr>
            <a:r>
              <a:rPr lang="en-US" sz="1800" b="1" dirty="0">
                <a:solidFill>
                  <a:schemeClr val="tx2"/>
                </a:solidFill>
              </a:rPr>
              <a:t>Courage</a:t>
            </a:r>
            <a:endParaRPr lang="en-US" sz="1800" dirty="0"/>
          </a:p>
        </p:txBody>
      </p:sp>
      <p:sp>
        <p:nvSpPr>
          <p:cNvPr id="12" name="text-178"/>
          <p:cNvSpPr txBox="1"/>
          <p:nvPr/>
        </p:nvSpPr>
        <p:spPr>
          <a:xfrm>
            <a:off x="3429000" y="2103120"/>
            <a:ext cx="2286000" cy="640080"/>
          </a:xfrm>
          <a:prstGeom prst="rect">
            <a:avLst/>
          </a:prstGeom>
          <a:noFill/>
          <a:ln/>
        </p:spPr>
        <p:txBody>
          <a:bodyPr wrap="square" lIns="0" tIns="0" rIns="0" bIns="0" rtlCol="0" anchor="t"/>
          <a:lstStyle/>
          <a:p>
            <a:pPr marL="0" indent="0">
              <a:buNone/>
            </a:pPr>
            <a:r>
              <a:rPr lang="en-US" sz="1400" dirty="0">
                <a:solidFill>
                  <a:schemeClr val="tx1"/>
                </a:solidFill>
              </a:rPr>
              <a:t>Bravery, perseverance, honesty, zest</a:t>
            </a:r>
            <a:endParaRPr lang="en-US" sz="1400" dirty="0"/>
          </a:p>
        </p:txBody>
      </p:sp>
      <p:sp>
        <p:nvSpPr>
          <p:cNvPr id="13" name="virtue-card-179"/>
          <p:cNvSpPr/>
          <p:nvPr/>
        </p:nvSpPr>
        <p:spPr>
          <a:xfrm>
            <a:off x="6035040" y="1280160"/>
            <a:ext cx="2651760" cy="1508760"/>
          </a:xfrm>
          <a:prstGeom prst="roundRect">
            <a:avLst>
              <a:gd name="adj" fmla="val 4848"/>
            </a:avLst>
          </a:prstGeom>
          <a:solidFill>
            <a:schemeClr val="bg2"/>
          </a:solidFill>
          <a:ln/>
        </p:spPr>
        <p:txBody>
          <a:bodyPr/>
          <a:lstStyle/>
          <a:p>
            <a:endParaRPr lang="en-US"/>
          </a:p>
        </p:txBody>
      </p:sp>
      <p:sp>
        <p:nvSpPr>
          <p:cNvPr id="14" name="circle-180"/>
          <p:cNvSpPr/>
          <p:nvPr/>
        </p:nvSpPr>
        <p:spPr>
          <a:xfrm>
            <a:off x="6217920" y="1463040"/>
            <a:ext cx="502920" cy="502920"/>
          </a:xfrm>
          <a:prstGeom prst="ellipse">
            <a:avLst/>
          </a:prstGeom>
          <a:solidFill>
            <a:srgbClr val="C8452F"/>
          </a:solidFill>
          <a:ln/>
        </p:spPr>
        <p:txBody>
          <a:bodyPr/>
          <a:lstStyle/>
          <a:p>
            <a:endParaRPr lang="en-US"/>
          </a:p>
        </p:txBody>
      </p:sp>
      <p:pic>
        <p:nvPicPr>
          <p:cNvPr id="15" name="icon-181" descr="icon"/>
          <p:cNvPicPr>
            <a:picLocks noChangeAspect="1"/>
          </p:cNvPicPr>
          <p:nvPr/>
        </p:nvPicPr>
        <p:blipFill>
          <a:blip r:embed="rId5"/>
          <a:stretch>
            <a:fillRect/>
          </a:stretch>
        </p:blipFill>
        <p:spPr>
          <a:xfrm>
            <a:off x="6338621" y="1583741"/>
            <a:ext cx="261518" cy="261518"/>
          </a:xfrm>
          <a:prstGeom prst="rect">
            <a:avLst/>
          </a:prstGeom>
        </p:spPr>
      </p:pic>
      <p:sp>
        <p:nvSpPr>
          <p:cNvPr id="16" name="text-182"/>
          <p:cNvSpPr txBox="1"/>
          <p:nvPr/>
        </p:nvSpPr>
        <p:spPr>
          <a:xfrm>
            <a:off x="6858000" y="1463040"/>
            <a:ext cx="1737360" cy="502920"/>
          </a:xfrm>
          <a:prstGeom prst="rect">
            <a:avLst/>
          </a:prstGeom>
          <a:noFill/>
          <a:ln/>
        </p:spPr>
        <p:txBody>
          <a:bodyPr wrap="square" lIns="0" tIns="0" rIns="0" bIns="0" rtlCol="0" anchor="ctr"/>
          <a:lstStyle/>
          <a:p>
            <a:pPr marL="0" indent="0">
              <a:buNone/>
            </a:pPr>
            <a:r>
              <a:rPr lang="en-US" sz="1800" b="1" dirty="0">
                <a:solidFill>
                  <a:schemeClr val="tx2"/>
                </a:solidFill>
              </a:rPr>
              <a:t>Humanity</a:t>
            </a:r>
            <a:endParaRPr lang="en-US" sz="1800" dirty="0"/>
          </a:p>
        </p:txBody>
      </p:sp>
      <p:sp>
        <p:nvSpPr>
          <p:cNvPr id="17" name="text-183"/>
          <p:cNvSpPr txBox="1"/>
          <p:nvPr/>
        </p:nvSpPr>
        <p:spPr>
          <a:xfrm>
            <a:off x="6217920" y="2103120"/>
            <a:ext cx="2286000" cy="640080"/>
          </a:xfrm>
          <a:prstGeom prst="rect">
            <a:avLst/>
          </a:prstGeom>
          <a:noFill/>
          <a:ln/>
        </p:spPr>
        <p:txBody>
          <a:bodyPr wrap="square" lIns="0" tIns="0" rIns="0" bIns="0" rtlCol="0" anchor="t"/>
          <a:lstStyle/>
          <a:p>
            <a:pPr marL="0" indent="0">
              <a:buNone/>
            </a:pPr>
            <a:r>
              <a:rPr lang="en-US" sz="1400" dirty="0">
                <a:solidFill>
                  <a:schemeClr val="tx1"/>
                </a:solidFill>
              </a:rPr>
              <a:t>Love, kindness, social intelligence</a:t>
            </a:r>
            <a:endParaRPr lang="en-US" sz="1400" dirty="0"/>
          </a:p>
        </p:txBody>
      </p:sp>
      <p:sp>
        <p:nvSpPr>
          <p:cNvPr id="18" name="virtue-card-184"/>
          <p:cNvSpPr/>
          <p:nvPr/>
        </p:nvSpPr>
        <p:spPr>
          <a:xfrm>
            <a:off x="457200" y="2926080"/>
            <a:ext cx="2651760" cy="1508760"/>
          </a:xfrm>
          <a:prstGeom prst="roundRect">
            <a:avLst>
              <a:gd name="adj" fmla="val 4848"/>
            </a:avLst>
          </a:prstGeom>
          <a:solidFill>
            <a:schemeClr val="bg2"/>
          </a:solidFill>
          <a:ln/>
        </p:spPr>
        <p:txBody>
          <a:bodyPr/>
          <a:lstStyle/>
          <a:p>
            <a:endParaRPr lang="en-US"/>
          </a:p>
        </p:txBody>
      </p:sp>
      <p:sp>
        <p:nvSpPr>
          <p:cNvPr id="19" name="circle-185"/>
          <p:cNvSpPr/>
          <p:nvPr/>
        </p:nvSpPr>
        <p:spPr>
          <a:xfrm>
            <a:off x="640080" y="3108960"/>
            <a:ext cx="502920" cy="502920"/>
          </a:xfrm>
          <a:prstGeom prst="ellipse">
            <a:avLst/>
          </a:prstGeom>
          <a:solidFill>
            <a:srgbClr val="6B4FA0"/>
          </a:solidFill>
          <a:ln/>
        </p:spPr>
        <p:txBody>
          <a:bodyPr/>
          <a:lstStyle/>
          <a:p>
            <a:endParaRPr lang="en-US"/>
          </a:p>
        </p:txBody>
      </p:sp>
      <p:pic>
        <p:nvPicPr>
          <p:cNvPr id="20" name="icon-186" descr="icon"/>
          <p:cNvPicPr>
            <a:picLocks noChangeAspect="1"/>
          </p:cNvPicPr>
          <p:nvPr/>
        </p:nvPicPr>
        <p:blipFill>
          <a:blip r:embed="rId6"/>
          <a:stretch>
            <a:fillRect/>
          </a:stretch>
        </p:blipFill>
        <p:spPr>
          <a:xfrm>
            <a:off x="760781" y="3229661"/>
            <a:ext cx="261518" cy="261518"/>
          </a:xfrm>
          <a:prstGeom prst="rect">
            <a:avLst/>
          </a:prstGeom>
        </p:spPr>
      </p:pic>
      <p:sp>
        <p:nvSpPr>
          <p:cNvPr id="21" name="text-187"/>
          <p:cNvSpPr txBox="1"/>
          <p:nvPr/>
        </p:nvSpPr>
        <p:spPr>
          <a:xfrm>
            <a:off x="1280160" y="3108960"/>
            <a:ext cx="1737360" cy="502920"/>
          </a:xfrm>
          <a:prstGeom prst="rect">
            <a:avLst/>
          </a:prstGeom>
          <a:noFill/>
          <a:ln/>
        </p:spPr>
        <p:txBody>
          <a:bodyPr wrap="square" lIns="0" tIns="0" rIns="0" bIns="0" rtlCol="0" anchor="ctr"/>
          <a:lstStyle/>
          <a:p>
            <a:pPr marL="0" indent="0">
              <a:buNone/>
            </a:pPr>
            <a:r>
              <a:rPr lang="en-US" sz="1800" b="1" dirty="0">
                <a:solidFill>
                  <a:schemeClr val="tx2"/>
                </a:solidFill>
              </a:rPr>
              <a:t>Justice</a:t>
            </a:r>
            <a:endParaRPr lang="en-US" sz="1800" dirty="0"/>
          </a:p>
        </p:txBody>
      </p:sp>
      <p:sp>
        <p:nvSpPr>
          <p:cNvPr id="22" name="text-188"/>
          <p:cNvSpPr txBox="1"/>
          <p:nvPr/>
        </p:nvSpPr>
        <p:spPr>
          <a:xfrm>
            <a:off x="640080" y="3749040"/>
            <a:ext cx="2286000" cy="640080"/>
          </a:xfrm>
          <a:prstGeom prst="rect">
            <a:avLst/>
          </a:prstGeom>
          <a:noFill/>
          <a:ln/>
        </p:spPr>
        <p:txBody>
          <a:bodyPr wrap="square" lIns="0" tIns="0" rIns="0" bIns="0" rtlCol="0" anchor="t"/>
          <a:lstStyle/>
          <a:p>
            <a:pPr marL="0" indent="0">
              <a:buNone/>
            </a:pPr>
            <a:r>
              <a:rPr lang="en-US" sz="1400" dirty="0">
                <a:solidFill>
                  <a:schemeClr val="tx1"/>
                </a:solidFill>
              </a:rPr>
              <a:t>Teamwork, fairness, leadership</a:t>
            </a:r>
            <a:endParaRPr lang="en-US" sz="1400" dirty="0"/>
          </a:p>
        </p:txBody>
      </p:sp>
      <p:sp>
        <p:nvSpPr>
          <p:cNvPr id="23" name="virtue-card-189"/>
          <p:cNvSpPr/>
          <p:nvPr/>
        </p:nvSpPr>
        <p:spPr>
          <a:xfrm>
            <a:off x="3246120" y="2926080"/>
            <a:ext cx="2651760" cy="1508760"/>
          </a:xfrm>
          <a:prstGeom prst="roundRect">
            <a:avLst>
              <a:gd name="adj" fmla="val 4848"/>
            </a:avLst>
          </a:prstGeom>
          <a:solidFill>
            <a:schemeClr val="bg2"/>
          </a:solidFill>
          <a:ln/>
        </p:spPr>
        <p:txBody>
          <a:bodyPr/>
          <a:lstStyle/>
          <a:p>
            <a:endParaRPr lang="en-US"/>
          </a:p>
        </p:txBody>
      </p:sp>
      <p:sp>
        <p:nvSpPr>
          <p:cNvPr id="24" name="circle-190"/>
          <p:cNvSpPr/>
          <p:nvPr/>
        </p:nvSpPr>
        <p:spPr>
          <a:xfrm>
            <a:off x="3429000" y="3108960"/>
            <a:ext cx="502920" cy="502920"/>
          </a:xfrm>
          <a:prstGeom prst="ellipse">
            <a:avLst/>
          </a:prstGeom>
          <a:solidFill>
            <a:srgbClr val="3E8E5A"/>
          </a:solidFill>
          <a:ln/>
        </p:spPr>
        <p:txBody>
          <a:bodyPr/>
          <a:lstStyle/>
          <a:p>
            <a:endParaRPr lang="en-US"/>
          </a:p>
        </p:txBody>
      </p:sp>
      <p:pic>
        <p:nvPicPr>
          <p:cNvPr id="25" name="icon-191" descr="icon"/>
          <p:cNvPicPr>
            <a:picLocks noChangeAspect="1"/>
          </p:cNvPicPr>
          <p:nvPr/>
        </p:nvPicPr>
        <p:blipFill>
          <a:blip r:embed="rId7"/>
          <a:stretch>
            <a:fillRect/>
          </a:stretch>
        </p:blipFill>
        <p:spPr>
          <a:xfrm>
            <a:off x="3549701" y="3229661"/>
            <a:ext cx="261518" cy="261518"/>
          </a:xfrm>
          <a:prstGeom prst="rect">
            <a:avLst/>
          </a:prstGeom>
        </p:spPr>
      </p:pic>
      <p:sp>
        <p:nvSpPr>
          <p:cNvPr id="26" name="text-192"/>
          <p:cNvSpPr txBox="1"/>
          <p:nvPr/>
        </p:nvSpPr>
        <p:spPr>
          <a:xfrm>
            <a:off x="4069080" y="3108960"/>
            <a:ext cx="1737360" cy="502920"/>
          </a:xfrm>
          <a:prstGeom prst="rect">
            <a:avLst/>
          </a:prstGeom>
          <a:noFill/>
          <a:ln/>
        </p:spPr>
        <p:txBody>
          <a:bodyPr wrap="square" lIns="0" tIns="0" rIns="0" bIns="0" rtlCol="0" anchor="ctr"/>
          <a:lstStyle/>
          <a:p>
            <a:pPr marL="0" indent="0">
              <a:buNone/>
            </a:pPr>
            <a:r>
              <a:rPr lang="en-US" sz="1800" b="1" dirty="0">
                <a:solidFill>
                  <a:schemeClr val="tx2"/>
                </a:solidFill>
              </a:rPr>
              <a:t>Temperance</a:t>
            </a:r>
            <a:endParaRPr lang="en-US" sz="1800" dirty="0"/>
          </a:p>
        </p:txBody>
      </p:sp>
      <p:sp>
        <p:nvSpPr>
          <p:cNvPr id="27" name="text-193"/>
          <p:cNvSpPr txBox="1"/>
          <p:nvPr/>
        </p:nvSpPr>
        <p:spPr>
          <a:xfrm>
            <a:off x="3429000" y="3749040"/>
            <a:ext cx="2286000" cy="640080"/>
          </a:xfrm>
          <a:prstGeom prst="rect">
            <a:avLst/>
          </a:prstGeom>
          <a:noFill/>
          <a:ln/>
        </p:spPr>
        <p:txBody>
          <a:bodyPr wrap="square" lIns="0" tIns="0" rIns="0" bIns="0" rtlCol="0" anchor="t"/>
          <a:lstStyle/>
          <a:p>
            <a:pPr marL="0" indent="0">
              <a:buNone/>
            </a:pPr>
            <a:r>
              <a:rPr lang="en-US" sz="1400" dirty="0">
                <a:solidFill>
                  <a:schemeClr val="tx1"/>
                </a:solidFill>
              </a:rPr>
              <a:t>Forgiveness, humility, prudence, self-regulation</a:t>
            </a:r>
            <a:endParaRPr lang="en-US" sz="1400" dirty="0"/>
          </a:p>
        </p:txBody>
      </p:sp>
      <p:sp>
        <p:nvSpPr>
          <p:cNvPr id="28" name="virtue-card-194"/>
          <p:cNvSpPr/>
          <p:nvPr/>
        </p:nvSpPr>
        <p:spPr>
          <a:xfrm>
            <a:off x="6035040" y="2926080"/>
            <a:ext cx="2651760" cy="1508760"/>
          </a:xfrm>
          <a:prstGeom prst="roundRect">
            <a:avLst>
              <a:gd name="adj" fmla="val 4848"/>
            </a:avLst>
          </a:prstGeom>
          <a:solidFill>
            <a:schemeClr val="bg2"/>
          </a:solidFill>
          <a:ln/>
        </p:spPr>
        <p:txBody>
          <a:bodyPr/>
          <a:lstStyle/>
          <a:p>
            <a:endParaRPr lang="en-US"/>
          </a:p>
        </p:txBody>
      </p:sp>
      <p:sp>
        <p:nvSpPr>
          <p:cNvPr id="29" name="circle-195"/>
          <p:cNvSpPr/>
          <p:nvPr/>
        </p:nvSpPr>
        <p:spPr>
          <a:xfrm>
            <a:off x="6217920" y="3108960"/>
            <a:ext cx="502920" cy="502920"/>
          </a:xfrm>
          <a:prstGeom prst="ellipse">
            <a:avLst/>
          </a:prstGeom>
          <a:solidFill>
            <a:srgbClr val="3F7FB5"/>
          </a:solidFill>
          <a:ln/>
        </p:spPr>
        <p:txBody>
          <a:bodyPr/>
          <a:lstStyle/>
          <a:p>
            <a:endParaRPr lang="en-US"/>
          </a:p>
        </p:txBody>
      </p:sp>
      <p:pic>
        <p:nvPicPr>
          <p:cNvPr id="30" name="icon-196" descr="icon"/>
          <p:cNvPicPr>
            <a:picLocks noChangeAspect="1"/>
          </p:cNvPicPr>
          <p:nvPr/>
        </p:nvPicPr>
        <p:blipFill>
          <a:blip r:embed="rId8"/>
          <a:stretch>
            <a:fillRect/>
          </a:stretch>
        </p:blipFill>
        <p:spPr>
          <a:xfrm>
            <a:off x="6338621" y="3229661"/>
            <a:ext cx="261518" cy="261518"/>
          </a:xfrm>
          <a:prstGeom prst="rect">
            <a:avLst/>
          </a:prstGeom>
        </p:spPr>
      </p:pic>
      <p:sp>
        <p:nvSpPr>
          <p:cNvPr id="31" name="text-197"/>
          <p:cNvSpPr txBox="1"/>
          <p:nvPr/>
        </p:nvSpPr>
        <p:spPr>
          <a:xfrm>
            <a:off x="6858000" y="3108960"/>
            <a:ext cx="1737360" cy="502920"/>
          </a:xfrm>
          <a:prstGeom prst="rect">
            <a:avLst/>
          </a:prstGeom>
          <a:noFill/>
          <a:ln/>
        </p:spPr>
        <p:txBody>
          <a:bodyPr wrap="square" lIns="0" tIns="0" rIns="0" bIns="0" rtlCol="0" anchor="ctr"/>
          <a:lstStyle/>
          <a:p>
            <a:pPr marL="0" indent="0">
              <a:buNone/>
            </a:pPr>
            <a:r>
              <a:rPr lang="en-US" sz="1800" b="1" dirty="0">
                <a:solidFill>
                  <a:schemeClr val="tx2"/>
                </a:solidFill>
              </a:rPr>
              <a:t>Transcendence</a:t>
            </a:r>
            <a:endParaRPr lang="en-US" sz="1800" dirty="0"/>
          </a:p>
        </p:txBody>
      </p:sp>
      <p:sp>
        <p:nvSpPr>
          <p:cNvPr id="32" name="text-198"/>
          <p:cNvSpPr txBox="1"/>
          <p:nvPr/>
        </p:nvSpPr>
        <p:spPr>
          <a:xfrm>
            <a:off x="6217920" y="3749040"/>
            <a:ext cx="2286000" cy="640080"/>
          </a:xfrm>
          <a:prstGeom prst="rect">
            <a:avLst/>
          </a:prstGeom>
          <a:noFill/>
          <a:ln/>
        </p:spPr>
        <p:txBody>
          <a:bodyPr wrap="square" lIns="0" tIns="0" rIns="0" bIns="0" rtlCol="0" anchor="t"/>
          <a:lstStyle/>
          <a:p>
            <a:pPr marL="0" indent="0">
              <a:buNone/>
            </a:pPr>
            <a:r>
              <a:rPr lang="en-US" sz="1400" dirty="0">
                <a:solidFill>
                  <a:schemeClr val="tx1"/>
                </a:solidFill>
              </a:rPr>
              <a:t>Beauty, gratitude, hope, humor, spirituality</a:t>
            </a:r>
            <a:endParaRPr lang="en-US" sz="1400" dirty="0"/>
          </a:p>
        </p:txBody>
      </p:sp>
      <p:sp>
        <p:nvSpPr>
          <p:cNvPr id="33" name="text-199"/>
          <p:cNvSpPr txBox="1"/>
          <p:nvPr/>
        </p:nvSpPr>
        <p:spPr>
          <a:xfrm>
            <a:off x="457200" y="4526280"/>
            <a:ext cx="8229600" cy="274320"/>
          </a:xfrm>
          <a:prstGeom prst="rect">
            <a:avLst/>
          </a:prstGeom>
          <a:noFill/>
          <a:ln/>
        </p:spPr>
        <p:txBody>
          <a:bodyPr wrap="square" lIns="0" tIns="0" rIns="0" bIns="0" rtlCol="0" anchor="t"/>
          <a:lstStyle/>
          <a:p>
            <a:pPr marL="0" indent="0">
              <a:buNone/>
            </a:pPr>
            <a:r>
              <a:rPr lang="en-US" sz="1200" i="1" dirty="0">
                <a:solidFill>
                  <a:schemeClr val="tx2"/>
                </a:solidFill>
              </a:rPr>
              <a:t>Peterson &amp; Seligman (2004)  |  Free VIA survey: viacharacter.org</a:t>
            </a:r>
            <a:endParaRPr lang="en-US" sz="1200" dirty="0"/>
          </a:p>
        </p:txBody>
      </p:sp>
      <p:sp>
        <p:nvSpPr>
          <p:cNvPr id="34"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15</a:t>
            </a:fld>
            <a:endParaRPr lang="en-US"/>
          </a:p>
        </p:txBody>
      </p:sp>
      <p:sp>
        <p:nvSpPr>
          <p:cNvPr id="35" name="TextBox 34">
            <a:extLst>
              <a:ext uri="{FF2B5EF4-FFF2-40B4-BE49-F238E27FC236}">
                <a16:creationId xmlns:a16="http://schemas.microsoft.com/office/drawing/2014/main" id="{FE3ECE9E-C398-AB0F-8732-F22E49AD974C}"/>
              </a:ext>
            </a:extLst>
          </p:cNvPr>
          <p:cNvSpPr txBox="1"/>
          <p:nvPr/>
        </p:nvSpPr>
        <p:spPr>
          <a:xfrm>
            <a:off x="4416552" y="4515011"/>
            <a:ext cx="3602736" cy="276999"/>
          </a:xfrm>
          <a:prstGeom prst="rect">
            <a:avLst/>
          </a:prstGeom>
          <a:noFill/>
        </p:spPr>
        <p:txBody>
          <a:bodyPr wrap="square" rtlCol="0">
            <a:spAutoFit/>
          </a:bodyPr>
          <a:lstStyle/>
          <a:p>
            <a:r>
              <a:rPr lang="en-US" sz="1200" dirty="0"/>
              <a:t>/ Reviewed cultures and traditions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Lead from strengths</a:t>
            </a:r>
            <a:endParaRPr lang="en-US" sz="3000" dirty="0"/>
          </a:p>
        </p:txBody>
      </p:sp>
      <p:sp>
        <p:nvSpPr>
          <p:cNvPr id="3" name="strength-row-200"/>
          <p:cNvSpPr/>
          <p:nvPr/>
        </p:nvSpPr>
        <p:spPr>
          <a:xfrm>
            <a:off x="457200" y="1280160"/>
            <a:ext cx="5029200" cy="960120"/>
          </a:xfrm>
          <a:prstGeom prst="roundRect">
            <a:avLst>
              <a:gd name="adj" fmla="val 7619"/>
            </a:avLst>
          </a:prstGeom>
          <a:solidFill>
            <a:schemeClr val="bg2"/>
          </a:solidFill>
          <a:ln/>
        </p:spPr>
        <p:txBody>
          <a:bodyPr/>
          <a:lstStyle/>
          <a:p>
            <a:endParaRPr lang="en-US"/>
          </a:p>
        </p:txBody>
      </p:sp>
      <p:sp>
        <p:nvSpPr>
          <p:cNvPr id="4" name="circle-201"/>
          <p:cNvSpPr/>
          <p:nvPr/>
        </p:nvSpPr>
        <p:spPr>
          <a:xfrm>
            <a:off x="640080" y="1444752"/>
            <a:ext cx="640080" cy="640080"/>
          </a:xfrm>
          <a:prstGeom prst="ellipse">
            <a:avLst/>
          </a:prstGeom>
          <a:solidFill>
            <a:srgbClr val="1F8A8A"/>
          </a:solidFill>
          <a:ln/>
        </p:spPr>
        <p:txBody>
          <a:bodyPr/>
          <a:lstStyle/>
          <a:p>
            <a:endParaRPr lang="en-US"/>
          </a:p>
        </p:txBody>
      </p:sp>
      <p:pic>
        <p:nvPicPr>
          <p:cNvPr id="5" name="icon-202" descr="icon"/>
          <p:cNvPicPr>
            <a:picLocks noChangeAspect="1"/>
          </p:cNvPicPr>
          <p:nvPr/>
        </p:nvPicPr>
        <p:blipFill>
          <a:blip r:embed="rId3"/>
          <a:stretch>
            <a:fillRect/>
          </a:stretch>
        </p:blipFill>
        <p:spPr>
          <a:xfrm>
            <a:off x="793699" y="1598371"/>
            <a:ext cx="332842" cy="332842"/>
          </a:xfrm>
          <a:prstGeom prst="rect">
            <a:avLst/>
          </a:prstGeom>
        </p:spPr>
      </p:pic>
      <p:sp>
        <p:nvSpPr>
          <p:cNvPr id="6" name="text-203"/>
          <p:cNvSpPr txBox="1"/>
          <p:nvPr/>
        </p:nvSpPr>
        <p:spPr>
          <a:xfrm>
            <a:off x="1508760" y="1417320"/>
            <a:ext cx="3840480" cy="320040"/>
          </a:xfrm>
          <a:prstGeom prst="rect">
            <a:avLst/>
          </a:prstGeom>
          <a:noFill/>
          <a:ln/>
        </p:spPr>
        <p:txBody>
          <a:bodyPr wrap="square" lIns="0" tIns="0" rIns="0" bIns="0" rtlCol="0" anchor="t"/>
          <a:lstStyle/>
          <a:p>
            <a:pPr marL="0" indent="0">
              <a:buNone/>
            </a:pPr>
            <a:r>
              <a:rPr lang="en-US" sz="1800" b="1" dirty="0">
                <a:solidFill>
                  <a:schemeClr val="tx2"/>
                </a:solidFill>
              </a:rPr>
              <a:t>Spot</a:t>
            </a:r>
            <a:endParaRPr lang="en-US" sz="1800" dirty="0"/>
          </a:p>
        </p:txBody>
      </p:sp>
      <p:sp>
        <p:nvSpPr>
          <p:cNvPr id="7" name="text-204"/>
          <p:cNvSpPr txBox="1"/>
          <p:nvPr/>
        </p:nvSpPr>
        <p:spPr>
          <a:xfrm>
            <a:off x="1508760" y="1755648"/>
            <a:ext cx="3840480" cy="411480"/>
          </a:xfrm>
          <a:prstGeom prst="rect">
            <a:avLst/>
          </a:prstGeom>
          <a:noFill/>
          <a:ln/>
        </p:spPr>
        <p:txBody>
          <a:bodyPr wrap="square" lIns="0" tIns="0" rIns="0" bIns="0" rtlCol="0" anchor="t"/>
          <a:lstStyle/>
          <a:p>
            <a:pPr marL="0" indent="0">
              <a:buNone/>
            </a:pPr>
            <a:r>
              <a:rPr lang="en-US" sz="1400" dirty="0">
                <a:solidFill>
                  <a:schemeClr val="tx1"/>
                </a:solidFill>
              </a:rPr>
              <a:t>Name strengths you see in others, out loud</a:t>
            </a:r>
            <a:endParaRPr lang="en-US" sz="1400" dirty="0"/>
          </a:p>
        </p:txBody>
      </p:sp>
      <p:sp>
        <p:nvSpPr>
          <p:cNvPr id="8" name="strength-row-205"/>
          <p:cNvSpPr/>
          <p:nvPr/>
        </p:nvSpPr>
        <p:spPr>
          <a:xfrm>
            <a:off x="457200" y="2377440"/>
            <a:ext cx="5029200" cy="960120"/>
          </a:xfrm>
          <a:prstGeom prst="roundRect">
            <a:avLst>
              <a:gd name="adj" fmla="val 7619"/>
            </a:avLst>
          </a:prstGeom>
          <a:solidFill>
            <a:schemeClr val="bg2"/>
          </a:solidFill>
          <a:ln/>
        </p:spPr>
        <p:txBody>
          <a:bodyPr/>
          <a:lstStyle/>
          <a:p>
            <a:endParaRPr lang="en-US"/>
          </a:p>
        </p:txBody>
      </p:sp>
      <p:sp>
        <p:nvSpPr>
          <p:cNvPr id="9" name="circle-206"/>
          <p:cNvSpPr/>
          <p:nvPr/>
        </p:nvSpPr>
        <p:spPr>
          <a:xfrm>
            <a:off x="640080" y="2542032"/>
            <a:ext cx="640080" cy="640080"/>
          </a:xfrm>
          <a:prstGeom prst="ellipse">
            <a:avLst/>
          </a:prstGeom>
          <a:solidFill>
            <a:srgbClr val="C8452F"/>
          </a:solidFill>
          <a:ln/>
        </p:spPr>
        <p:txBody>
          <a:bodyPr/>
          <a:lstStyle/>
          <a:p>
            <a:endParaRPr lang="en-US"/>
          </a:p>
        </p:txBody>
      </p:sp>
      <p:pic>
        <p:nvPicPr>
          <p:cNvPr id="10" name="icon-207" descr="icon"/>
          <p:cNvPicPr>
            <a:picLocks noChangeAspect="1"/>
          </p:cNvPicPr>
          <p:nvPr/>
        </p:nvPicPr>
        <p:blipFill>
          <a:blip r:embed="rId4"/>
          <a:stretch>
            <a:fillRect/>
          </a:stretch>
        </p:blipFill>
        <p:spPr>
          <a:xfrm>
            <a:off x="793699" y="2695651"/>
            <a:ext cx="332842" cy="332842"/>
          </a:xfrm>
          <a:prstGeom prst="rect">
            <a:avLst/>
          </a:prstGeom>
        </p:spPr>
      </p:pic>
      <p:sp>
        <p:nvSpPr>
          <p:cNvPr id="11" name="text-208"/>
          <p:cNvSpPr txBox="1"/>
          <p:nvPr/>
        </p:nvSpPr>
        <p:spPr>
          <a:xfrm>
            <a:off x="1508760" y="2514600"/>
            <a:ext cx="3840480" cy="320040"/>
          </a:xfrm>
          <a:prstGeom prst="rect">
            <a:avLst/>
          </a:prstGeom>
          <a:noFill/>
          <a:ln/>
        </p:spPr>
        <p:txBody>
          <a:bodyPr wrap="square" lIns="0" tIns="0" rIns="0" bIns="0" rtlCol="0" anchor="t"/>
          <a:lstStyle/>
          <a:p>
            <a:pPr marL="0" indent="0">
              <a:buNone/>
            </a:pPr>
            <a:r>
              <a:rPr lang="en-US" sz="1800" b="1" dirty="0">
                <a:solidFill>
                  <a:schemeClr val="tx2"/>
                </a:solidFill>
              </a:rPr>
              <a:t>Match</a:t>
            </a:r>
            <a:endParaRPr lang="en-US" sz="1800" dirty="0"/>
          </a:p>
        </p:txBody>
      </p:sp>
      <p:sp>
        <p:nvSpPr>
          <p:cNvPr id="12" name="text-209"/>
          <p:cNvSpPr txBox="1"/>
          <p:nvPr/>
        </p:nvSpPr>
        <p:spPr>
          <a:xfrm>
            <a:off x="1508760" y="2852928"/>
            <a:ext cx="3840480" cy="411480"/>
          </a:xfrm>
          <a:prstGeom prst="rect">
            <a:avLst/>
          </a:prstGeom>
          <a:noFill/>
          <a:ln/>
        </p:spPr>
        <p:txBody>
          <a:bodyPr wrap="square" lIns="0" tIns="0" rIns="0" bIns="0" rtlCol="0" anchor="t"/>
          <a:lstStyle/>
          <a:p>
            <a:pPr marL="0" indent="0">
              <a:buNone/>
            </a:pPr>
            <a:r>
              <a:rPr lang="en-US" sz="1400" dirty="0">
                <a:solidFill>
                  <a:schemeClr val="tx1"/>
                </a:solidFill>
              </a:rPr>
              <a:t>Assign work that uses signature strengths</a:t>
            </a:r>
            <a:endParaRPr lang="en-US" sz="1400" dirty="0"/>
          </a:p>
        </p:txBody>
      </p:sp>
      <p:sp>
        <p:nvSpPr>
          <p:cNvPr id="13" name="strength-row-210"/>
          <p:cNvSpPr/>
          <p:nvPr/>
        </p:nvSpPr>
        <p:spPr>
          <a:xfrm>
            <a:off x="457200" y="3474720"/>
            <a:ext cx="5029200" cy="960120"/>
          </a:xfrm>
          <a:prstGeom prst="roundRect">
            <a:avLst>
              <a:gd name="adj" fmla="val 7619"/>
            </a:avLst>
          </a:prstGeom>
          <a:solidFill>
            <a:schemeClr val="bg2"/>
          </a:solidFill>
          <a:ln/>
        </p:spPr>
        <p:txBody>
          <a:bodyPr/>
          <a:lstStyle/>
          <a:p>
            <a:endParaRPr lang="en-US"/>
          </a:p>
        </p:txBody>
      </p:sp>
      <p:sp>
        <p:nvSpPr>
          <p:cNvPr id="14" name="circle-211"/>
          <p:cNvSpPr/>
          <p:nvPr/>
        </p:nvSpPr>
        <p:spPr>
          <a:xfrm>
            <a:off x="640080" y="3639312"/>
            <a:ext cx="640080" cy="640080"/>
          </a:xfrm>
          <a:prstGeom prst="ellipse">
            <a:avLst/>
          </a:prstGeom>
          <a:solidFill>
            <a:srgbClr val="6B4FA0"/>
          </a:solidFill>
          <a:ln/>
        </p:spPr>
        <p:txBody>
          <a:bodyPr/>
          <a:lstStyle/>
          <a:p>
            <a:endParaRPr lang="en-US"/>
          </a:p>
        </p:txBody>
      </p:sp>
      <p:pic>
        <p:nvPicPr>
          <p:cNvPr id="15" name="icon-212" descr="icon"/>
          <p:cNvPicPr>
            <a:picLocks noChangeAspect="1"/>
          </p:cNvPicPr>
          <p:nvPr/>
        </p:nvPicPr>
        <p:blipFill>
          <a:blip r:embed="rId5"/>
          <a:stretch>
            <a:fillRect/>
          </a:stretch>
        </p:blipFill>
        <p:spPr>
          <a:xfrm>
            <a:off x="793699" y="3792931"/>
            <a:ext cx="332842" cy="332842"/>
          </a:xfrm>
          <a:prstGeom prst="rect">
            <a:avLst/>
          </a:prstGeom>
        </p:spPr>
      </p:pic>
      <p:sp>
        <p:nvSpPr>
          <p:cNvPr id="16" name="text-213"/>
          <p:cNvSpPr txBox="1"/>
          <p:nvPr/>
        </p:nvSpPr>
        <p:spPr>
          <a:xfrm>
            <a:off x="1508760" y="3611880"/>
            <a:ext cx="3840480" cy="320040"/>
          </a:xfrm>
          <a:prstGeom prst="rect">
            <a:avLst/>
          </a:prstGeom>
          <a:noFill/>
          <a:ln/>
        </p:spPr>
        <p:txBody>
          <a:bodyPr wrap="square" lIns="0" tIns="0" rIns="0" bIns="0" rtlCol="0" anchor="t"/>
          <a:lstStyle/>
          <a:p>
            <a:pPr marL="0" indent="0">
              <a:buNone/>
            </a:pPr>
            <a:r>
              <a:rPr lang="en-US" sz="1800" b="1" dirty="0">
                <a:solidFill>
                  <a:schemeClr val="tx2"/>
                </a:solidFill>
              </a:rPr>
              <a:t>Complement</a:t>
            </a:r>
            <a:endParaRPr lang="en-US" sz="1800" dirty="0"/>
          </a:p>
        </p:txBody>
      </p:sp>
      <p:sp>
        <p:nvSpPr>
          <p:cNvPr id="17" name="text-214"/>
          <p:cNvSpPr txBox="1"/>
          <p:nvPr/>
        </p:nvSpPr>
        <p:spPr>
          <a:xfrm>
            <a:off x="1508760" y="3950208"/>
            <a:ext cx="3840480" cy="411480"/>
          </a:xfrm>
          <a:prstGeom prst="rect">
            <a:avLst/>
          </a:prstGeom>
          <a:noFill/>
          <a:ln/>
        </p:spPr>
        <p:txBody>
          <a:bodyPr wrap="square" lIns="0" tIns="0" rIns="0" bIns="0" rtlCol="0" anchor="t"/>
          <a:lstStyle/>
          <a:p>
            <a:pPr marL="0" indent="0">
              <a:buNone/>
            </a:pPr>
            <a:r>
              <a:rPr lang="en-US" sz="1400" dirty="0">
                <a:solidFill>
                  <a:schemeClr val="tx1"/>
                </a:solidFill>
              </a:rPr>
              <a:t>Pair people so strengths cover blind spots</a:t>
            </a:r>
            <a:endParaRPr lang="en-US" sz="1400" dirty="0"/>
          </a:p>
        </p:txBody>
      </p:sp>
      <p:sp>
        <p:nvSpPr>
          <p:cNvPr id="18" name="activity-card-215"/>
          <p:cNvSpPr/>
          <p:nvPr/>
        </p:nvSpPr>
        <p:spPr>
          <a:xfrm>
            <a:off x="5760720" y="1280160"/>
            <a:ext cx="2926080" cy="3154680"/>
          </a:xfrm>
          <a:prstGeom prst="roundRect">
            <a:avLst>
              <a:gd name="adj" fmla="val 2500"/>
            </a:avLst>
          </a:prstGeom>
          <a:solidFill>
            <a:schemeClr val="tx2"/>
          </a:solidFill>
          <a:ln/>
        </p:spPr>
        <p:txBody>
          <a:bodyPr/>
          <a:lstStyle/>
          <a:p>
            <a:endParaRPr lang="en-US"/>
          </a:p>
        </p:txBody>
      </p:sp>
      <p:sp>
        <p:nvSpPr>
          <p:cNvPr id="19" name="text-216"/>
          <p:cNvSpPr txBox="1"/>
          <p:nvPr/>
        </p:nvSpPr>
        <p:spPr>
          <a:xfrm>
            <a:off x="5989320" y="1463040"/>
            <a:ext cx="2468880" cy="274320"/>
          </a:xfrm>
          <a:prstGeom prst="rect">
            <a:avLst/>
          </a:prstGeom>
          <a:noFill/>
          <a:ln/>
        </p:spPr>
        <p:txBody>
          <a:bodyPr wrap="square" lIns="0" tIns="0" rIns="0" bIns="0" rtlCol="0" anchor="t"/>
          <a:lstStyle/>
          <a:p>
            <a:pPr marL="0" indent="0">
              <a:buNone/>
            </a:pPr>
            <a:r>
              <a:rPr lang="en-US" sz="1400" b="1" dirty="0">
                <a:solidFill>
                  <a:schemeClr val="accent1"/>
                </a:solidFill>
              </a:rPr>
              <a:t>ACTIVITY  |  5 MIN</a:t>
            </a:r>
            <a:endParaRPr lang="en-US" sz="1400" dirty="0"/>
          </a:p>
        </p:txBody>
      </p:sp>
      <p:sp>
        <p:nvSpPr>
          <p:cNvPr id="20" name="text-217"/>
          <p:cNvSpPr txBox="1"/>
          <p:nvPr/>
        </p:nvSpPr>
        <p:spPr>
          <a:xfrm>
            <a:off x="5989320" y="1874520"/>
            <a:ext cx="2468880" cy="731520"/>
          </a:xfrm>
          <a:prstGeom prst="rect">
            <a:avLst/>
          </a:prstGeom>
          <a:noFill/>
          <a:ln/>
        </p:spPr>
        <p:txBody>
          <a:bodyPr wrap="square" lIns="0" tIns="0" rIns="0" bIns="0" rtlCol="0" anchor="t"/>
          <a:lstStyle/>
          <a:p>
            <a:pPr marL="0" indent="0">
              <a:buNone/>
            </a:pPr>
            <a:r>
              <a:rPr lang="en-US" sz="2000" b="1" dirty="0">
                <a:solidFill>
                  <a:schemeClr val="bg1"/>
                </a:solidFill>
              </a:rPr>
              <a:t>Write your top 3 strengths.</a:t>
            </a:r>
            <a:endParaRPr lang="en-US" sz="2000" dirty="0"/>
          </a:p>
        </p:txBody>
      </p:sp>
      <p:sp>
        <p:nvSpPr>
          <p:cNvPr id="21" name="text-218"/>
          <p:cNvSpPr txBox="1"/>
          <p:nvPr/>
        </p:nvSpPr>
        <p:spPr>
          <a:xfrm>
            <a:off x="5989320" y="2697480"/>
            <a:ext cx="2468880" cy="914400"/>
          </a:xfrm>
          <a:prstGeom prst="rect">
            <a:avLst/>
          </a:prstGeom>
          <a:noFill/>
          <a:ln/>
        </p:spPr>
        <p:txBody>
          <a:bodyPr wrap="square" lIns="0" tIns="0" rIns="0" bIns="0" rtlCol="0" anchor="t"/>
          <a:lstStyle/>
          <a:p>
            <a:pPr marL="0" indent="0">
              <a:buNone/>
            </a:pPr>
            <a:r>
              <a:rPr lang="en-US" sz="1600" dirty="0">
                <a:solidFill>
                  <a:schemeClr val="bg1"/>
                </a:solidFill>
              </a:rPr>
              <a:t>Tell your partner about one time you used each of them at work.</a:t>
            </a:r>
            <a:endParaRPr lang="en-US" sz="1600" dirty="0"/>
          </a:p>
        </p:txBody>
      </p:sp>
      <p:sp>
        <p:nvSpPr>
          <p:cNvPr id="22" name="text-219"/>
          <p:cNvSpPr txBox="1"/>
          <p:nvPr/>
        </p:nvSpPr>
        <p:spPr>
          <a:xfrm>
            <a:off x="5989320" y="3703320"/>
            <a:ext cx="2468880" cy="548640"/>
          </a:xfrm>
          <a:prstGeom prst="rect">
            <a:avLst/>
          </a:prstGeom>
          <a:noFill/>
          <a:ln/>
        </p:spPr>
        <p:txBody>
          <a:bodyPr wrap="square" lIns="0" tIns="0" rIns="0" bIns="0" rtlCol="0" anchor="t"/>
          <a:lstStyle/>
          <a:p>
            <a:pPr marL="0" indent="0">
              <a:buNone/>
            </a:pPr>
            <a:r>
              <a:rPr lang="en-US" sz="1400" i="1" dirty="0">
                <a:solidFill>
                  <a:schemeClr val="bg1"/>
                </a:solidFill>
              </a:rPr>
              <a:t>Partner: reply with the strength you heard.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Fixed vs growth mindset</a:t>
            </a:r>
            <a:endParaRPr lang="en-US" sz="3000" dirty="0"/>
          </a:p>
        </p:txBody>
      </p:sp>
      <p:sp>
        <p:nvSpPr>
          <p:cNvPr id="3" name="head-fixed-220"/>
          <p:cNvSpPr/>
          <p:nvPr/>
        </p:nvSpPr>
        <p:spPr>
          <a:xfrm>
            <a:off x="2011680" y="1234440"/>
            <a:ext cx="3108960" cy="457200"/>
          </a:xfrm>
          <a:prstGeom prst="roundRect">
            <a:avLst>
              <a:gd name="adj" fmla="val 16000"/>
            </a:avLst>
          </a:prstGeom>
          <a:solidFill>
            <a:schemeClr val="accent2"/>
          </a:solidFill>
          <a:ln/>
        </p:spPr>
        <p:txBody>
          <a:bodyPr/>
          <a:lstStyle/>
          <a:p>
            <a:endParaRPr lang="en-US"/>
          </a:p>
        </p:txBody>
      </p:sp>
      <p:sp>
        <p:nvSpPr>
          <p:cNvPr id="4" name="head-growth-221"/>
          <p:cNvSpPr/>
          <p:nvPr/>
        </p:nvSpPr>
        <p:spPr>
          <a:xfrm>
            <a:off x="5212080" y="1234440"/>
            <a:ext cx="3474720" cy="457200"/>
          </a:xfrm>
          <a:prstGeom prst="roundRect">
            <a:avLst>
              <a:gd name="adj" fmla="val 16000"/>
            </a:avLst>
          </a:prstGeom>
          <a:solidFill>
            <a:schemeClr val="accent3"/>
          </a:solidFill>
          <a:ln/>
        </p:spPr>
        <p:txBody>
          <a:bodyPr/>
          <a:lstStyle/>
          <a:p>
            <a:endParaRPr lang="en-US"/>
          </a:p>
        </p:txBody>
      </p:sp>
      <p:sp>
        <p:nvSpPr>
          <p:cNvPr id="5" name="text-222"/>
          <p:cNvSpPr txBox="1"/>
          <p:nvPr/>
        </p:nvSpPr>
        <p:spPr>
          <a:xfrm>
            <a:off x="2011680" y="1234440"/>
            <a:ext cx="3108960" cy="457200"/>
          </a:xfrm>
          <a:prstGeom prst="rect">
            <a:avLst/>
          </a:prstGeom>
          <a:noFill/>
          <a:ln/>
        </p:spPr>
        <p:txBody>
          <a:bodyPr wrap="square" lIns="0" tIns="0" rIns="0" bIns="0" rtlCol="0" anchor="ctr"/>
          <a:lstStyle/>
          <a:p>
            <a:pPr marL="0" indent="0" algn="ctr">
              <a:buNone/>
            </a:pPr>
            <a:r>
              <a:rPr lang="en-US" sz="1600" b="1" dirty="0">
                <a:solidFill>
                  <a:schemeClr val="bg1"/>
                </a:solidFill>
              </a:rPr>
              <a:t>Fixed mindset</a:t>
            </a:r>
            <a:endParaRPr lang="en-US" sz="1600" dirty="0"/>
          </a:p>
        </p:txBody>
      </p:sp>
      <p:sp>
        <p:nvSpPr>
          <p:cNvPr id="6" name="text-223"/>
          <p:cNvSpPr txBox="1"/>
          <p:nvPr/>
        </p:nvSpPr>
        <p:spPr>
          <a:xfrm>
            <a:off x="5212080" y="1234440"/>
            <a:ext cx="3474720" cy="457200"/>
          </a:xfrm>
          <a:prstGeom prst="rect">
            <a:avLst/>
          </a:prstGeom>
          <a:noFill/>
          <a:ln/>
        </p:spPr>
        <p:txBody>
          <a:bodyPr wrap="square" lIns="0" tIns="0" rIns="0" bIns="0" rtlCol="0" anchor="ctr"/>
          <a:lstStyle/>
          <a:p>
            <a:pPr marL="0" indent="0" algn="ctr">
              <a:buNone/>
            </a:pPr>
            <a:r>
              <a:rPr lang="en-US" sz="1600" b="1" dirty="0">
                <a:solidFill>
                  <a:schemeClr val="bg1"/>
                </a:solidFill>
              </a:rPr>
              <a:t>Growth mindset</a:t>
            </a:r>
            <a:endParaRPr lang="en-US" sz="1600" dirty="0"/>
          </a:p>
        </p:txBody>
      </p:sp>
      <p:sp>
        <p:nvSpPr>
          <p:cNvPr id="7" name="mindset-row-224"/>
          <p:cNvSpPr/>
          <p:nvPr/>
        </p:nvSpPr>
        <p:spPr>
          <a:xfrm>
            <a:off x="457200" y="1783080"/>
            <a:ext cx="8229600" cy="594360"/>
          </a:xfrm>
          <a:prstGeom prst="roundRect">
            <a:avLst>
              <a:gd name="adj" fmla="val 12308"/>
            </a:avLst>
          </a:prstGeom>
          <a:solidFill>
            <a:schemeClr val="bg2"/>
          </a:solidFill>
          <a:ln/>
        </p:spPr>
        <p:txBody>
          <a:bodyPr/>
          <a:lstStyle/>
          <a:p>
            <a:endParaRPr lang="en-US"/>
          </a:p>
        </p:txBody>
      </p:sp>
      <p:sp>
        <p:nvSpPr>
          <p:cNvPr id="8" name="text-225"/>
          <p:cNvSpPr txBox="1"/>
          <p:nvPr/>
        </p:nvSpPr>
        <p:spPr>
          <a:xfrm>
            <a:off x="640080" y="1783080"/>
            <a:ext cx="1371600" cy="594360"/>
          </a:xfrm>
          <a:prstGeom prst="rect">
            <a:avLst/>
          </a:prstGeom>
          <a:noFill/>
          <a:ln/>
        </p:spPr>
        <p:txBody>
          <a:bodyPr wrap="square" lIns="0" tIns="0" rIns="0" bIns="0" rtlCol="0" anchor="ctr"/>
          <a:lstStyle/>
          <a:p>
            <a:pPr marL="0" indent="0">
              <a:buNone/>
            </a:pPr>
            <a:r>
              <a:rPr lang="en-US" sz="1500" b="1" dirty="0">
                <a:solidFill>
                  <a:schemeClr val="tx2"/>
                </a:solidFill>
              </a:rPr>
              <a:t>Challenges</a:t>
            </a:r>
            <a:endParaRPr lang="en-US" sz="1500" dirty="0"/>
          </a:p>
        </p:txBody>
      </p:sp>
      <p:sp>
        <p:nvSpPr>
          <p:cNvPr id="9" name="text-226"/>
          <p:cNvSpPr txBox="1"/>
          <p:nvPr/>
        </p:nvSpPr>
        <p:spPr>
          <a:xfrm>
            <a:off x="2011680" y="1783080"/>
            <a:ext cx="3108960" cy="594360"/>
          </a:xfrm>
          <a:prstGeom prst="rect">
            <a:avLst/>
          </a:prstGeom>
          <a:noFill/>
          <a:ln/>
        </p:spPr>
        <p:txBody>
          <a:bodyPr wrap="square" lIns="0" tIns="0" rIns="0" bIns="0" rtlCol="0" anchor="ctr"/>
          <a:lstStyle/>
          <a:p>
            <a:pPr marL="0" indent="0" algn="ctr">
              <a:buNone/>
            </a:pPr>
            <a:r>
              <a:rPr lang="en-US" sz="1500" dirty="0">
                <a:solidFill>
                  <a:schemeClr val="tx1"/>
                </a:solidFill>
              </a:rPr>
              <a:t>Avoid them</a:t>
            </a:r>
            <a:endParaRPr lang="en-US" sz="1500" dirty="0"/>
          </a:p>
        </p:txBody>
      </p:sp>
      <p:sp>
        <p:nvSpPr>
          <p:cNvPr id="10" name="text-227"/>
          <p:cNvSpPr txBox="1"/>
          <p:nvPr/>
        </p:nvSpPr>
        <p:spPr>
          <a:xfrm>
            <a:off x="5212080" y="1783080"/>
            <a:ext cx="3474720" cy="594360"/>
          </a:xfrm>
          <a:prstGeom prst="rect">
            <a:avLst/>
          </a:prstGeom>
          <a:noFill/>
          <a:ln/>
        </p:spPr>
        <p:txBody>
          <a:bodyPr wrap="square" lIns="0" tIns="0" rIns="0" bIns="0" rtlCol="0" anchor="ctr"/>
          <a:lstStyle/>
          <a:p>
            <a:pPr marL="0" indent="0" algn="ctr">
              <a:buNone/>
            </a:pPr>
            <a:r>
              <a:rPr lang="en-US" sz="1500" dirty="0">
                <a:solidFill>
                  <a:schemeClr val="tx1"/>
                </a:solidFill>
              </a:rPr>
              <a:t>Embrace them</a:t>
            </a:r>
            <a:endParaRPr lang="en-US" sz="1500" dirty="0"/>
          </a:p>
        </p:txBody>
      </p:sp>
      <p:sp>
        <p:nvSpPr>
          <p:cNvPr id="11" name="mindset-row-228"/>
          <p:cNvSpPr/>
          <p:nvPr/>
        </p:nvSpPr>
        <p:spPr>
          <a:xfrm>
            <a:off x="457200" y="2441448"/>
            <a:ext cx="8229600" cy="594360"/>
          </a:xfrm>
          <a:prstGeom prst="roundRect">
            <a:avLst>
              <a:gd name="adj" fmla="val 12308"/>
            </a:avLst>
          </a:prstGeom>
          <a:solidFill>
            <a:schemeClr val="bg2"/>
          </a:solidFill>
          <a:ln/>
        </p:spPr>
        <p:txBody>
          <a:bodyPr/>
          <a:lstStyle/>
          <a:p>
            <a:endParaRPr lang="en-US"/>
          </a:p>
        </p:txBody>
      </p:sp>
      <p:sp>
        <p:nvSpPr>
          <p:cNvPr id="12" name="text-229"/>
          <p:cNvSpPr txBox="1"/>
          <p:nvPr/>
        </p:nvSpPr>
        <p:spPr>
          <a:xfrm>
            <a:off x="640080" y="2441448"/>
            <a:ext cx="1371600" cy="594360"/>
          </a:xfrm>
          <a:prstGeom prst="rect">
            <a:avLst/>
          </a:prstGeom>
          <a:noFill/>
          <a:ln/>
        </p:spPr>
        <p:txBody>
          <a:bodyPr wrap="square" lIns="0" tIns="0" rIns="0" bIns="0" rtlCol="0" anchor="ctr"/>
          <a:lstStyle/>
          <a:p>
            <a:pPr marL="0" indent="0">
              <a:buNone/>
            </a:pPr>
            <a:r>
              <a:rPr lang="en-US" sz="1500" b="1" dirty="0">
                <a:solidFill>
                  <a:schemeClr val="tx2"/>
                </a:solidFill>
              </a:rPr>
              <a:t>Setbacks</a:t>
            </a:r>
            <a:endParaRPr lang="en-US" sz="1500" dirty="0"/>
          </a:p>
        </p:txBody>
      </p:sp>
      <p:sp>
        <p:nvSpPr>
          <p:cNvPr id="13" name="text-230"/>
          <p:cNvSpPr txBox="1"/>
          <p:nvPr/>
        </p:nvSpPr>
        <p:spPr>
          <a:xfrm>
            <a:off x="2011680" y="2441448"/>
            <a:ext cx="3108960" cy="594360"/>
          </a:xfrm>
          <a:prstGeom prst="rect">
            <a:avLst/>
          </a:prstGeom>
          <a:noFill/>
          <a:ln/>
        </p:spPr>
        <p:txBody>
          <a:bodyPr wrap="square" lIns="0" tIns="0" rIns="0" bIns="0" rtlCol="0" anchor="ctr"/>
          <a:lstStyle/>
          <a:p>
            <a:pPr marL="0" indent="0" algn="ctr">
              <a:buNone/>
            </a:pPr>
            <a:r>
              <a:rPr lang="en-US" sz="1500" dirty="0">
                <a:solidFill>
                  <a:schemeClr val="tx1"/>
                </a:solidFill>
              </a:rPr>
              <a:t>Proof of limits</a:t>
            </a:r>
            <a:endParaRPr lang="en-US" sz="1500" dirty="0"/>
          </a:p>
        </p:txBody>
      </p:sp>
      <p:sp>
        <p:nvSpPr>
          <p:cNvPr id="14" name="text-231"/>
          <p:cNvSpPr txBox="1"/>
          <p:nvPr/>
        </p:nvSpPr>
        <p:spPr>
          <a:xfrm>
            <a:off x="5212080" y="2441448"/>
            <a:ext cx="3474720" cy="594360"/>
          </a:xfrm>
          <a:prstGeom prst="rect">
            <a:avLst/>
          </a:prstGeom>
          <a:noFill/>
          <a:ln/>
        </p:spPr>
        <p:txBody>
          <a:bodyPr wrap="square" lIns="0" tIns="0" rIns="0" bIns="0" rtlCol="0" anchor="ctr"/>
          <a:lstStyle/>
          <a:p>
            <a:pPr marL="0" indent="0" algn="ctr">
              <a:buNone/>
            </a:pPr>
            <a:r>
              <a:rPr lang="en-US" sz="1500" dirty="0">
                <a:solidFill>
                  <a:schemeClr val="tx1"/>
                </a:solidFill>
              </a:rPr>
              <a:t>Information to learn from</a:t>
            </a:r>
            <a:endParaRPr lang="en-US" sz="1500" dirty="0"/>
          </a:p>
        </p:txBody>
      </p:sp>
      <p:sp>
        <p:nvSpPr>
          <p:cNvPr id="15" name="mindset-row-232"/>
          <p:cNvSpPr/>
          <p:nvPr/>
        </p:nvSpPr>
        <p:spPr>
          <a:xfrm>
            <a:off x="457200" y="3099816"/>
            <a:ext cx="8229600" cy="594360"/>
          </a:xfrm>
          <a:prstGeom prst="roundRect">
            <a:avLst>
              <a:gd name="adj" fmla="val 12308"/>
            </a:avLst>
          </a:prstGeom>
          <a:solidFill>
            <a:schemeClr val="bg2"/>
          </a:solidFill>
          <a:ln/>
        </p:spPr>
        <p:txBody>
          <a:bodyPr/>
          <a:lstStyle/>
          <a:p>
            <a:endParaRPr lang="en-US"/>
          </a:p>
        </p:txBody>
      </p:sp>
      <p:sp>
        <p:nvSpPr>
          <p:cNvPr id="16" name="text-233"/>
          <p:cNvSpPr txBox="1"/>
          <p:nvPr/>
        </p:nvSpPr>
        <p:spPr>
          <a:xfrm>
            <a:off x="640080" y="3099816"/>
            <a:ext cx="1371600" cy="594360"/>
          </a:xfrm>
          <a:prstGeom prst="rect">
            <a:avLst/>
          </a:prstGeom>
          <a:noFill/>
          <a:ln/>
        </p:spPr>
        <p:txBody>
          <a:bodyPr wrap="square" lIns="0" tIns="0" rIns="0" bIns="0" rtlCol="0" anchor="ctr"/>
          <a:lstStyle/>
          <a:p>
            <a:pPr marL="0" indent="0">
              <a:buNone/>
            </a:pPr>
            <a:r>
              <a:rPr lang="en-US" sz="1500" b="1" dirty="0">
                <a:solidFill>
                  <a:schemeClr val="tx2"/>
                </a:solidFill>
              </a:rPr>
              <a:t>Effort</a:t>
            </a:r>
            <a:endParaRPr lang="en-US" sz="1500" dirty="0"/>
          </a:p>
        </p:txBody>
      </p:sp>
      <p:sp>
        <p:nvSpPr>
          <p:cNvPr id="17" name="text-234"/>
          <p:cNvSpPr txBox="1"/>
          <p:nvPr/>
        </p:nvSpPr>
        <p:spPr>
          <a:xfrm>
            <a:off x="2011680" y="3099816"/>
            <a:ext cx="3108960" cy="594360"/>
          </a:xfrm>
          <a:prstGeom prst="rect">
            <a:avLst/>
          </a:prstGeom>
          <a:noFill/>
          <a:ln/>
        </p:spPr>
        <p:txBody>
          <a:bodyPr wrap="square" lIns="0" tIns="0" rIns="0" bIns="0" rtlCol="0" anchor="ctr"/>
          <a:lstStyle/>
          <a:p>
            <a:pPr marL="0" indent="0" algn="ctr">
              <a:buNone/>
            </a:pPr>
            <a:r>
              <a:rPr lang="en-US" sz="1500" dirty="0">
                <a:solidFill>
                  <a:schemeClr val="tx1"/>
                </a:solidFill>
              </a:rPr>
              <a:t>A sign of weakness</a:t>
            </a:r>
            <a:endParaRPr lang="en-US" sz="1500" dirty="0"/>
          </a:p>
        </p:txBody>
      </p:sp>
      <p:sp>
        <p:nvSpPr>
          <p:cNvPr id="18" name="text-235"/>
          <p:cNvSpPr txBox="1"/>
          <p:nvPr/>
        </p:nvSpPr>
        <p:spPr>
          <a:xfrm>
            <a:off x="5212080" y="3099816"/>
            <a:ext cx="3474720" cy="594360"/>
          </a:xfrm>
          <a:prstGeom prst="rect">
            <a:avLst/>
          </a:prstGeom>
          <a:noFill/>
          <a:ln/>
        </p:spPr>
        <p:txBody>
          <a:bodyPr wrap="square" lIns="0" tIns="0" rIns="0" bIns="0" rtlCol="0" anchor="ctr"/>
          <a:lstStyle/>
          <a:p>
            <a:pPr marL="0" indent="0" algn="ctr">
              <a:buNone/>
            </a:pPr>
            <a:r>
              <a:rPr lang="en-US" sz="1500" dirty="0">
                <a:solidFill>
                  <a:schemeClr val="tx1"/>
                </a:solidFill>
              </a:rPr>
              <a:t>The path to mastery</a:t>
            </a:r>
            <a:endParaRPr lang="en-US" sz="1500" dirty="0"/>
          </a:p>
        </p:txBody>
      </p:sp>
      <p:sp>
        <p:nvSpPr>
          <p:cNvPr id="19" name="mindset-row-236"/>
          <p:cNvSpPr/>
          <p:nvPr/>
        </p:nvSpPr>
        <p:spPr>
          <a:xfrm>
            <a:off x="457200" y="3758184"/>
            <a:ext cx="8229600" cy="594360"/>
          </a:xfrm>
          <a:prstGeom prst="roundRect">
            <a:avLst>
              <a:gd name="adj" fmla="val 12308"/>
            </a:avLst>
          </a:prstGeom>
          <a:solidFill>
            <a:schemeClr val="bg2"/>
          </a:solidFill>
          <a:ln/>
        </p:spPr>
        <p:txBody>
          <a:bodyPr/>
          <a:lstStyle/>
          <a:p>
            <a:endParaRPr lang="en-US"/>
          </a:p>
        </p:txBody>
      </p:sp>
      <p:sp>
        <p:nvSpPr>
          <p:cNvPr id="20" name="text-237"/>
          <p:cNvSpPr txBox="1"/>
          <p:nvPr/>
        </p:nvSpPr>
        <p:spPr>
          <a:xfrm>
            <a:off x="640080" y="3758184"/>
            <a:ext cx="1371600" cy="594360"/>
          </a:xfrm>
          <a:prstGeom prst="rect">
            <a:avLst/>
          </a:prstGeom>
          <a:noFill/>
          <a:ln/>
        </p:spPr>
        <p:txBody>
          <a:bodyPr wrap="square" lIns="0" tIns="0" rIns="0" bIns="0" rtlCol="0" anchor="ctr"/>
          <a:lstStyle/>
          <a:p>
            <a:pPr marL="0" indent="0">
              <a:buNone/>
            </a:pPr>
            <a:r>
              <a:rPr lang="en-US" sz="1500" b="1" dirty="0">
                <a:solidFill>
                  <a:schemeClr val="tx2"/>
                </a:solidFill>
              </a:rPr>
              <a:t>Feedback</a:t>
            </a:r>
            <a:endParaRPr lang="en-US" sz="1500" dirty="0"/>
          </a:p>
        </p:txBody>
      </p:sp>
      <p:sp>
        <p:nvSpPr>
          <p:cNvPr id="21" name="text-238"/>
          <p:cNvSpPr txBox="1"/>
          <p:nvPr/>
        </p:nvSpPr>
        <p:spPr>
          <a:xfrm>
            <a:off x="2011680" y="3758184"/>
            <a:ext cx="3108960" cy="594360"/>
          </a:xfrm>
          <a:prstGeom prst="rect">
            <a:avLst/>
          </a:prstGeom>
          <a:noFill/>
          <a:ln/>
        </p:spPr>
        <p:txBody>
          <a:bodyPr wrap="square" lIns="0" tIns="0" rIns="0" bIns="0" rtlCol="0" anchor="ctr"/>
          <a:lstStyle/>
          <a:p>
            <a:pPr marL="0" indent="0" algn="ctr">
              <a:buNone/>
            </a:pPr>
            <a:r>
              <a:rPr lang="en-US" sz="1500" dirty="0">
                <a:solidFill>
                  <a:schemeClr val="tx1"/>
                </a:solidFill>
              </a:rPr>
              <a:t>A threat to ego</a:t>
            </a:r>
            <a:endParaRPr lang="en-US" sz="1500" dirty="0"/>
          </a:p>
        </p:txBody>
      </p:sp>
      <p:sp>
        <p:nvSpPr>
          <p:cNvPr id="22" name="text-239"/>
          <p:cNvSpPr txBox="1"/>
          <p:nvPr/>
        </p:nvSpPr>
        <p:spPr>
          <a:xfrm>
            <a:off x="5212080" y="3758184"/>
            <a:ext cx="3474720" cy="594360"/>
          </a:xfrm>
          <a:prstGeom prst="rect">
            <a:avLst/>
          </a:prstGeom>
          <a:noFill/>
          <a:ln/>
        </p:spPr>
        <p:txBody>
          <a:bodyPr wrap="square" lIns="0" tIns="0" rIns="0" bIns="0" rtlCol="0" anchor="ctr"/>
          <a:lstStyle/>
          <a:p>
            <a:pPr marL="0" indent="0" algn="ctr">
              <a:buNone/>
            </a:pPr>
            <a:r>
              <a:rPr lang="en-US" sz="1500" dirty="0">
                <a:solidFill>
                  <a:schemeClr val="tx1"/>
                </a:solidFill>
              </a:rPr>
              <a:t>A gift to use</a:t>
            </a:r>
            <a:endParaRPr lang="en-US" sz="1500" dirty="0"/>
          </a:p>
        </p:txBody>
      </p:sp>
      <p:sp>
        <p:nvSpPr>
          <p:cNvPr id="23" name="text-240"/>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200" i="1" dirty="0">
                <a:solidFill>
                  <a:schemeClr val="tx2"/>
                </a:solidFill>
              </a:rPr>
              <a:t>Dweck, Mindset (2006). Leader move: praise effort and strategy, not talent.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Optimism is learnable: the 3 Ps</a:t>
            </a:r>
            <a:endParaRPr lang="en-US" sz="3000" dirty="0"/>
          </a:p>
        </p:txBody>
      </p:sp>
      <p:sp>
        <p:nvSpPr>
          <p:cNvPr id="3" name="p-row-241"/>
          <p:cNvSpPr/>
          <p:nvPr/>
        </p:nvSpPr>
        <p:spPr>
          <a:xfrm>
            <a:off x="457200" y="1280160"/>
            <a:ext cx="5486400" cy="960120"/>
          </a:xfrm>
          <a:prstGeom prst="roundRect">
            <a:avLst>
              <a:gd name="adj" fmla="val 7619"/>
            </a:avLst>
          </a:prstGeom>
          <a:solidFill>
            <a:schemeClr val="bg2"/>
          </a:solidFill>
          <a:ln/>
        </p:spPr>
        <p:txBody>
          <a:bodyPr/>
          <a:lstStyle/>
          <a:p>
            <a:endParaRPr lang="en-US"/>
          </a:p>
        </p:txBody>
      </p:sp>
      <p:sp>
        <p:nvSpPr>
          <p:cNvPr id="4" name="circle-242"/>
          <p:cNvSpPr/>
          <p:nvPr/>
        </p:nvSpPr>
        <p:spPr>
          <a:xfrm>
            <a:off x="640080" y="1463040"/>
            <a:ext cx="594360" cy="594360"/>
          </a:xfrm>
          <a:prstGeom prst="ellipse">
            <a:avLst/>
          </a:prstGeom>
          <a:solidFill>
            <a:srgbClr val="1F8A8A"/>
          </a:solidFill>
          <a:ln/>
        </p:spPr>
        <p:txBody>
          <a:bodyPr/>
          <a:lstStyle/>
          <a:p>
            <a:endParaRPr lang="en-US"/>
          </a:p>
        </p:txBody>
      </p:sp>
      <p:sp>
        <p:nvSpPr>
          <p:cNvPr id="5" name="text-243"/>
          <p:cNvSpPr txBox="1"/>
          <p:nvPr/>
        </p:nvSpPr>
        <p:spPr>
          <a:xfrm>
            <a:off x="640080" y="146304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rPr>
              <a:t>P</a:t>
            </a:r>
            <a:endParaRPr lang="en-US" sz="2400" dirty="0"/>
          </a:p>
        </p:txBody>
      </p:sp>
      <p:sp>
        <p:nvSpPr>
          <p:cNvPr id="6" name="text-244"/>
          <p:cNvSpPr txBox="1"/>
          <p:nvPr/>
        </p:nvSpPr>
        <p:spPr>
          <a:xfrm>
            <a:off x="1463040" y="1353312"/>
            <a:ext cx="4297680" cy="822960"/>
          </a:xfrm>
          <a:prstGeom prst="rect">
            <a:avLst/>
          </a:prstGeom>
          <a:noFill/>
          <a:ln/>
        </p:spPr>
        <p:txBody>
          <a:bodyPr wrap="square" lIns="0" tIns="0" rIns="0" bIns="0" rtlCol="0" anchor="ctr"/>
          <a:lstStyle/>
          <a:p>
            <a:pPr marL="0" indent="0">
              <a:buNone/>
            </a:pPr>
            <a:r>
              <a:rPr lang="en-US" sz="1600" b="1" dirty="0">
                <a:solidFill>
                  <a:schemeClr val="tx2"/>
                </a:solidFill>
              </a:rPr>
              <a:t>Permanence</a:t>
            </a:r>
            <a:endParaRPr lang="en-US" sz="1400" dirty="0"/>
          </a:p>
          <a:p>
            <a:pPr marL="0" indent="0">
              <a:buNone/>
            </a:pPr>
            <a:r>
              <a:rPr lang="en-US" sz="1400" dirty="0">
                <a:solidFill>
                  <a:schemeClr val="tx1"/>
                </a:solidFill>
              </a:rPr>
              <a:t>Pessimist: “It will always be this way.”</a:t>
            </a:r>
            <a:endParaRPr lang="en-US" sz="1400" dirty="0"/>
          </a:p>
          <a:p>
            <a:pPr marL="0" indent="0">
              <a:buNone/>
            </a:pPr>
            <a:r>
              <a:rPr lang="en-US" sz="1400" dirty="0">
                <a:solidFill>
                  <a:schemeClr val="tx1"/>
                </a:solidFill>
              </a:rPr>
              <a:t>Optimist: “This is temporary.”</a:t>
            </a:r>
            <a:endParaRPr lang="en-US" sz="1400" dirty="0"/>
          </a:p>
        </p:txBody>
      </p:sp>
      <p:sp>
        <p:nvSpPr>
          <p:cNvPr id="7" name="p-row-245"/>
          <p:cNvSpPr/>
          <p:nvPr/>
        </p:nvSpPr>
        <p:spPr>
          <a:xfrm>
            <a:off x="457200" y="2331720"/>
            <a:ext cx="5486400" cy="960120"/>
          </a:xfrm>
          <a:prstGeom prst="roundRect">
            <a:avLst>
              <a:gd name="adj" fmla="val 7619"/>
            </a:avLst>
          </a:prstGeom>
          <a:solidFill>
            <a:schemeClr val="bg2"/>
          </a:solidFill>
          <a:ln/>
        </p:spPr>
        <p:txBody>
          <a:bodyPr/>
          <a:lstStyle/>
          <a:p>
            <a:endParaRPr lang="en-US"/>
          </a:p>
        </p:txBody>
      </p:sp>
      <p:sp>
        <p:nvSpPr>
          <p:cNvPr id="8" name="circle-246"/>
          <p:cNvSpPr/>
          <p:nvPr/>
        </p:nvSpPr>
        <p:spPr>
          <a:xfrm>
            <a:off x="640080" y="2514600"/>
            <a:ext cx="594360" cy="594360"/>
          </a:xfrm>
          <a:prstGeom prst="ellipse">
            <a:avLst/>
          </a:prstGeom>
          <a:solidFill>
            <a:srgbClr val="C8452F"/>
          </a:solidFill>
          <a:ln/>
        </p:spPr>
        <p:txBody>
          <a:bodyPr/>
          <a:lstStyle/>
          <a:p>
            <a:endParaRPr lang="en-US"/>
          </a:p>
        </p:txBody>
      </p:sp>
      <p:sp>
        <p:nvSpPr>
          <p:cNvPr id="9" name="text-247"/>
          <p:cNvSpPr txBox="1"/>
          <p:nvPr/>
        </p:nvSpPr>
        <p:spPr>
          <a:xfrm>
            <a:off x="640080" y="251460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rPr>
              <a:t>P</a:t>
            </a:r>
            <a:endParaRPr lang="en-US" sz="2400" dirty="0"/>
          </a:p>
        </p:txBody>
      </p:sp>
      <p:sp>
        <p:nvSpPr>
          <p:cNvPr id="10" name="text-248"/>
          <p:cNvSpPr txBox="1"/>
          <p:nvPr/>
        </p:nvSpPr>
        <p:spPr>
          <a:xfrm>
            <a:off x="1463040" y="2404872"/>
            <a:ext cx="4297680" cy="822960"/>
          </a:xfrm>
          <a:prstGeom prst="rect">
            <a:avLst/>
          </a:prstGeom>
          <a:noFill/>
          <a:ln/>
        </p:spPr>
        <p:txBody>
          <a:bodyPr wrap="square" lIns="0" tIns="0" rIns="0" bIns="0" rtlCol="0" anchor="ctr"/>
          <a:lstStyle/>
          <a:p>
            <a:pPr marL="0" indent="0">
              <a:buNone/>
            </a:pPr>
            <a:r>
              <a:rPr lang="en-US" sz="1600" b="1" dirty="0">
                <a:solidFill>
                  <a:schemeClr val="tx2"/>
                </a:solidFill>
              </a:rPr>
              <a:t>Pervasiveness</a:t>
            </a:r>
            <a:endParaRPr lang="en-US" sz="1400" dirty="0"/>
          </a:p>
          <a:p>
            <a:pPr marL="0" indent="0">
              <a:buNone/>
            </a:pPr>
            <a:r>
              <a:rPr lang="en-US" sz="1400" dirty="0">
                <a:solidFill>
                  <a:schemeClr val="tx1"/>
                </a:solidFill>
              </a:rPr>
              <a:t>Pessimist: “This ruins everything.”</a:t>
            </a:r>
            <a:endParaRPr lang="en-US" sz="1400" dirty="0"/>
          </a:p>
          <a:p>
            <a:pPr marL="0" indent="0">
              <a:buNone/>
            </a:pPr>
            <a:r>
              <a:rPr lang="en-US" sz="1400" dirty="0">
                <a:solidFill>
                  <a:schemeClr val="tx1"/>
                </a:solidFill>
              </a:rPr>
              <a:t>Optimist: “This affects one area.”</a:t>
            </a:r>
            <a:endParaRPr lang="en-US" sz="1400" dirty="0"/>
          </a:p>
        </p:txBody>
      </p:sp>
      <p:sp>
        <p:nvSpPr>
          <p:cNvPr id="11" name="p-row-249"/>
          <p:cNvSpPr/>
          <p:nvPr/>
        </p:nvSpPr>
        <p:spPr>
          <a:xfrm>
            <a:off x="457200" y="3383280"/>
            <a:ext cx="5486400" cy="960120"/>
          </a:xfrm>
          <a:prstGeom prst="roundRect">
            <a:avLst>
              <a:gd name="adj" fmla="val 7619"/>
            </a:avLst>
          </a:prstGeom>
          <a:solidFill>
            <a:schemeClr val="bg2"/>
          </a:solidFill>
          <a:ln/>
        </p:spPr>
        <p:txBody>
          <a:bodyPr/>
          <a:lstStyle/>
          <a:p>
            <a:endParaRPr lang="en-US"/>
          </a:p>
        </p:txBody>
      </p:sp>
      <p:sp>
        <p:nvSpPr>
          <p:cNvPr id="12" name="circle-250"/>
          <p:cNvSpPr/>
          <p:nvPr/>
        </p:nvSpPr>
        <p:spPr>
          <a:xfrm>
            <a:off x="640080" y="3566160"/>
            <a:ext cx="594360" cy="594360"/>
          </a:xfrm>
          <a:prstGeom prst="ellipse">
            <a:avLst/>
          </a:prstGeom>
          <a:solidFill>
            <a:srgbClr val="6B4FA0"/>
          </a:solidFill>
          <a:ln/>
        </p:spPr>
        <p:txBody>
          <a:bodyPr/>
          <a:lstStyle/>
          <a:p>
            <a:endParaRPr lang="en-US"/>
          </a:p>
        </p:txBody>
      </p:sp>
      <p:sp>
        <p:nvSpPr>
          <p:cNvPr id="13" name="text-251"/>
          <p:cNvSpPr txBox="1"/>
          <p:nvPr/>
        </p:nvSpPr>
        <p:spPr>
          <a:xfrm>
            <a:off x="640080" y="3566160"/>
            <a:ext cx="594360" cy="594360"/>
          </a:xfrm>
          <a:prstGeom prst="rect">
            <a:avLst/>
          </a:prstGeom>
          <a:noFill/>
          <a:ln/>
        </p:spPr>
        <p:txBody>
          <a:bodyPr wrap="square" lIns="0" tIns="0" rIns="0" bIns="0" rtlCol="0" anchor="ctr"/>
          <a:lstStyle/>
          <a:p>
            <a:pPr marL="0" indent="0" algn="ctr">
              <a:buNone/>
            </a:pPr>
            <a:r>
              <a:rPr lang="en-US" sz="2400" b="1" dirty="0">
                <a:solidFill>
                  <a:srgbClr val="FFFFFF"/>
                </a:solidFill>
              </a:rPr>
              <a:t>P</a:t>
            </a:r>
            <a:endParaRPr lang="en-US" sz="2400" dirty="0"/>
          </a:p>
        </p:txBody>
      </p:sp>
      <p:sp>
        <p:nvSpPr>
          <p:cNvPr id="14" name="text-252"/>
          <p:cNvSpPr txBox="1"/>
          <p:nvPr/>
        </p:nvSpPr>
        <p:spPr>
          <a:xfrm>
            <a:off x="1463040" y="3456432"/>
            <a:ext cx="4297680" cy="822960"/>
          </a:xfrm>
          <a:prstGeom prst="rect">
            <a:avLst/>
          </a:prstGeom>
          <a:noFill/>
          <a:ln/>
        </p:spPr>
        <p:txBody>
          <a:bodyPr wrap="square" lIns="0" tIns="0" rIns="0" bIns="0" rtlCol="0" anchor="ctr"/>
          <a:lstStyle/>
          <a:p>
            <a:pPr marL="0" indent="0">
              <a:buNone/>
            </a:pPr>
            <a:r>
              <a:rPr lang="en-US" sz="1600" b="1" dirty="0">
                <a:solidFill>
                  <a:schemeClr val="tx2"/>
                </a:solidFill>
              </a:rPr>
              <a:t>Personalization</a:t>
            </a:r>
            <a:endParaRPr lang="en-US" sz="1400" dirty="0"/>
          </a:p>
          <a:p>
            <a:pPr marL="0" indent="0">
              <a:buNone/>
            </a:pPr>
            <a:r>
              <a:rPr lang="en-US" sz="1400" dirty="0">
                <a:solidFill>
                  <a:schemeClr val="tx1"/>
                </a:solidFill>
              </a:rPr>
              <a:t>Pessimist: “It is all my fault.”</a:t>
            </a:r>
            <a:endParaRPr lang="en-US" sz="1400" dirty="0"/>
          </a:p>
          <a:p>
            <a:pPr marL="0" indent="0">
              <a:buNone/>
            </a:pPr>
            <a:r>
              <a:rPr lang="en-US" sz="1400" dirty="0">
                <a:solidFill>
                  <a:schemeClr val="tx1"/>
                </a:solidFill>
              </a:rPr>
              <a:t>Optimist: “Several factors played a part.”</a:t>
            </a:r>
            <a:endParaRPr lang="en-US" sz="1400" dirty="0"/>
          </a:p>
        </p:txBody>
      </p:sp>
      <p:sp>
        <p:nvSpPr>
          <p:cNvPr id="15" name="activity-card-253"/>
          <p:cNvSpPr/>
          <p:nvPr/>
        </p:nvSpPr>
        <p:spPr>
          <a:xfrm>
            <a:off x="6217920" y="1280160"/>
            <a:ext cx="2468880" cy="3063240"/>
          </a:xfrm>
          <a:prstGeom prst="roundRect">
            <a:avLst>
              <a:gd name="adj" fmla="val 2963"/>
            </a:avLst>
          </a:prstGeom>
          <a:solidFill>
            <a:schemeClr val="tx2"/>
          </a:solidFill>
          <a:ln/>
        </p:spPr>
        <p:txBody>
          <a:bodyPr/>
          <a:lstStyle/>
          <a:p>
            <a:endParaRPr lang="en-US"/>
          </a:p>
        </p:txBody>
      </p:sp>
      <p:sp>
        <p:nvSpPr>
          <p:cNvPr id="16" name="text-254"/>
          <p:cNvSpPr txBox="1"/>
          <p:nvPr/>
        </p:nvSpPr>
        <p:spPr>
          <a:xfrm>
            <a:off x="6400800" y="1463040"/>
            <a:ext cx="2103120" cy="274320"/>
          </a:xfrm>
          <a:prstGeom prst="rect">
            <a:avLst/>
          </a:prstGeom>
          <a:noFill/>
          <a:ln/>
        </p:spPr>
        <p:txBody>
          <a:bodyPr wrap="square" lIns="0" tIns="0" rIns="0" bIns="0" rtlCol="0" anchor="t"/>
          <a:lstStyle/>
          <a:p>
            <a:pPr marL="0" indent="0">
              <a:buNone/>
            </a:pPr>
            <a:r>
              <a:rPr lang="en-US" sz="1400" b="1" dirty="0">
                <a:solidFill>
                  <a:schemeClr val="accent1"/>
                </a:solidFill>
              </a:rPr>
              <a:t>ACTIVITY  |  4 MIN</a:t>
            </a:r>
            <a:endParaRPr lang="en-US" sz="1400" dirty="0"/>
          </a:p>
        </p:txBody>
      </p:sp>
      <p:sp>
        <p:nvSpPr>
          <p:cNvPr id="17" name="text-255"/>
          <p:cNvSpPr txBox="1"/>
          <p:nvPr/>
        </p:nvSpPr>
        <p:spPr>
          <a:xfrm>
            <a:off x="6400800" y="1874520"/>
            <a:ext cx="2103120" cy="822960"/>
          </a:xfrm>
          <a:prstGeom prst="rect">
            <a:avLst/>
          </a:prstGeom>
          <a:noFill/>
          <a:ln/>
        </p:spPr>
        <p:txBody>
          <a:bodyPr wrap="square" lIns="0" tIns="0" rIns="0" bIns="0" rtlCol="0" anchor="t"/>
          <a:lstStyle/>
          <a:p>
            <a:pPr marL="0" indent="0">
              <a:buNone/>
            </a:pPr>
            <a:r>
              <a:rPr lang="en-US" sz="1700" b="1" dirty="0">
                <a:solidFill>
                  <a:schemeClr val="bg1"/>
                </a:solidFill>
              </a:rPr>
              <a:t>Write down one recent setback.</a:t>
            </a:r>
            <a:endParaRPr lang="en-US" sz="1700" dirty="0"/>
          </a:p>
        </p:txBody>
      </p:sp>
      <p:sp>
        <p:nvSpPr>
          <p:cNvPr id="18" name="text-256"/>
          <p:cNvSpPr txBox="1"/>
          <p:nvPr/>
        </p:nvSpPr>
        <p:spPr>
          <a:xfrm>
            <a:off x="6400800" y="2834640"/>
            <a:ext cx="2103120" cy="1280160"/>
          </a:xfrm>
          <a:prstGeom prst="rect">
            <a:avLst/>
          </a:prstGeom>
          <a:noFill/>
          <a:ln/>
        </p:spPr>
        <p:txBody>
          <a:bodyPr wrap="square" lIns="0" tIns="0" rIns="0" bIns="0" rtlCol="0" anchor="t"/>
          <a:lstStyle/>
          <a:p>
            <a:pPr marL="0" indent="0">
              <a:buNone/>
            </a:pPr>
            <a:r>
              <a:rPr lang="en-US" sz="1600" dirty="0">
                <a:solidFill>
                  <a:schemeClr val="bg1"/>
                </a:solidFill>
              </a:rPr>
              <a:t>Then rewrite your explanation of it using the 3 Ps.</a:t>
            </a:r>
            <a:endParaRPr lang="en-US" sz="1600" dirty="0"/>
          </a:p>
        </p:txBody>
      </p:sp>
      <p:sp>
        <p:nvSpPr>
          <p:cNvPr id="19" name="text-257"/>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200" i="1" dirty="0">
                <a:solidFill>
                  <a:schemeClr val="tx2"/>
                </a:solidFill>
              </a:rPr>
              <a:t>Seligman, Learned Optimism (1990). For good events, flip it: permanent, pervasive, personal.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Flow: challenge meets skill</a:t>
            </a:r>
            <a:endParaRPr lang="en-US" sz="3000" dirty="0"/>
          </a:p>
        </p:txBody>
      </p:sp>
      <p:sp>
        <p:nvSpPr>
          <p:cNvPr id="3" name="quadrant-258"/>
          <p:cNvSpPr/>
          <p:nvPr/>
        </p:nvSpPr>
        <p:spPr>
          <a:xfrm>
            <a:off x="868680" y="1280160"/>
            <a:ext cx="1828800" cy="1463040"/>
          </a:xfrm>
          <a:prstGeom prst="rect">
            <a:avLst/>
          </a:prstGeom>
          <a:solidFill>
            <a:schemeClr val="accent2"/>
          </a:solidFill>
          <a:ln w="25400">
            <a:solidFill>
              <a:schemeClr val="bg1"/>
            </a:solidFill>
            <a:prstDash val="solid"/>
          </a:ln>
        </p:spPr>
        <p:txBody>
          <a:bodyPr/>
          <a:lstStyle/>
          <a:p>
            <a:endParaRPr lang="en-US"/>
          </a:p>
        </p:txBody>
      </p:sp>
      <p:sp>
        <p:nvSpPr>
          <p:cNvPr id="4" name="text-259"/>
          <p:cNvSpPr txBox="1"/>
          <p:nvPr/>
        </p:nvSpPr>
        <p:spPr>
          <a:xfrm>
            <a:off x="1005840" y="1371600"/>
            <a:ext cx="1554480" cy="1280160"/>
          </a:xfrm>
          <a:prstGeom prst="rect">
            <a:avLst/>
          </a:prstGeom>
          <a:noFill/>
          <a:ln/>
        </p:spPr>
        <p:txBody>
          <a:bodyPr wrap="square" lIns="0" tIns="0" rIns="0" bIns="0" rtlCol="0" anchor="ctr"/>
          <a:lstStyle/>
          <a:p>
            <a:pPr marL="0" indent="0">
              <a:buNone/>
            </a:pPr>
            <a:r>
              <a:rPr lang="en-US" sz="2000" b="1" dirty="0">
                <a:solidFill>
                  <a:schemeClr val="bg1"/>
                </a:solidFill>
              </a:rPr>
              <a:t>Anxiety</a:t>
            </a:r>
            <a:endParaRPr lang="en-US" sz="1400" dirty="0"/>
          </a:p>
          <a:p>
            <a:pPr marL="0" indent="0">
              <a:buNone/>
            </a:pPr>
            <a:r>
              <a:rPr lang="en-US" sz="1400" dirty="0">
                <a:solidFill>
                  <a:schemeClr val="bg1"/>
                </a:solidFill>
              </a:rPr>
              <a:t>Too hard for current skill</a:t>
            </a:r>
            <a:endParaRPr lang="en-US" sz="1400" dirty="0"/>
          </a:p>
        </p:txBody>
      </p:sp>
      <p:sp>
        <p:nvSpPr>
          <p:cNvPr id="5" name="quadrant-260"/>
          <p:cNvSpPr/>
          <p:nvPr/>
        </p:nvSpPr>
        <p:spPr>
          <a:xfrm>
            <a:off x="2697480" y="1280160"/>
            <a:ext cx="1828800" cy="1463040"/>
          </a:xfrm>
          <a:prstGeom prst="rect">
            <a:avLst/>
          </a:prstGeom>
          <a:solidFill>
            <a:schemeClr val="tx2"/>
          </a:solidFill>
          <a:ln w="25400">
            <a:solidFill>
              <a:schemeClr val="bg1"/>
            </a:solidFill>
            <a:prstDash val="solid"/>
          </a:ln>
        </p:spPr>
        <p:txBody>
          <a:bodyPr/>
          <a:lstStyle/>
          <a:p>
            <a:endParaRPr lang="en-US"/>
          </a:p>
        </p:txBody>
      </p:sp>
      <p:sp>
        <p:nvSpPr>
          <p:cNvPr id="6" name="text-261"/>
          <p:cNvSpPr txBox="1"/>
          <p:nvPr/>
        </p:nvSpPr>
        <p:spPr>
          <a:xfrm>
            <a:off x="2834640" y="1371600"/>
            <a:ext cx="1554480" cy="1280160"/>
          </a:xfrm>
          <a:prstGeom prst="rect">
            <a:avLst/>
          </a:prstGeom>
          <a:noFill/>
          <a:ln/>
        </p:spPr>
        <p:txBody>
          <a:bodyPr wrap="square" lIns="0" tIns="0" rIns="0" bIns="0" rtlCol="0" anchor="ctr"/>
          <a:lstStyle/>
          <a:p>
            <a:pPr marL="0" indent="0">
              <a:buNone/>
            </a:pPr>
            <a:r>
              <a:rPr lang="en-US" sz="2000" b="1" dirty="0">
                <a:solidFill>
                  <a:schemeClr val="bg1"/>
                </a:solidFill>
              </a:rPr>
              <a:t>Flow</a:t>
            </a:r>
            <a:endParaRPr lang="en-US" sz="1400" dirty="0"/>
          </a:p>
          <a:p>
            <a:pPr marL="0" indent="0">
              <a:buNone/>
            </a:pPr>
            <a:r>
              <a:rPr lang="en-US" sz="1400" dirty="0">
                <a:solidFill>
                  <a:schemeClr val="bg1"/>
                </a:solidFill>
              </a:rPr>
              <a:t>Stretch that matches skill</a:t>
            </a:r>
            <a:endParaRPr lang="en-US" sz="1400" dirty="0"/>
          </a:p>
        </p:txBody>
      </p:sp>
      <p:sp>
        <p:nvSpPr>
          <p:cNvPr id="7" name="quadrant-262"/>
          <p:cNvSpPr/>
          <p:nvPr/>
        </p:nvSpPr>
        <p:spPr>
          <a:xfrm>
            <a:off x="868680" y="2743200"/>
            <a:ext cx="1828800" cy="1463040"/>
          </a:xfrm>
          <a:prstGeom prst="rect">
            <a:avLst/>
          </a:prstGeom>
          <a:solidFill>
            <a:schemeClr val="bg2"/>
          </a:solidFill>
          <a:ln w="25400">
            <a:solidFill>
              <a:schemeClr val="bg1"/>
            </a:solidFill>
            <a:prstDash val="solid"/>
          </a:ln>
        </p:spPr>
        <p:txBody>
          <a:bodyPr/>
          <a:lstStyle/>
          <a:p>
            <a:endParaRPr lang="en-US"/>
          </a:p>
        </p:txBody>
      </p:sp>
      <p:sp>
        <p:nvSpPr>
          <p:cNvPr id="8" name="text-263"/>
          <p:cNvSpPr txBox="1"/>
          <p:nvPr/>
        </p:nvSpPr>
        <p:spPr>
          <a:xfrm>
            <a:off x="1005840" y="2834640"/>
            <a:ext cx="1554480" cy="1280160"/>
          </a:xfrm>
          <a:prstGeom prst="rect">
            <a:avLst/>
          </a:prstGeom>
          <a:noFill/>
          <a:ln/>
        </p:spPr>
        <p:txBody>
          <a:bodyPr wrap="square" lIns="0" tIns="0" rIns="0" bIns="0" rtlCol="0" anchor="ctr"/>
          <a:lstStyle/>
          <a:p>
            <a:pPr marL="0" indent="0">
              <a:buNone/>
            </a:pPr>
            <a:r>
              <a:rPr lang="en-US" sz="2000" b="1" dirty="0">
                <a:solidFill>
                  <a:schemeClr val="tx2"/>
                </a:solidFill>
              </a:rPr>
              <a:t>Apathy</a:t>
            </a:r>
            <a:endParaRPr lang="en-US" sz="1400" dirty="0"/>
          </a:p>
          <a:p>
            <a:pPr marL="0" indent="0">
              <a:buNone/>
            </a:pPr>
            <a:r>
              <a:rPr lang="en-US" sz="1400" dirty="0">
                <a:solidFill>
                  <a:schemeClr val="tx2"/>
                </a:solidFill>
              </a:rPr>
              <a:t>Little challenge, little skill</a:t>
            </a:r>
            <a:endParaRPr lang="en-US" sz="1400" dirty="0"/>
          </a:p>
        </p:txBody>
      </p:sp>
      <p:sp>
        <p:nvSpPr>
          <p:cNvPr id="9" name="quadrant-264"/>
          <p:cNvSpPr/>
          <p:nvPr/>
        </p:nvSpPr>
        <p:spPr>
          <a:xfrm>
            <a:off x="2697480" y="2743200"/>
            <a:ext cx="1828800" cy="1463040"/>
          </a:xfrm>
          <a:prstGeom prst="rect">
            <a:avLst/>
          </a:prstGeom>
          <a:solidFill>
            <a:schemeClr val="accent6"/>
          </a:solidFill>
          <a:ln w="25400">
            <a:solidFill>
              <a:schemeClr val="bg1"/>
            </a:solidFill>
            <a:prstDash val="solid"/>
          </a:ln>
        </p:spPr>
        <p:txBody>
          <a:bodyPr/>
          <a:lstStyle/>
          <a:p>
            <a:endParaRPr lang="en-US"/>
          </a:p>
        </p:txBody>
      </p:sp>
      <p:sp>
        <p:nvSpPr>
          <p:cNvPr id="10" name="text-265"/>
          <p:cNvSpPr txBox="1"/>
          <p:nvPr/>
        </p:nvSpPr>
        <p:spPr>
          <a:xfrm>
            <a:off x="2834640" y="2834640"/>
            <a:ext cx="1554480" cy="1280160"/>
          </a:xfrm>
          <a:prstGeom prst="rect">
            <a:avLst/>
          </a:prstGeom>
          <a:noFill/>
          <a:ln/>
        </p:spPr>
        <p:txBody>
          <a:bodyPr wrap="square" lIns="0" tIns="0" rIns="0" bIns="0" rtlCol="0" anchor="ctr"/>
          <a:lstStyle/>
          <a:p>
            <a:pPr marL="0" indent="0">
              <a:buNone/>
            </a:pPr>
            <a:r>
              <a:rPr lang="en-US" sz="2000" b="1" dirty="0">
                <a:solidFill>
                  <a:schemeClr val="bg1"/>
                </a:solidFill>
              </a:rPr>
              <a:t>Boredom</a:t>
            </a:r>
            <a:endParaRPr lang="en-US" sz="1400" dirty="0"/>
          </a:p>
          <a:p>
            <a:pPr marL="0" indent="0">
              <a:buNone/>
            </a:pPr>
            <a:r>
              <a:rPr lang="en-US" sz="1400" dirty="0">
                <a:solidFill>
                  <a:schemeClr val="bg1"/>
                </a:solidFill>
              </a:rPr>
              <a:t>Skill outruns challenge</a:t>
            </a:r>
            <a:endParaRPr lang="en-US" sz="1400" dirty="0"/>
          </a:p>
        </p:txBody>
      </p:sp>
      <p:sp>
        <p:nvSpPr>
          <p:cNvPr id="11" name="text-266"/>
          <p:cNvSpPr txBox="1"/>
          <p:nvPr/>
        </p:nvSpPr>
        <p:spPr>
          <a:xfrm>
            <a:off x="411480" y="1280160"/>
            <a:ext cx="365760" cy="2926080"/>
          </a:xfrm>
          <a:prstGeom prst="rect">
            <a:avLst/>
          </a:prstGeom>
          <a:noFill/>
          <a:ln/>
        </p:spPr>
        <p:txBody>
          <a:bodyPr vert="vert270" wrap="square" lIns="0" tIns="0" rIns="0" bIns="0" rtlCol="0" anchor="ctr"/>
          <a:lstStyle/>
          <a:p>
            <a:pPr marL="0" indent="0" algn="ctr">
              <a:buNone/>
            </a:pPr>
            <a:r>
              <a:rPr lang="en-US" sz="1400" b="1" dirty="0">
                <a:solidFill>
                  <a:schemeClr val="tx2"/>
                </a:solidFill>
              </a:rPr>
              <a:t>Challenge  →</a:t>
            </a:r>
            <a:endParaRPr lang="en-US" sz="1400" dirty="0"/>
          </a:p>
        </p:txBody>
      </p:sp>
      <p:sp>
        <p:nvSpPr>
          <p:cNvPr id="12" name="text-267"/>
          <p:cNvSpPr txBox="1"/>
          <p:nvPr/>
        </p:nvSpPr>
        <p:spPr>
          <a:xfrm>
            <a:off x="868680" y="4279392"/>
            <a:ext cx="3657600" cy="274320"/>
          </a:xfrm>
          <a:prstGeom prst="rect">
            <a:avLst/>
          </a:prstGeom>
          <a:noFill/>
          <a:ln/>
        </p:spPr>
        <p:txBody>
          <a:bodyPr wrap="square" lIns="0" tIns="0" rIns="0" bIns="0" rtlCol="0" anchor="t"/>
          <a:lstStyle/>
          <a:p>
            <a:pPr marL="0" indent="0" algn="ctr">
              <a:buNone/>
            </a:pPr>
            <a:r>
              <a:rPr lang="en-US" sz="1400" b="1" dirty="0">
                <a:solidFill>
                  <a:schemeClr val="tx2"/>
                </a:solidFill>
              </a:rPr>
              <a:t>Skill  →</a:t>
            </a:r>
            <a:endParaRPr lang="en-US" sz="1400" dirty="0"/>
          </a:p>
        </p:txBody>
      </p:sp>
      <p:sp>
        <p:nvSpPr>
          <p:cNvPr id="13" name="text-268"/>
          <p:cNvSpPr txBox="1"/>
          <p:nvPr/>
        </p:nvSpPr>
        <p:spPr>
          <a:xfrm>
            <a:off x="5029200" y="1280160"/>
            <a:ext cx="3657600" cy="365760"/>
          </a:xfrm>
          <a:prstGeom prst="rect">
            <a:avLst/>
          </a:prstGeom>
          <a:noFill/>
          <a:ln/>
        </p:spPr>
        <p:txBody>
          <a:bodyPr wrap="square" lIns="0" tIns="0" rIns="0" bIns="0" rtlCol="0" anchor="t"/>
          <a:lstStyle/>
          <a:p>
            <a:pPr marL="0" indent="0">
              <a:buNone/>
            </a:pPr>
            <a:r>
              <a:rPr lang="en-US" sz="2200" b="1" dirty="0">
                <a:solidFill>
                  <a:schemeClr val="tx2"/>
                </a:solidFill>
              </a:rPr>
              <a:t>The leader’s job</a:t>
            </a:r>
            <a:endParaRPr lang="en-US" sz="2200" dirty="0"/>
          </a:p>
        </p:txBody>
      </p:sp>
      <p:sp>
        <p:nvSpPr>
          <p:cNvPr id="14" name="text-269"/>
          <p:cNvSpPr txBox="1"/>
          <p:nvPr/>
        </p:nvSpPr>
        <p:spPr>
          <a:xfrm>
            <a:off x="5029200" y="1828800"/>
            <a:ext cx="3657600" cy="173736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chemeClr val="tx1"/>
                </a:solidFill>
              </a:rPr>
              <a:t>Set stretch goals with clear targets</a:t>
            </a:r>
            <a:endParaRPr lang="en-US" sz="1700" dirty="0"/>
          </a:p>
          <a:p>
            <a:pPr marL="342900" indent="-342900">
              <a:spcAft>
                <a:spcPts val="1000"/>
              </a:spcAft>
              <a:buSzPct val="100000"/>
              <a:buChar char="•"/>
            </a:pPr>
            <a:r>
              <a:rPr lang="en-US" sz="1700" dirty="0">
                <a:solidFill>
                  <a:schemeClr val="tx1"/>
                </a:solidFill>
              </a:rPr>
              <a:t>Give fast, specific feedback</a:t>
            </a:r>
            <a:endParaRPr lang="en-US" sz="1700" dirty="0"/>
          </a:p>
          <a:p>
            <a:pPr marL="342900" indent="-342900">
              <a:spcAft>
                <a:spcPts val="1000"/>
              </a:spcAft>
              <a:buSzPct val="100000"/>
              <a:buChar char="•"/>
            </a:pPr>
            <a:r>
              <a:rPr lang="en-US" sz="1700" dirty="0">
                <a:solidFill>
                  <a:schemeClr val="tx1"/>
                </a:solidFill>
              </a:rPr>
              <a:t>Protect focus time from interruptions</a:t>
            </a:r>
            <a:endParaRPr lang="en-US" sz="1700" dirty="0"/>
          </a:p>
        </p:txBody>
      </p:sp>
      <p:sp>
        <p:nvSpPr>
          <p:cNvPr id="15" name="text-270"/>
          <p:cNvSpPr txBox="1"/>
          <p:nvPr/>
        </p:nvSpPr>
        <p:spPr>
          <a:xfrm>
            <a:off x="5029200" y="3840480"/>
            <a:ext cx="3657600" cy="365760"/>
          </a:xfrm>
          <a:prstGeom prst="rect">
            <a:avLst/>
          </a:prstGeom>
          <a:noFill/>
          <a:ln/>
        </p:spPr>
        <p:txBody>
          <a:bodyPr wrap="square" lIns="0" tIns="0" rIns="0" bIns="0" rtlCol="0" anchor="t"/>
          <a:lstStyle/>
          <a:p>
            <a:pPr marL="0" indent="0">
              <a:buNone/>
            </a:pPr>
            <a:r>
              <a:rPr lang="en-US" sz="1200" i="1" dirty="0">
                <a:solidFill>
                  <a:schemeClr val="tx2"/>
                </a:solidFill>
              </a:rPr>
              <a:t>Csikszentmihalyi, Flow (1990). Simplified model.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Psychological safety comes first</a:t>
            </a:r>
            <a:endParaRPr lang="en-US" sz="3000" dirty="0"/>
          </a:p>
        </p:txBody>
      </p:sp>
      <p:sp>
        <p:nvSpPr>
          <p:cNvPr id="3" name="stat-card-271"/>
          <p:cNvSpPr/>
          <p:nvPr/>
        </p:nvSpPr>
        <p:spPr>
          <a:xfrm>
            <a:off x="457200" y="1280160"/>
            <a:ext cx="3017520" cy="3063240"/>
          </a:xfrm>
          <a:prstGeom prst="roundRect">
            <a:avLst>
              <a:gd name="adj" fmla="val 2424"/>
            </a:avLst>
          </a:prstGeom>
          <a:solidFill>
            <a:schemeClr val="tx2"/>
          </a:solidFill>
          <a:ln/>
        </p:spPr>
        <p:txBody>
          <a:bodyPr/>
          <a:lstStyle/>
          <a:p>
            <a:endParaRPr lang="en-US"/>
          </a:p>
        </p:txBody>
      </p:sp>
      <p:sp>
        <p:nvSpPr>
          <p:cNvPr id="4" name="text-272"/>
          <p:cNvSpPr txBox="1"/>
          <p:nvPr/>
        </p:nvSpPr>
        <p:spPr>
          <a:xfrm>
            <a:off x="640080" y="1463040"/>
            <a:ext cx="2651760" cy="1097280"/>
          </a:xfrm>
          <a:prstGeom prst="rect">
            <a:avLst/>
          </a:prstGeom>
          <a:noFill/>
          <a:ln/>
        </p:spPr>
        <p:txBody>
          <a:bodyPr wrap="square" lIns="0" tIns="0" rIns="0" bIns="0" rtlCol="0" anchor="ctr"/>
          <a:lstStyle/>
          <a:p>
            <a:pPr marL="0" indent="0" algn="ctr">
              <a:buNone/>
            </a:pPr>
            <a:r>
              <a:rPr lang="en-US" sz="7200" b="1" dirty="0">
                <a:solidFill>
                  <a:schemeClr val="accent1"/>
                </a:solidFill>
              </a:rPr>
              <a:t>#1</a:t>
            </a:r>
            <a:endParaRPr lang="en-US" sz="7200" dirty="0"/>
          </a:p>
        </p:txBody>
      </p:sp>
      <p:sp>
        <p:nvSpPr>
          <p:cNvPr id="5" name="text-273"/>
          <p:cNvSpPr txBox="1"/>
          <p:nvPr/>
        </p:nvSpPr>
        <p:spPr>
          <a:xfrm>
            <a:off x="731520" y="2697480"/>
            <a:ext cx="2468880" cy="1097280"/>
          </a:xfrm>
          <a:prstGeom prst="rect">
            <a:avLst/>
          </a:prstGeom>
          <a:noFill/>
          <a:ln/>
        </p:spPr>
        <p:txBody>
          <a:bodyPr wrap="square" lIns="0" tIns="0" rIns="0" bIns="0" rtlCol="0" anchor="t"/>
          <a:lstStyle/>
          <a:p>
            <a:pPr marL="0" indent="0" algn="ctr">
              <a:buNone/>
            </a:pPr>
            <a:r>
              <a:rPr lang="en-US" sz="1600" dirty="0">
                <a:solidFill>
                  <a:schemeClr val="bg1"/>
                </a:solidFill>
              </a:rPr>
              <a:t>factor in effective teams in Google’s Project Aristotle research</a:t>
            </a:r>
            <a:endParaRPr lang="en-US" sz="1600" dirty="0"/>
          </a:p>
        </p:txBody>
      </p:sp>
      <p:sp>
        <p:nvSpPr>
          <p:cNvPr id="6" name="text-274"/>
          <p:cNvSpPr txBox="1"/>
          <p:nvPr/>
        </p:nvSpPr>
        <p:spPr>
          <a:xfrm>
            <a:off x="731520" y="3840480"/>
            <a:ext cx="2468880" cy="274320"/>
          </a:xfrm>
          <a:prstGeom prst="rect">
            <a:avLst/>
          </a:prstGeom>
          <a:noFill/>
          <a:ln/>
        </p:spPr>
        <p:txBody>
          <a:bodyPr wrap="square" lIns="0" tIns="0" rIns="0" bIns="0" rtlCol="0" anchor="t"/>
          <a:lstStyle/>
          <a:p>
            <a:pPr marL="0" indent="0" algn="ctr">
              <a:buNone/>
            </a:pPr>
            <a:r>
              <a:rPr lang="en-US" sz="1200" i="1" dirty="0">
                <a:solidFill>
                  <a:schemeClr val="bg1"/>
                </a:solidFill>
              </a:rPr>
              <a:t>2015</a:t>
            </a:r>
            <a:endParaRPr lang="en-US" sz="1200" dirty="0"/>
          </a:p>
        </p:txBody>
      </p:sp>
      <p:sp>
        <p:nvSpPr>
          <p:cNvPr id="7" name="safety-row-275"/>
          <p:cNvSpPr/>
          <p:nvPr/>
        </p:nvSpPr>
        <p:spPr>
          <a:xfrm>
            <a:off x="3749040" y="1280160"/>
            <a:ext cx="4937760" cy="704088"/>
          </a:xfrm>
          <a:prstGeom prst="roundRect">
            <a:avLst>
              <a:gd name="adj" fmla="val 10390"/>
            </a:avLst>
          </a:prstGeom>
          <a:solidFill>
            <a:schemeClr val="bg2"/>
          </a:solidFill>
          <a:ln/>
        </p:spPr>
        <p:txBody>
          <a:bodyPr/>
          <a:lstStyle/>
          <a:p>
            <a:endParaRPr lang="en-US"/>
          </a:p>
        </p:txBody>
      </p:sp>
      <p:sp>
        <p:nvSpPr>
          <p:cNvPr id="8" name="circle-276"/>
          <p:cNvSpPr/>
          <p:nvPr/>
        </p:nvSpPr>
        <p:spPr>
          <a:xfrm>
            <a:off x="3886200" y="1371600"/>
            <a:ext cx="521208" cy="521208"/>
          </a:xfrm>
          <a:prstGeom prst="ellipse">
            <a:avLst/>
          </a:prstGeom>
          <a:solidFill>
            <a:srgbClr val="1F8A8A"/>
          </a:solidFill>
          <a:ln/>
        </p:spPr>
        <p:txBody>
          <a:bodyPr/>
          <a:lstStyle/>
          <a:p>
            <a:endParaRPr lang="en-US"/>
          </a:p>
        </p:txBody>
      </p:sp>
      <p:pic>
        <p:nvPicPr>
          <p:cNvPr id="9" name="icon-277" descr="icon"/>
          <p:cNvPicPr>
            <a:picLocks noChangeAspect="1"/>
          </p:cNvPicPr>
          <p:nvPr/>
        </p:nvPicPr>
        <p:blipFill>
          <a:blip r:embed="rId3"/>
          <a:stretch>
            <a:fillRect/>
          </a:stretch>
        </p:blipFill>
        <p:spPr>
          <a:xfrm>
            <a:off x="4011290" y="1496690"/>
            <a:ext cx="271028" cy="271028"/>
          </a:xfrm>
          <a:prstGeom prst="rect">
            <a:avLst/>
          </a:prstGeom>
        </p:spPr>
      </p:pic>
      <p:sp>
        <p:nvSpPr>
          <p:cNvPr id="10" name="text-278"/>
          <p:cNvSpPr txBox="1"/>
          <p:nvPr/>
        </p:nvSpPr>
        <p:spPr>
          <a:xfrm>
            <a:off x="4572000" y="1280160"/>
            <a:ext cx="4023360" cy="704088"/>
          </a:xfrm>
          <a:prstGeom prst="rect">
            <a:avLst/>
          </a:prstGeom>
          <a:noFill/>
          <a:ln/>
        </p:spPr>
        <p:txBody>
          <a:bodyPr wrap="square" lIns="0" tIns="0" rIns="0" bIns="0" rtlCol="0" anchor="ctr"/>
          <a:lstStyle/>
          <a:p>
            <a:pPr marL="0" indent="0">
              <a:buNone/>
            </a:pPr>
            <a:r>
              <a:rPr lang="en-US" sz="1600" dirty="0">
                <a:solidFill>
                  <a:schemeClr val="tx1"/>
                </a:solidFill>
              </a:rPr>
              <a:t>Go first: admit your own mistakes</a:t>
            </a:r>
            <a:endParaRPr lang="en-US" sz="1600" dirty="0"/>
          </a:p>
        </p:txBody>
      </p:sp>
      <p:sp>
        <p:nvSpPr>
          <p:cNvPr id="11" name="safety-row-279"/>
          <p:cNvSpPr/>
          <p:nvPr/>
        </p:nvSpPr>
        <p:spPr>
          <a:xfrm>
            <a:off x="3749040" y="2066544"/>
            <a:ext cx="4937760" cy="704088"/>
          </a:xfrm>
          <a:prstGeom prst="roundRect">
            <a:avLst>
              <a:gd name="adj" fmla="val 10390"/>
            </a:avLst>
          </a:prstGeom>
          <a:solidFill>
            <a:schemeClr val="bg2"/>
          </a:solidFill>
          <a:ln/>
        </p:spPr>
        <p:txBody>
          <a:bodyPr/>
          <a:lstStyle/>
          <a:p>
            <a:endParaRPr lang="en-US"/>
          </a:p>
        </p:txBody>
      </p:sp>
      <p:sp>
        <p:nvSpPr>
          <p:cNvPr id="12" name="circle-280"/>
          <p:cNvSpPr/>
          <p:nvPr/>
        </p:nvSpPr>
        <p:spPr>
          <a:xfrm>
            <a:off x="3886200" y="2157984"/>
            <a:ext cx="521208" cy="521208"/>
          </a:xfrm>
          <a:prstGeom prst="ellipse">
            <a:avLst/>
          </a:prstGeom>
          <a:solidFill>
            <a:srgbClr val="C8452F"/>
          </a:solidFill>
          <a:ln/>
        </p:spPr>
        <p:txBody>
          <a:bodyPr/>
          <a:lstStyle/>
          <a:p>
            <a:endParaRPr lang="en-US"/>
          </a:p>
        </p:txBody>
      </p:sp>
      <p:pic>
        <p:nvPicPr>
          <p:cNvPr id="13" name="icon-281" descr="icon"/>
          <p:cNvPicPr>
            <a:picLocks noChangeAspect="1"/>
          </p:cNvPicPr>
          <p:nvPr/>
        </p:nvPicPr>
        <p:blipFill>
          <a:blip r:embed="rId4"/>
          <a:stretch>
            <a:fillRect/>
          </a:stretch>
        </p:blipFill>
        <p:spPr>
          <a:xfrm>
            <a:off x="4011290" y="2283074"/>
            <a:ext cx="271028" cy="271028"/>
          </a:xfrm>
          <a:prstGeom prst="rect">
            <a:avLst/>
          </a:prstGeom>
        </p:spPr>
      </p:pic>
      <p:sp>
        <p:nvSpPr>
          <p:cNvPr id="14" name="text-282"/>
          <p:cNvSpPr txBox="1"/>
          <p:nvPr/>
        </p:nvSpPr>
        <p:spPr>
          <a:xfrm>
            <a:off x="4572000" y="2066544"/>
            <a:ext cx="4023360" cy="704088"/>
          </a:xfrm>
          <a:prstGeom prst="rect">
            <a:avLst/>
          </a:prstGeom>
          <a:noFill/>
          <a:ln/>
        </p:spPr>
        <p:txBody>
          <a:bodyPr wrap="square" lIns="0" tIns="0" rIns="0" bIns="0" rtlCol="0" anchor="ctr"/>
          <a:lstStyle/>
          <a:p>
            <a:pPr marL="0" indent="0">
              <a:buNone/>
            </a:pPr>
            <a:r>
              <a:rPr lang="en-US" sz="1600" dirty="0">
                <a:solidFill>
                  <a:schemeClr val="tx1"/>
                </a:solidFill>
              </a:rPr>
              <a:t>Ask questions, then truly listen</a:t>
            </a:r>
            <a:endParaRPr lang="en-US" sz="1600" dirty="0"/>
          </a:p>
        </p:txBody>
      </p:sp>
      <p:sp>
        <p:nvSpPr>
          <p:cNvPr id="15" name="safety-row-283"/>
          <p:cNvSpPr/>
          <p:nvPr/>
        </p:nvSpPr>
        <p:spPr>
          <a:xfrm>
            <a:off x="3749040" y="2852928"/>
            <a:ext cx="4937760" cy="704088"/>
          </a:xfrm>
          <a:prstGeom prst="roundRect">
            <a:avLst>
              <a:gd name="adj" fmla="val 10390"/>
            </a:avLst>
          </a:prstGeom>
          <a:solidFill>
            <a:schemeClr val="bg2"/>
          </a:solidFill>
          <a:ln/>
        </p:spPr>
        <p:txBody>
          <a:bodyPr/>
          <a:lstStyle/>
          <a:p>
            <a:endParaRPr lang="en-US"/>
          </a:p>
        </p:txBody>
      </p:sp>
      <p:sp>
        <p:nvSpPr>
          <p:cNvPr id="16" name="circle-284"/>
          <p:cNvSpPr/>
          <p:nvPr/>
        </p:nvSpPr>
        <p:spPr>
          <a:xfrm>
            <a:off x="3886200" y="2944368"/>
            <a:ext cx="521208" cy="521208"/>
          </a:xfrm>
          <a:prstGeom prst="ellipse">
            <a:avLst/>
          </a:prstGeom>
          <a:solidFill>
            <a:srgbClr val="6B4FA0"/>
          </a:solidFill>
          <a:ln/>
        </p:spPr>
        <p:txBody>
          <a:bodyPr/>
          <a:lstStyle/>
          <a:p>
            <a:endParaRPr lang="en-US"/>
          </a:p>
        </p:txBody>
      </p:sp>
      <p:pic>
        <p:nvPicPr>
          <p:cNvPr id="17" name="icon-285" descr="icon"/>
          <p:cNvPicPr>
            <a:picLocks noChangeAspect="1"/>
          </p:cNvPicPr>
          <p:nvPr/>
        </p:nvPicPr>
        <p:blipFill>
          <a:blip r:embed="rId5"/>
          <a:stretch>
            <a:fillRect/>
          </a:stretch>
        </p:blipFill>
        <p:spPr>
          <a:xfrm>
            <a:off x="4011290" y="3069458"/>
            <a:ext cx="271028" cy="271028"/>
          </a:xfrm>
          <a:prstGeom prst="rect">
            <a:avLst/>
          </a:prstGeom>
        </p:spPr>
      </p:pic>
      <p:sp>
        <p:nvSpPr>
          <p:cNvPr id="18" name="text-286"/>
          <p:cNvSpPr txBox="1"/>
          <p:nvPr/>
        </p:nvSpPr>
        <p:spPr>
          <a:xfrm>
            <a:off x="4572000" y="2852928"/>
            <a:ext cx="4023360" cy="704088"/>
          </a:xfrm>
          <a:prstGeom prst="rect">
            <a:avLst/>
          </a:prstGeom>
          <a:noFill/>
          <a:ln/>
        </p:spPr>
        <p:txBody>
          <a:bodyPr wrap="square" lIns="0" tIns="0" rIns="0" bIns="0" rtlCol="0" anchor="ctr"/>
          <a:lstStyle/>
          <a:p>
            <a:pPr marL="0" indent="0">
              <a:buNone/>
            </a:pPr>
            <a:r>
              <a:rPr lang="en-US" sz="1600" dirty="0">
                <a:solidFill>
                  <a:schemeClr val="tx1"/>
                </a:solidFill>
              </a:rPr>
              <a:t>Thank people for bringing bad news</a:t>
            </a:r>
            <a:endParaRPr lang="en-US" sz="1600" dirty="0"/>
          </a:p>
        </p:txBody>
      </p:sp>
      <p:sp>
        <p:nvSpPr>
          <p:cNvPr id="19" name="safety-row-287"/>
          <p:cNvSpPr/>
          <p:nvPr/>
        </p:nvSpPr>
        <p:spPr>
          <a:xfrm>
            <a:off x="3749040" y="3639312"/>
            <a:ext cx="4937760" cy="704088"/>
          </a:xfrm>
          <a:prstGeom prst="roundRect">
            <a:avLst>
              <a:gd name="adj" fmla="val 10390"/>
            </a:avLst>
          </a:prstGeom>
          <a:solidFill>
            <a:schemeClr val="bg2"/>
          </a:solidFill>
          <a:ln/>
        </p:spPr>
        <p:txBody>
          <a:bodyPr/>
          <a:lstStyle/>
          <a:p>
            <a:endParaRPr lang="en-US"/>
          </a:p>
        </p:txBody>
      </p:sp>
      <p:sp>
        <p:nvSpPr>
          <p:cNvPr id="20" name="circle-288"/>
          <p:cNvSpPr/>
          <p:nvPr/>
        </p:nvSpPr>
        <p:spPr>
          <a:xfrm>
            <a:off x="3886200" y="3730752"/>
            <a:ext cx="521208" cy="521208"/>
          </a:xfrm>
          <a:prstGeom prst="ellipse">
            <a:avLst/>
          </a:prstGeom>
          <a:solidFill>
            <a:srgbClr val="3E8E5A"/>
          </a:solidFill>
          <a:ln/>
        </p:spPr>
        <p:txBody>
          <a:bodyPr/>
          <a:lstStyle/>
          <a:p>
            <a:endParaRPr lang="en-US"/>
          </a:p>
        </p:txBody>
      </p:sp>
      <p:pic>
        <p:nvPicPr>
          <p:cNvPr id="21" name="icon-289" descr="icon"/>
          <p:cNvPicPr>
            <a:picLocks noChangeAspect="1"/>
          </p:cNvPicPr>
          <p:nvPr/>
        </p:nvPicPr>
        <p:blipFill>
          <a:blip r:embed="rId6"/>
          <a:stretch>
            <a:fillRect/>
          </a:stretch>
        </p:blipFill>
        <p:spPr>
          <a:xfrm>
            <a:off x="4011290" y="3855842"/>
            <a:ext cx="271028" cy="271028"/>
          </a:xfrm>
          <a:prstGeom prst="rect">
            <a:avLst/>
          </a:prstGeom>
        </p:spPr>
      </p:pic>
      <p:sp>
        <p:nvSpPr>
          <p:cNvPr id="22" name="text-290"/>
          <p:cNvSpPr txBox="1"/>
          <p:nvPr/>
        </p:nvSpPr>
        <p:spPr>
          <a:xfrm>
            <a:off x="4572000" y="3639312"/>
            <a:ext cx="4023360" cy="704088"/>
          </a:xfrm>
          <a:prstGeom prst="rect">
            <a:avLst/>
          </a:prstGeom>
          <a:noFill/>
          <a:ln/>
        </p:spPr>
        <p:txBody>
          <a:bodyPr wrap="square" lIns="0" tIns="0" rIns="0" bIns="0" rtlCol="0" anchor="ctr"/>
          <a:lstStyle/>
          <a:p>
            <a:pPr marL="0" indent="0">
              <a:buNone/>
            </a:pPr>
            <a:r>
              <a:rPr lang="en-US" sz="1600" dirty="0">
                <a:solidFill>
                  <a:schemeClr val="tx1"/>
                </a:solidFill>
              </a:rPr>
              <a:t>Treat errors with curiosity, not blame</a:t>
            </a:r>
            <a:endParaRPr lang="en-US" sz="1600" dirty="0"/>
          </a:p>
        </p:txBody>
      </p:sp>
      <p:sp>
        <p:nvSpPr>
          <p:cNvPr id="23" name="text-291"/>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200" i="1" dirty="0">
                <a:solidFill>
                  <a:schemeClr val="tx2"/>
                </a:solidFill>
              </a:rPr>
              <a:t>Edmondson (1999): a shared belief that it is safe to take interpersonal risks.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Positive leadership: 4 strategies</a:t>
            </a:r>
            <a:endParaRPr lang="en-US" sz="3000" dirty="0"/>
          </a:p>
        </p:txBody>
      </p:sp>
      <p:sp>
        <p:nvSpPr>
          <p:cNvPr id="3" name="strategy-card-292"/>
          <p:cNvSpPr/>
          <p:nvPr/>
        </p:nvSpPr>
        <p:spPr>
          <a:xfrm>
            <a:off x="457200" y="1280160"/>
            <a:ext cx="3977640" cy="1508760"/>
          </a:xfrm>
          <a:prstGeom prst="roundRect">
            <a:avLst>
              <a:gd name="adj" fmla="val 4848"/>
            </a:avLst>
          </a:prstGeom>
          <a:solidFill>
            <a:schemeClr val="bg2"/>
          </a:solidFill>
          <a:ln/>
        </p:spPr>
        <p:txBody>
          <a:bodyPr/>
          <a:lstStyle/>
          <a:p>
            <a:endParaRPr lang="en-US"/>
          </a:p>
        </p:txBody>
      </p:sp>
      <p:sp>
        <p:nvSpPr>
          <p:cNvPr id="4" name="circle-293"/>
          <p:cNvSpPr/>
          <p:nvPr/>
        </p:nvSpPr>
        <p:spPr>
          <a:xfrm>
            <a:off x="685800" y="1508760"/>
            <a:ext cx="548640" cy="548640"/>
          </a:xfrm>
          <a:prstGeom prst="ellipse">
            <a:avLst/>
          </a:prstGeom>
          <a:solidFill>
            <a:srgbClr val="F5A623"/>
          </a:solidFill>
          <a:ln/>
        </p:spPr>
        <p:txBody>
          <a:bodyPr/>
          <a:lstStyle/>
          <a:p>
            <a:endParaRPr lang="en-US"/>
          </a:p>
        </p:txBody>
      </p:sp>
      <p:pic>
        <p:nvPicPr>
          <p:cNvPr id="5" name="icon-294" descr="icon"/>
          <p:cNvPicPr>
            <a:picLocks noChangeAspect="1"/>
          </p:cNvPicPr>
          <p:nvPr/>
        </p:nvPicPr>
        <p:blipFill>
          <a:blip r:embed="rId3"/>
          <a:stretch>
            <a:fillRect/>
          </a:stretch>
        </p:blipFill>
        <p:spPr>
          <a:xfrm>
            <a:off x="817474" y="1640434"/>
            <a:ext cx="285293" cy="285293"/>
          </a:xfrm>
          <a:prstGeom prst="rect">
            <a:avLst/>
          </a:prstGeom>
        </p:spPr>
      </p:pic>
      <p:sp>
        <p:nvSpPr>
          <p:cNvPr id="6" name="text-295"/>
          <p:cNvSpPr txBox="1"/>
          <p:nvPr/>
        </p:nvSpPr>
        <p:spPr>
          <a:xfrm>
            <a:off x="1417320" y="1508760"/>
            <a:ext cx="2834640" cy="548640"/>
          </a:xfrm>
          <a:prstGeom prst="rect">
            <a:avLst/>
          </a:prstGeom>
          <a:noFill/>
          <a:ln/>
        </p:spPr>
        <p:txBody>
          <a:bodyPr wrap="square" lIns="0" tIns="0" rIns="0" bIns="0" rtlCol="0" anchor="ctr"/>
          <a:lstStyle/>
          <a:p>
            <a:pPr marL="0" indent="0">
              <a:buNone/>
            </a:pPr>
            <a:r>
              <a:rPr lang="en-US" sz="1800" b="1" dirty="0">
                <a:solidFill>
                  <a:schemeClr val="tx2"/>
                </a:solidFill>
              </a:rPr>
              <a:t>Positive climate</a:t>
            </a:r>
            <a:endParaRPr lang="en-US" sz="1800" dirty="0"/>
          </a:p>
        </p:txBody>
      </p:sp>
      <p:sp>
        <p:nvSpPr>
          <p:cNvPr id="7" name="text-296"/>
          <p:cNvSpPr txBox="1"/>
          <p:nvPr/>
        </p:nvSpPr>
        <p:spPr>
          <a:xfrm>
            <a:off x="685800" y="2176272"/>
            <a:ext cx="3520440" cy="548640"/>
          </a:xfrm>
          <a:prstGeom prst="rect">
            <a:avLst/>
          </a:prstGeom>
          <a:noFill/>
          <a:ln/>
        </p:spPr>
        <p:txBody>
          <a:bodyPr wrap="square" lIns="0" tIns="0" rIns="0" bIns="0" rtlCol="0" anchor="t"/>
          <a:lstStyle/>
          <a:p>
            <a:pPr marL="0" indent="0">
              <a:buNone/>
            </a:pPr>
            <a:r>
              <a:rPr lang="en-US" sz="1400" dirty="0">
                <a:solidFill>
                  <a:schemeClr val="tx1"/>
                </a:solidFill>
              </a:rPr>
              <a:t>Gratitude, compassion, and forgiveness become normal, not rare</a:t>
            </a:r>
            <a:endParaRPr lang="en-US" sz="1400" dirty="0"/>
          </a:p>
        </p:txBody>
      </p:sp>
      <p:sp>
        <p:nvSpPr>
          <p:cNvPr id="8" name="strategy-card-297"/>
          <p:cNvSpPr/>
          <p:nvPr/>
        </p:nvSpPr>
        <p:spPr>
          <a:xfrm>
            <a:off x="4709160" y="1280160"/>
            <a:ext cx="3977640" cy="1508760"/>
          </a:xfrm>
          <a:prstGeom prst="roundRect">
            <a:avLst>
              <a:gd name="adj" fmla="val 4848"/>
            </a:avLst>
          </a:prstGeom>
          <a:solidFill>
            <a:schemeClr val="bg2"/>
          </a:solidFill>
          <a:ln/>
        </p:spPr>
        <p:txBody>
          <a:bodyPr/>
          <a:lstStyle/>
          <a:p>
            <a:endParaRPr lang="en-US"/>
          </a:p>
        </p:txBody>
      </p:sp>
      <p:sp>
        <p:nvSpPr>
          <p:cNvPr id="9" name="circle-298"/>
          <p:cNvSpPr/>
          <p:nvPr/>
        </p:nvSpPr>
        <p:spPr>
          <a:xfrm>
            <a:off x="4937760" y="1508760"/>
            <a:ext cx="548640" cy="548640"/>
          </a:xfrm>
          <a:prstGeom prst="ellipse">
            <a:avLst/>
          </a:prstGeom>
          <a:solidFill>
            <a:srgbClr val="1F8A8A"/>
          </a:solidFill>
          <a:ln/>
        </p:spPr>
        <p:txBody>
          <a:bodyPr/>
          <a:lstStyle/>
          <a:p>
            <a:endParaRPr lang="en-US"/>
          </a:p>
        </p:txBody>
      </p:sp>
      <p:pic>
        <p:nvPicPr>
          <p:cNvPr id="10" name="icon-299" descr="icon"/>
          <p:cNvPicPr>
            <a:picLocks noChangeAspect="1"/>
          </p:cNvPicPr>
          <p:nvPr/>
        </p:nvPicPr>
        <p:blipFill>
          <a:blip r:embed="rId4"/>
          <a:stretch>
            <a:fillRect/>
          </a:stretch>
        </p:blipFill>
        <p:spPr>
          <a:xfrm>
            <a:off x="5069434" y="1640434"/>
            <a:ext cx="285293" cy="285293"/>
          </a:xfrm>
          <a:prstGeom prst="rect">
            <a:avLst/>
          </a:prstGeom>
        </p:spPr>
      </p:pic>
      <p:sp>
        <p:nvSpPr>
          <p:cNvPr id="11" name="text-300"/>
          <p:cNvSpPr txBox="1"/>
          <p:nvPr/>
        </p:nvSpPr>
        <p:spPr>
          <a:xfrm>
            <a:off x="5669280" y="1508760"/>
            <a:ext cx="2834640" cy="548640"/>
          </a:xfrm>
          <a:prstGeom prst="rect">
            <a:avLst/>
          </a:prstGeom>
          <a:noFill/>
          <a:ln/>
        </p:spPr>
        <p:txBody>
          <a:bodyPr wrap="square" lIns="0" tIns="0" rIns="0" bIns="0" rtlCol="0" anchor="ctr"/>
          <a:lstStyle/>
          <a:p>
            <a:pPr marL="0" indent="0">
              <a:buNone/>
            </a:pPr>
            <a:r>
              <a:rPr lang="en-US" sz="1800" b="1" dirty="0">
                <a:solidFill>
                  <a:schemeClr val="tx2"/>
                </a:solidFill>
              </a:rPr>
              <a:t>Positive relationships</a:t>
            </a:r>
            <a:endParaRPr lang="en-US" sz="1800" dirty="0"/>
          </a:p>
        </p:txBody>
      </p:sp>
      <p:sp>
        <p:nvSpPr>
          <p:cNvPr id="12" name="text-301"/>
          <p:cNvSpPr txBox="1"/>
          <p:nvPr/>
        </p:nvSpPr>
        <p:spPr>
          <a:xfrm>
            <a:off x="4937760" y="2176272"/>
            <a:ext cx="3520440" cy="548640"/>
          </a:xfrm>
          <a:prstGeom prst="rect">
            <a:avLst/>
          </a:prstGeom>
          <a:noFill/>
          <a:ln/>
        </p:spPr>
        <p:txBody>
          <a:bodyPr wrap="square" lIns="0" tIns="0" rIns="0" bIns="0" rtlCol="0" anchor="t"/>
          <a:lstStyle/>
          <a:p>
            <a:pPr marL="0" indent="0">
              <a:buNone/>
            </a:pPr>
            <a:r>
              <a:rPr lang="en-US" sz="1400" dirty="0">
                <a:solidFill>
                  <a:schemeClr val="tx1"/>
                </a:solidFill>
              </a:rPr>
              <a:t>Build energizing networks; notice and use others’ strengths</a:t>
            </a:r>
            <a:endParaRPr lang="en-US" sz="1400" dirty="0"/>
          </a:p>
        </p:txBody>
      </p:sp>
      <p:sp>
        <p:nvSpPr>
          <p:cNvPr id="13" name="strategy-card-302"/>
          <p:cNvSpPr/>
          <p:nvPr/>
        </p:nvSpPr>
        <p:spPr>
          <a:xfrm>
            <a:off x="457200" y="2926080"/>
            <a:ext cx="3977640" cy="1508760"/>
          </a:xfrm>
          <a:prstGeom prst="roundRect">
            <a:avLst>
              <a:gd name="adj" fmla="val 4848"/>
            </a:avLst>
          </a:prstGeom>
          <a:solidFill>
            <a:schemeClr val="bg2"/>
          </a:solidFill>
          <a:ln/>
        </p:spPr>
        <p:txBody>
          <a:bodyPr/>
          <a:lstStyle/>
          <a:p>
            <a:endParaRPr lang="en-US"/>
          </a:p>
        </p:txBody>
      </p:sp>
      <p:sp>
        <p:nvSpPr>
          <p:cNvPr id="14" name="circle-303"/>
          <p:cNvSpPr/>
          <p:nvPr/>
        </p:nvSpPr>
        <p:spPr>
          <a:xfrm>
            <a:off x="685800" y="3154680"/>
            <a:ext cx="548640" cy="548640"/>
          </a:xfrm>
          <a:prstGeom prst="ellipse">
            <a:avLst/>
          </a:prstGeom>
          <a:solidFill>
            <a:srgbClr val="C8452F"/>
          </a:solidFill>
          <a:ln/>
        </p:spPr>
        <p:txBody>
          <a:bodyPr/>
          <a:lstStyle/>
          <a:p>
            <a:endParaRPr lang="en-US"/>
          </a:p>
        </p:txBody>
      </p:sp>
      <p:pic>
        <p:nvPicPr>
          <p:cNvPr id="15" name="icon-304" descr="icon"/>
          <p:cNvPicPr>
            <a:picLocks noChangeAspect="1"/>
          </p:cNvPicPr>
          <p:nvPr/>
        </p:nvPicPr>
        <p:blipFill>
          <a:blip r:embed="rId5"/>
          <a:stretch>
            <a:fillRect/>
          </a:stretch>
        </p:blipFill>
        <p:spPr>
          <a:xfrm>
            <a:off x="817474" y="3286354"/>
            <a:ext cx="285293" cy="285293"/>
          </a:xfrm>
          <a:prstGeom prst="rect">
            <a:avLst/>
          </a:prstGeom>
        </p:spPr>
      </p:pic>
      <p:sp>
        <p:nvSpPr>
          <p:cNvPr id="16" name="text-305"/>
          <p:cNvSpPr txBox="1"/>
          <p:nvPr/>
        </p:nvSpPr>
        <p:spPr>
          <a:xfrm>
            <a:off x="1417320" y="3154680"/>
            <a:ext cx="2834640" cy="548640"/>
          </a:xfrm>
          <a:prstGeom prst="rect">
            <a:avLst/>
          </a:prstGeom>
          <a:noFill/>
          <a:ln/>
        </p:spPr>
        <p:txBody>
          <a:bodyPr wrap="square" lIns="0" tIns="0" rIns="0" bIns="0" rtlCol="0" anchor="ctr"/>
          <a:lstStyle/>
          <a:p>
            <a:pPr marL="0" indent="0">
              <a:buNone/>
            </a:pPr>
            <a:r>
              <a:rPr lang="en-US" sz="1800" b="1" dirty="0">
                <a:solidFill>
                  <a:schemeClr val="tx2"/>
                </a:solidFill>
              </a:rPr>
              <a:t>Positive communication</a:t>
            </a:r>
            <a:endParaRPr lang="en-US" sz="1800" dirty="0"/>
          </a:p>
        </p:txBody>
      </p:sp>
      <p:sp>
        <p:nvSpPr>
          <p:cNvPr id="17" name="text-306"/>
          <p:cNvSpPr txBox="1"/>
          <p:nvPr/>
        </p:nvSpPr>
        <p:spPr>
          <a:xfrm>
            <a:off x="685800" y="3822192"/>
            <a:ext cx="3520440" cy="548640"/>
          </a:xfrm>
          <a:prstGeom prst="rect">
            <a:avLst/>
          </a:prstGeom>
          <a:noFill/>
          <a:ln/>
        </p:spPr>
        <p:txBody>
          <a:bodyPr wrap="square" lIns="0" tIns="0" rIns="0" bIns="0" rtlCol="0" anchor="t"/>
          <a:lstStyle/>
          <a:p>
            <a:pPr marL="0" indent="0">
              <a:buNone/>
            </a:pPr>
            <a:r>
              <a:rPr lang="en-US" sz="1400" dirty="0">
                <a:solidFill>
                  <a:schemeClr val="tx1"/>
                </a:solidFill>
              </a:rPr>
              <a:t>Supportive, best-self feedback; ask what went well first</a:t>
            </a:r>
            <a:endParaRPr lang="en-US" sz="1400" dirty="0"/>
          </a:p>
        </p:txBody>
      </p:sp>
      <p:sp>
        <p:nvSpPr>
          <p:cNvPr id="18" name="strategy-card-307"/>
          <p:cNvSpPr/>
          <p:nvPr/>
        </p:nvSpPr>
        <p:spPr>
          <a:xfrm>
            <a:off x="4709160" y="2926080"/>
            <a:ext cx="3977640" cy="1508760"/>
          </a:xfrm>
          <a:prstGeom prst="roundRect">
            <a:avLst>
              <a:gd name="adj" fmla="val 4848"/>
            </a:avLst>
          </a:prstGeom>
          <a:solidFill>
            <a:schemeClr val="bg2"/>
          </a:solidFill>
          <a:ln/>
        </p:spPr>
        <p:txBody>
          <a:bodyPr/>
          <a:lstStyle/>
          <a:p>
            <a:endParaRPr lang="en-US"/>
          </a:p>
        </p:txBody>
      </p:sp>
      <p:sp>
        <p:nvSpPr>
          <p:cNvPr id="19" name="circle-308"/>
          <p:cNvSpPr/>
          <p:nvPr/>
        </p:nvSpPr>
        <p:spPr>
          <a:xfrm>
            <a:off x="4937760" y="3154680"/>
            <a:ext cx="548640" cy="548640"/>
          </a:xfrm>
          <a:prstGeom prst="ellipse">
            <a:avLst/>
          </a:prstGeom>
          <a:solidFill>
            <a:srgbClr val="6B4FA0"/>
          </a:solidFill>
          <a:ln/>
        </p:spPr>
        <p:txBody>
          <a:bodyPr/>
          <a:lstStyle/>
          <a:p>
            <a:endParaRPr lang="en-US"/>
          </a:p>
        </p:txBody>
      </p:sp>
      <p:pic>
        <p:nvPicPr>
          <p:cNvPr id="20" name="icon-309" descr="icon"/>
          <p:cNvPicPr>
            <a:picLocks noChangeAspect="1"/>
          </p:cNvPicPr>
          <p:nvPr/>
        </p:nvPicPr>
        <p:blipFill>
          <a:blip r:embed="rId6"/>
          <a:stretch>
            <a:fillRect/>
          </a:stretch>
        </p:blipFill>
        <p:spPr>
          <a:xfrm>
            <a:off x="5069434" y="3286354"/>
            <a:ext cx="285293" cy="285293"/>
          </a:xfrm>
          <a:prstGeom prst="rect">
            <a:avLst/>
          </a:prstGeom>
        </p:spPr>
      </p:pic>
      <p:sp>
        <p:nvSpPr>
          <p:cNvPr id="21" name="text-310"/>
          <p:cNvSpPr txBox="1"/>
          <p:nvPr/>
        </p:nvSpPr>
        <p:spPr>
          <a:xfrm>
            <a:off x="5669280" y="3154680"/>
            <a:ext cx="2834640" cy="548640"/>
          </a:xfrm>
          <a:prstGeom prst="rect">
            <a:avLst/>
          </a:prstGeom>
          <a:noFill/>
          <a:ln/>
        </p:spPr>
        <p:txBody>
          <a:bodyPr wrap="square" lIns="0" tIns="0" rIns="0" bIns="0" rtlCol="0" anchor="ctr"/>
          <a:lstStyle/>
          <a:p>
            <a:pPr marL="0" indent="0">
              <a:buNone/>
            </a:pPr>
            <a:r>
              <a:rPr lang="en-US" sz="1800" b="1" dirty="0">
                <a:solidFill>
                  <a:schemeClr val="tx2"/>
                </a:solidFill>
              </a:rPr>
              <a:t>Positive meaning</a:t>
            </a:r>
            <a:endParaRPr lang="en-US" sz="1800" dirty="0"/>
          </a:p>
        </p:txBody>
      </p:sp>
      <p:sp>
        <p:nvSpPr>
          <p:cNvPr id="22" name="text-311"/>
          <p:cNvSpPr txBox="1"/>
          <p:nvPr/>
        </p:nvSpPr>
        <p:spPr>
          <a:xfrm>
            <a:off x="4937760" y="3822192"/>
            <a:ext cx="3520440" cy="548640"/>
          </a:xfrm>
          <a:prstGeom prst="rect">
            <a:avLst/>
          </a:prstGeom>
          <a:noFill/>
          <a:ln/>
        </p:spPr>
        <p:txBody>
          <a:bodyPr wrap="square" lIns="0" tIns="0" rIns="0" bIns="0" rtlCol="0" anchor="t"/>
          <a:lstStyle/>
          <a:p>
            <a:pPr marL="0" indent="0">
              <a:buNone/>
            </a:pPr>
            <a:r>
              <a:rPr lang="en-US" sz="1400" dirty="0">
                <a:solidFill>
                  <a:schemeClr val="tx1"/>
                </a:solidFill>
              </a:rPr>
              <a:t>Connect daily work to values and to the people it serves</a:t>
            </a:r>
            <a:endParaRPr lang="en-US" sz="1400" dirty="0"/>
          </a:p>
        </p:txBody>
      </p:sp>
      <p:sp>
        <p:nvSpPr>
          <p:cNvPr id="23" name="text-312"/>
          <p:cNvSpPr txBox="1"/>
          <p:nvPr/>
        </p:nvSpPr>
        <p:spPr>
          <a:xfrm>
            <a:off x="457200" y="4526280"/>
            <a:ext cx="8229600" cy="274320"/>
          </a:xfrm>
          <a:prstGeom prst="rect">
            <a:avLst/>
          </a:prstGeom>
          <a:noFill/>
          <a:ln/>
        </p:spPr>
        <p:txBody>
          <a:bodyPr wrap="square" lIns="0" tIns="0" rIns="0" bIns="0" rtlCol="0" anchor="t"/>
          <a:lstStyle/>
          <a:p>
            <a:pPr marL="0" indent="0">
              <a:buNone/>
            </a:pPr>
            <a:r>
              <a:rPr lang="en-US" sz="1200" i="1" dirty="0">
                <a:solidFill>
                  <a:schemeClr val="tx2"/>
                </a:solidFill>
              </a:rPr>
              <a:t>Cameron, Positive Leadership (2008)  |  Michigan Positive Organizational Scholarship</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Gratitude changes behavior</a:t>
            </a:r>
            <a:endParaRPr lang="en-US" sz="3000" dirty="0"/>
          </a:p>
        </p:txBody>
      </p:sp>
      <p:sp>
        <p:nvSpPr>
          <p:cNvPr id="3" name="stat-band-313"/>
          <p:cNvSpPr/>
          <p:nvPr/>
        </p:nvSpPr>
        <p:spPr>
          <a:xfrm>
            <a:off x="457200" y="1280160"/>
            <a:ext cx="8229600" cy="1371600"/>
          </a:xfrm>
          <a:prstGeom prst="roundRect">
            <a:avLst>
              <a:gd name="adj" fmla="val 5333"/>
            </a:avLst>
          </a:prstGeom>
          <a:solidFill>
            <a:schemeClr val="tx2"/>
          </a:solidFill>
          <a:ln/>
        </p:spPr>
        <p:txBody>
          <a:bodyPr/>
          <a:lstStyle/>
          <a:p>
            <a:endParaRPr lang="en-US"/>
          </a:p>
        </p:txBody>
      </p:sp>
      <p:sp>
        <p:nvSpPr>
          <p:cNvPr id="4" name="text-314"/>
          <p:cNvSpPr txBox="1"/>
          <p:nvPr/>
        </p:nvSpPr>
        <p:spPr>
          <a:xfrm>
            <a:off x="731520" y="1371600"/>
            <a:ext cx="2194560" cy="1188720"/>
          </a:xfrm>
          <a:prstGeom prst="rect">
            <a:avLst/>
          </a:prstGeom>
          <a:noFill/>
          <a:ln/>
        </p:spPr>
        <p:txBody>
          <a:bodyPr wrap="square" lIns="0" tIns="0" rIns="0" bIns="0" rtlCol="0" anchor="ctr"/>
          <a:lstStyle/>
          <a:p>
            <a:pPr marL="0" indent="0">
              <a:buNone/>
            </a:pPr>
            <a:r>
              <a:rPr lang="en-US" sz="6000" b="1" dirty="0">
                <a:solidFill>
                  <a:schemeClr val="accent1"/>
                </a:solidFill>
              </a:rPr>
              <a:t>50%</a:t>
            </a:r>
            <a:endParaRPr lang="en-US" sz="6000" dirty="0"/>
          </a:p>
        </p:txBody>
      </p:sp>
      <p:sp>
        <p:nvSpPr>
          <p:cNvPr id="5" name="text-315"/>
          <p:cNvSpPr txBox="1"/>
          <p:nvPr/>
        </p:nvSpPr>
        <p:spPr>
          <a:xfrm>
            <a:off x="3017520" y="1463040"/>
            <a:ext cx="5394960" cy="731520"/>
          </a:xfrm>
          <a:prstGeom prst="rect">
            <a:avLst/>
          </a:prstGeom>
          <a:noFill/>
          <a:ln/>
        </p:spPr>
        <p:txBody>
          <a:bodyPr wrap="square" lIns="0" tIns="0" rIns="0" bIns="0" rtlCol="0" anchor="ctr"/>
          <a:lstStyle/>
          <a:p>
            <a:pPr marL="0" indent="0">
              <a:buNone/>
            </a:pPr>
            <a:r>
              <a:rPr lang="en-US" sz="1800" dirty="0">
                <a:solidFill>
                  <a:schemeClr val="bg1"/>
                </a:solidFill>
              </a:rPr>
              <a:t>more calls made by fundraisers after the director thanked them once</a:t>
            </a:r>
            <a:endParaRPr lang="en-US" sz="1800" dirty="0"/>
          </a:p>
        </p:txBody>
      </p:sp>
      <p:sp>
        <p:nvSpPr>
          <p:cNvPr id="6" name="text-316"/>
          <p:cNvSpPr txBox="1"/>
          <p:nvPr/>
        </p:nvSpPr>
        <p:spPr>
          <a:xfrm>
            <a:off x="3017520" y="2240280"/>
            <a:ext cx="5394960" cy="274320"/>
          </a:xfrm>
          <a:prstGeom prst="rect">
            <a:avLst/>
          </a:prstGeom>
          <a:noFill/>
          <a:ln/>
        </p:spPr>
        <p:txBody>
          <a:bodyPr wrap="square" lIns="0" tIns="0" rIns="0" bIns="0" rtlCol="0" anchor="t"/>
          <a:lstStyle/>
          <a:p>
            <a:pPr marL="0" indent="0">
              <a:buNone/>
            </a:pPr>
            <a:r>
              <a:rPr lang="en-US" sz="1200" i="1" dirty="0">
                <a:solidFill>
                  <a:schemeClr val="bg1"/>
                </a:solidFill>
              </a:rPr>
              <a:t>Grant &amp; Gino, 2010</a:t>
            </a:r>
            <a:endParaRPr lang="en-US" sz="1200" dirty="0"/>
          </a:p>
        </p:txBody>
      </p:sp>
      <p:sp>
        <p:nvSpPr>
          <p:cNvPr id="7" name="recognition-card-317"/>
          <p:cNvSpPr/>
          <p:nvPr/>
        </p:nvSpPr>
        <p:spPr>
          <a:xfrm>
            <a:off x="457200" y="2834640"/>
            <a:ext cx="1920240" cy="1691640"/>
          </a:xfrm>
          <a:prstGeom prst="roundRect">
            <a:avLst>
              <a:gd name="adj" fmla="val 4324"/>
            </a:avLst>
          </a:prstGeom>
          <a:solidFill>
            <a:schemeClr val="bg2"/>
          </a:solidFill>
          <a:ln/>
        </p:spPr>
        <p:txBody>
          <a:bodyPr/>
          <a:lstStyle/>
          <a:p>
            <a:endParaRPr lang="en-US"/>
          </a:p>
        </p:txBody>
      </p:sp>
      <p:sp>
        <p:nvSpPr>
          <p:cNvPr id="8" name="circle-318"/>
          <p:cNvSpPr/>
          <p:nvPr/>
        </p:nvSpPr>
        <p:spPr>
          <a:xfrm>
            <a:off x="640080" y="3017520"/>
            <a:ext cx="457200" cy="457200"/>
          </a:xfrm>
          <a:prstGeom prst="ellipse">
            <a:avLst/>
          </a:prstGeom>
          <a:solidFill>
            <a:srgbClr val="1F8A8A"/>
          </a:solidFill>
          <a:ln/>
        </p:spPr>
        <p:txBody>
          <a:bodyPr/>
          <a:lstStyle/>
          <a:p>
            <a:endParaRPr lang="en-US"/>
          </a:p>
        </p:txBody>
      </p:sp>
      <p:pic>
        <p:nvPicPr>
          <p:cNvPr id="9" name="icon-319" descr="icon"/>
          <p:cNvPicPr>
            <a:picLocks noChangeAspect="1"/>
          </p:cNvPicPr>
          <p:nvPr/>
        </p:nvPicPr>
        <p:blipFill>
          <a:blip r:embed="rId3"/>
          <a:stretch>
            <a:fillRect/>
          </a:stretch>
        </p:blipFill>
        <p:spPr>
          <a:xfrm>
            <a:off x="749808" y="3127248"/>
            <a:ext cx="237744" cy="237744"/>
          </a:xfrm>
          <a:prstGeom prst="rect">
            <a:avLst/>
          </a:prstGeom>
        </p:spPr>
      </p:pic>
      <p:sp>
        <p:nvSpPr>
          <p:cNvPr id="10" name="text-320"/>
          <p:cNvSpPr txBox="1"/>
          <p:nvPr/>
        </p:nvSpPr>
        <p:spPr>
          <a:xfrm>
            <a:off x="640080" y="3520440"/>
            <a:ext cx="1554480" cy="274320"/>
          </a:xfrm>
          <a:prstGeom prst="rect">
            <a:avLst/>
          </a:prstGeom>
          <a:noFill/>
          <a:ln/>
        </p:spPr>
        <p:txBody>
          <a:bodyPr wrap="square" lIns="0" tIns="0" rIns="0" bIns="0" rtlCol="0" anchor="t"/>
          <a:lstStyle/>
          <a:p>
            <a:pPr marL="0" indent="0">
              <a:buNone/>
            </a:pPr>
            <a:r>
              <a:rPr lang="en-US" sz="1600" b="1" dirty="0">
                <a:solidFill>
                  <a:schemeClr val="tx2"/>
                </a:solidFill>
              </a:rPr>
              <a:t>Specific</a:t>
            </a:r>
            <a:endParaRPr lang="en-US" sz="1600" dirty="0"/>
          </a:p>
        </p:txBody>
      </p:sp>
      <p:sp>
        <p:nvSpPr>
          <p:cNvPr id="11" name="text-321"/>
          <p:cNvSpPr txBox="1"/>
          <p:nvPr/>
        </p:nvSpPr>
        <p:spPr>
          <a:xfrm>
            <a:off x="640080" y="3813048"/>
            <a:ext cx="1554480" cy="685800"/>
          </a:xfrm>
          <a:prstGeom prst="rect">
            <a:avLst/>
          </a:prstGeom>
          <a:noFill/>
          <a:ln/>
        </p:spPr>
        <p:txBody>
          <a:bodyPr wrap="square" lIns="0" tIns="0" rIns="0" bIns="0" rtlCol="0" anchor="t"/>
          <a:lstStyle/>
          <a:p>
            <a:pPr marL="0" indent="0">
              <a:buNone/>
            </a:pPr>
            <a:r>
              <a:rPr lang="en-US" sz="1400" dirty="0">
                <a:solidFill>
                  <a:schemeClr val="tx1"/>
                </a:solidFill>
              </a:rPr>
              <a:t>Name the behavior and its impact</a:t>
            </a:r>
            <a:endParaRPr lang="en-US" sz="1400" dirty="0"/>
          </a:p>
        </p:txBody>
      </p:sp>
      <p:sp>
        <p:nvSpPr>
          <p:cNvPr id="12" name="recognition-card-322"/>
          <p:cNvSpPr/>
          <p:nvPr/>
        </p:nvSpPr>
        <p:spPr>
          <a:xfrm>
            <a:off x="2560320" y="2834640"/>
            <a:ext cx="1920240" cy="1691640"/>
          </a:xfrm>
          <a:prstGeom prst="roundRect">
            <a:avLst>
              <a:gd name="adj" fmla="val 4324"/>
            </a:avLst>
          </a:prstGeom>
          <a:solidFill>
            <a:schemeClr val="bg2"/>
          </a:solidFill>
          <a:ln/>
        </p:spPr>
        <p:txBody>
          <a:bodyPr/>
          <a:lstStyle/>
          <a:p>
            <a:endParaRPr lang="en-US"/>
          </a:p>
        </p:txBody>
      </p:sp>
      <p:sp>
        <p:nvSpPr>
          <p:cNvPr id="13" name="circle-323"/>
          <p:cNvSpPr/>
          <p:nvPr/>
        </p:nvSpPr>
        <p:spPr>
          <a:xfrm>
            <a:off x="2743200" y="3017520"/>
            <a:ext cx="457200" cy="457200"/>
          </a:xfrm>
          <a:prstGeom prst="ellipse">
            <a:avLst/>
          </a:prstGeom>
          <a:solidFill>
            <a:srgbClr val="C8452F"/>
          </a:solidFill>
          <a:ln/>
        </p:spPr>
        <p:txBody>
          <a:bodyPr/>
          <a:lstStyle/>
          <a:p>
            <a:endParaRPr lang="en-US"/>
          </a:p>
        </p:txBody>
      </p:sp>
      <p:pic>
        <p:nvPicPr>
          <p:cNvPr id="14" name="icon-324" descr="icon"/>
          <p:cNvPicPr>
            <a:picLocks noChangeAspect="1"/>
          </p:cNvPicPr>
          <p:nvPr/>
        </p:nvPicPr>
        <p:blipFill>
          <a:blip r:embed="rId4"/>
          <a:stretch>
            <a:fillRect/>
          </a:stretch>
        </p:blipFill>
        <p:spPr>
          <a:xfrm>
            <a:off x="2852928" y="3127248"/>
            <a:ext cx="237744" cy="237744"/>
          </a:xfrm>
          <a:prstGeom prst="rect">
            <a:avLst/>
          </a:prstGeom>
        </p:spPr>
      </p:pic>
      <p:sp>
        <p:nvSpPr>
          <p:cNvPr id="15" name="text-325"/>
          <p:cNvSpPr txBox="1"/>
          <p:nvPr/>
        </p:nvSpPr>
        <p:spPr>
          <a:xfrm>
            <a:off x="2743200" y="3520440"/>
            <a:ext cx="1554480" cy="274320"/>
          </a:xfrm>
          <a:prstGeom prst="rect">
            <a:avLst/>
          </a:prstGeom>
          <a:noFill/>
          <a:ln/>
        </p:spPr>
        <p:txBody>
          <a:bodyPr wrap="square" lIns="0" tIns="0" rIns="0" bIns="0" rtlCol="0" anchor="t"/>
          <a:lstStyle/>
          <a:p>
            <a:pPr marL="0" indent="0">
              <a:buNone/>
            </a:pPr>
            <a:r>
              <a:rPr lang="en-US" sz="1600" b="1" dirty="0">
                <a:solidFill>
                  <a:schemeClr val="tx2"/>
                </a:solidFill>
              </a:rPr>
              <a:t>Timely</a:t>
            </a:r>
            <a:endParaRPr lang="en-US" sz="1600" dirty="0"/>
          </a:p>
        </p:txBody>
      </p:sp>
      <p:sp>
        <p:nvSpPr>
          <p:cNvPr id="16" name="text-326"/>
          <p:cNvSpPr txBox="1"/>
          <p:nvPr/>
        </p:nvSpPr>
        <p:spPr>
          <a:xfrm>
            <a:off x="2743200" y="3813048"/>
            <a:ext cx="1554480" cy="685800"/>
          </a:xfrm>
          <a:prstGeom prst="rect">
            <a:avLst/>
          </a:prstGeom>
          <a:noFill/>
          <a:ln/>
        </p:spPr>
        <p:txBody>
          <a:bodyPr wrap="square" lIns="0" tIns="0" rIns="0" bIns="0" rtlCol="0" anchor="t"/>
          <a:lstStyle/>
          <a:p>
            <a:pPr marL="0" indent="0">
              <a:buNone/>
            </a:pPr>
            <a:r>
              <a:rPr lang="en-US" sz="1400" dirty="0">
                <a:solidFill>
                  <a:schemeClr val="tx1"/>
                </a:solidFill>
              </a:rPr>
              <a:t>Say it within days, not at the annual review</a:t>
            </a:r>
            <a:endParaRPr lang="en-US" sz="1400" dirty="0"/>
          </a:p>
        </p:txBody>
      </p:sp>
      <p:sp>
        <p:nvSpPr>
          <p:cNvPr id="17" name="recognition-card-327"/>
          <p:cNvSpPr/>
          <p:nvPr/>
        </p:nvSpPr>
        <p:spPr>
          <a:xfrm>
            <a:off x="4663440" y="2834640"/>
            <a:ext cx="1920240" cy="1691640"/>
          </a:xfrm>
          <a:prstGeom prst="roundRect">
            <a:avLst>
              <a:gd name="adj" fmla="val 4324"/>
            </a:avLst>
          </a:prstGeom>
          <a:solidFill>
            <a:schemeClr val="bg2"/>
          </a:solidFill>
          <a:ln/>
        </p:spPr>
        <p:txBody>
          <a:bodyPr/>
          <a:lstStyle/>
          <a:p>
            <a:endParaRPr lang="en-US"/>
          </a:p>
        </p:txBody>
      </p:sp>
      <p:sp>
        <p:nvSpPr>
          <p:cNvPr id="18" name="circle-328"/>
          <p:cNvSpPr/>
          <p:nvPr/>
        </p:nvSpPr>
        <p:spPr>
          <a:xfrm>
            <a:off x="4846320" y="3017520"/>
            <a:ext cx="457200" cy="457200"/>
          </a:xfrm>
          <a:prstGeom prst="ellipse">
            <a:avLst/>
          </a:prstGeom>
          <a:solidFill>
            <a:srgbClr val="6B4FA0"/>
          </a:solidFill>
          <a:ln/>
        </p:spPr>
        <p:txBody>
          <a:bodyPr/>
          <a:lstStyle/>
          <a:p>
            <a:endParaRPr lang="en-US"/>
          </a:p>
        </p:txBody>
      </p:sp>
      <p:pic>
        <p:nvPicPr>
          <p:cNvPr id="19" name="icon-329" descr="icon"/>
          <p:cNvPicPr>
            <a:picLocks noChangeAspect="1"/>
          </p:cNvPicPr>
          <p:nvPr/>
        </p:nvPicPr>
        <p:blipFill>
          <a:blip r:embed="rId5"/>
          <a:stretch>
            <a:fillRect/>
          </a:stretch>
        </p:blipFill>
        <p:spPr>
          <a:xfrm>
            <a:off x="4956048" y="3127248"/>
            <a:ext cx="237744" cy="237744"/>
          </a:xfrm>
          <a:prstGeom prst="rect">
            <a:avLst/>
          </a:prstGeom>
        </p:spPr>
      </p:pic>
      <p:sp>
        <p:nvSpPr>
          <p:cNvPr id="20" name="text-330"/>
          <p:cNvSpPr txBox="1"/>
          <p:nvPr/>
        </p:nvSpPr>
        <p:spPr>
          <a:xfrm>
            <a:off x="4846320" y="3520440"/>
            <a:ext cx="1554480" cy="274320"/>
          </a:xfrm>
          <a:prstGeom prst="rect">
            <a:avLst/>
          </a:prstGeom>
          <a:noFill/>
          <a:ln/>
        </p:spPr>
        <p:txBody>
          <a:bodyPr wrap="square" lIns="0" tIns="0" rIns="0" bIns="0" rtlCol="0" anchor="t"/>
          <a:lstStyle/>
          <a:p>
            <a:pPr marL="0" indent="0">
              <a:buNone/>
            </a:pPr>
            <a:r>
              <a:rPr lang="en-US" sz="1600" b="1" dirty="0">
                <a:solidFill>
                  <a:schemeClr val="tx2"/>
                </a:solidFill>
              </a:rPr>
              <a:t>Sincere</a:t>
            </a:r>
            <a:endParaRPr lang="en-US" sz="1600" dirty="0"/>
          </a:p>
        </p:txBody>
      </p:sp>
      <p:sp>
        <p:nvSpPr>
          <p:cNvPr id="21" name="text-331"/>
          <p:cNvSpPr txBox="1"/>
          <p:nvPr/>
        </p:nvSpPr>
        <p:spPr>
          <a:xfrm>
            <a:off x="4846320" y="3813048"/>
            <a:ext cx="1554480" cy="685800"/>
          </a:xfrm>
          <a:prstGeom prst="rect">
            <a:avLst/>
          </a:prstGeom>
          <a:noFill/>
          <a:ln/>
        </p:spPr>
        <p:txBody>
          <a:bodyPr wrap="square" lIns="0" tIns="0" rIns="0" bIns="0" rtlCol="0" anchor="t"/>
          <a:lstStyle/>
          <a:p>
            <a:pPr marL="0" indent="0">
              <a:buNone/>
            </a:pPr>
            <a:r>
              <a:rPr lang="en-US" sz="1400" dirty="0">
                <a:solidFill>
                  <a:schemeClr val="tx1"/>
                </a:solidFill>
              </a:rPr>
              <a:t>Say only what you mean; skip the script</a:t>
            </a:r>
            <a:endParaRPr lang="en-US" sz="1400" dirty="0"/>
          </a:p>
        </p:txBody>
      </p:sp>
      <p:sp>
        <p:nvSpPr>
          <p:cNvPr id="22" name="recognition-card-332"/>
          <p:cNvSpPr/>
          <p:nvPr/>
        </p:nvSpPr>
        <p:spPr>
          <a:xfrm>
            <a:off x="6766560" y="2834640"/>
            <a:ext cx="1920240" cy="1691640"/>
          </a:xfrm>
          <a:prstGeom prst="roundRect">
            <a:avLst>
              <a:gd name="adj" fmla="val 4324"/>
            </a:avLst>
          </a:prstGeom>
          <a:solidFill>
            <a:schemeClr val="bg2"/>
          </a:solidFill>
          <a:ln/>
        </p:spPr>
        <p:txBody>
          <a:bodyPr/>
          <a:lstStyle/>
          <a:p>
            <a:endParaRPr lang="en-US"/>
          </a:p>
        </p:txBody>
      </p:sp>
      <p:sp>
        <p:nvSpPr>
          <p:cNvPr id="23" name="circle-333"/>
          <p:cNvSpPr/>
          <p:nvPr/>
        </p:nvSpPr>
        <p:spPr>
          <a:xfrm>
            <a:off x="6949440" y="3017520"/>
            <a:ext cx="457200" cy="457200"/>
          </a:xfrm>
          <a:prstGeom prst="ellipse">
            <a:avLst/>
          </a:prstGeom>
          <a:solidFill>
            <a:srgbClr val="3E8E5A"/>
          </a:solidFill>
          <a:ln/>
        </p:spPr>
        <p:txBody>
          <a:bodyPr/>
          <a:lstStyle/>
          <a:p>
            <a:endParaRPr lang="en-US"/>
          </a:p>
        </p:txBody>
      </p:sp>
      <p:pic>
        <p:nvPicPr>
          <p:cNvPr id="24" name="icon-334" descr="icon"/>
          <p:cNvPicPr>
            <a:picLocks noChangeAspect="1"/>
          </p:cNvPicPr>
          <p:nvPr/>
        </p:nvPicPr>
        <p:blipFill>
          <a:blip r:embed="rId6"/>
          <a:stretch>
            <a:fillRect/>
          </a:stretch>
        </p:blipFill>
        <p:spPr>
          <a:xfrm>
            <a:off x="7059168" y="3127248"/>
            <a:ext cx="237744" cy="237744"/>
          </a:xfrm>
          <a:prstGeom prst="rect">
            <a:avLst/>
          </a:prstGeom>
        </p:spPr>
      </p:pic>
      <p:sp>
        <p:nvSpPr>
          <p:cNvPr id="25" name="text-335"/>
          <p:cNvSpPr txBox="1"/>
          <p:nvPr/>
        </p:nvSpPr>
        <p:spPr>
          <a:xfrm>
            <a:off x="6949440" y="3520440"/>
            <a:ext cx="1554480" cy="274320"/>
          </a:xfrm>
          <a:prstGeom prst="rect">
            <a:avLst/>
          </a:prstGeom>
          <a:noFill/>
          <a:ln/>
        </p:spPr>
        <p:txBody>
          <a:bodyPr wrap="square" lIns="0" tIns="0" rIns="0" bIns="0" rtlCol="0" anchor="t"/>
          <a:lstStyle/>
          <a:p>
            <a:pPr marL="0" indent="0">
              <a:buNone/>
            </a:pPr>
            <a:r>
              <a:rPr lang="en-US" sz="1600" b="1" dirty="0">
                <a:solidFill>
                  <a:schemeClr val="tx2"/>
                </a:solidFill>
              </a:rPr>
              <a:t>Shared</a:t>
            </a:r>
            <a:endParaRPr lang="en-US" sz="1600" dirty="0"/>
          </a:p>
        </p:txBody>
      </p:sp>
      <p:sp>
        <p:nvSpPr>
          <p:cNvPr id="26" name="text-336"/>
          <p:cNvSpPr txBox="1"/>
          <p:nvPr/>
        </p:nvSpPr>
        <p:spPr>
          <a:xfrm>
            <a:off x="6949440" y="3813048"/>
            <a:ext cx="1554480" cy="685800"/>
          </a:xfrm>
          <a:prstGeom prst="rect">
            <a:avLst/>
          </a:prstGeom>
          <a:noFill/>
          <a:ln/>
        </p:spPr>
        <p:txBody>
          <a:bodyPr wrap="square" lIns="0" tIns="0" rIns="0" bIns="0" rtlCol="0" anchor="t"/>
          <a:lstStyle/>
          <a:p>
            <a:pPr marL="0" indent="0">
              <a:buNone/>
            </a:pPr>
            <a:r>
              <a:rPr lang="en-US" sz="1400" dirty="0">
                <a:solidFill>
                  <a:schemeClr val="tx1"/>
                </a:solidFill>
              </a:rPr>
              <a:t>Build peer-to-peer thanks, not just top-down</a:t>
            </a:r>
            <a:endParaRPr lang="en-US" sz="1400" dirty="0"/>
          </a:p>
        </p:txBody>
      </p:sp>
      <p:sp>
        <p:nvSpPr>
          <p:cNvPr id="27"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Appreciative inquiry -</a:t>
            </a:r>
            <a:endParaRPr lang="en-US" sz="3000" dirty="0"/>
          </a:p>
        </p:txBody>
      </p:sp>
      <p:sp>
        <p:nvSpPr>
          <p:cNvPr id="3" name="ai-card-337"/>
          <p:cNvSpPr/>
          <p:nvPr/>
        </p:nvSpPr>
        <p:spPr>
          <a:xfrm>
            <a:off x="457200" y="1280160"/>
            <a:ext cx="1828800" cy="2331720"/>
          </a:xfrm>
          <a:prstGeom prst="roundRect">
            <a:avLst>
              <a:gd name="adj" fmla="val 4000"/>
            </a:avLst>
          </a:prstGeom>
          <a:solidFill>
            <a:schemeClr val="bg2"/>
          </a:solidFill>
          <a:ln/>
        </p:spPr>
        <p:txBody>
          <a:bodyPr/>
          <a:lstStyle/>
          <a:p>
            <a:endParaRPr lang="en-US"/>
          </a:p>
        </p:txBody>
      </p:sp>
      <p:sp>
        <p:nvSpPr>
          <p:cNvPr id="4" name="circle-338"/>
          <p:cNvSpPr/>
          <p:nvPr/>
        </p:nvSpPr>
        <p:spPr>
          <a:xfrm>
            <a:off x="640080" y="1463040"/>
            <a:ext cx="502920" cy="502920"/>
          </a:xfrm>
          <a:prstGeom prst="ellipse">
            <a:avLst/>
          </a:prstGeom>
          <a:solidFill>
            <a:srgbClr val="F5A623"/>
          </a:solidFill>
          <a:ln/>
        </p:spPr>
        <p:txBody>
          <a:bodyPr/>
          <a:lstStyle/>
          <a:p>
            <a:endParaRPr lang="en-US"/>
          </a:p>
        </p:txBody>
      </p:sp>
      <p:sp>
        <p:nvSpPr>
          <p:cNvPr id="5" name="text-339"/>
          <p:cNvSpPr txBox="1"/>
          <p:nvPr/>
        </p:nvSpPr>
        <p:spPr>
          <a:xfrm>
            <a:off x="640080" y="1463040"/>
            <a:ext cx="502920" cy="502920"/>
          </a:xfrm>
          <a:prstGeom prst="rect">
            <a:avLst/>
          </a:prstGeom>
          <a:noFill/>
          <a:ln/>
        </p:spPr>
        <p:txBody>
          <a:bodyPr wrap="square" lIns="0" tIns="0" rIns="0" bIns="0" rtlCol="0" anchor="ctr"/>
          <a:lstStyle/>
          <a:p>
            <a:pPr marL="0" indent="0" algn="ctr">
              <a:buNone/>
            </a:pPr>
            <a:r>
              <a:rPr lang="en-US" sz="2000" b="1" dirty="0">
                <a:solidFill>
                  <a:srgbClr val="0B3C49"/>
                </a:solidFill>
              </a:rPr>
              <a:t>1</a:t>
            </a:r>
            <a:endParaRPr lang="en-US" sz="2000" dirty="0"/>
          </a:p>
        </p:txBody>
      </p:sp>
      <p:sp>
        <p:nvSpPr>
          <p:cNvPr id="6" name="text-340"/>
          <p:cNvSpPr txBox="1"/>
          <p:nvPr/>
        </p:nvSpPr>
        <p:spPr>
          <a:xfrm>
            <a:off x="640080" y="21488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Discover</a:t>
            </a:r>
            <a:endParaRPr lang="en-US" sz="1800" dirty="0"/>
          </a:p>
        </p:txBody>
      </p:sp>
      <p:sp>
        <p:nvSpPr>
          <p:cNvPr id="7" name="text-341"/>
          <p:cNvSpPr txBox="1"/>
          <p:nvPr/>
        </p:nvSpPr>
        <p:spPr>
          <a:xfrm>
            <a:off x="640080" y="2560320"/>
            <a:ext cx="1508760" cy="960120"/>
          </a:xfrm>
          <a:prstGeom prst="rect">
            <a:avLst/>
          </a:prstGeom>
          <a:noFill/>
          <a:ln/>
        </p:spPr>
        <p:txBody>
          <a:bodyPr wrap="square" lIns="0" tIns="0" rIns="0" bIns="0" rtlCol="0" anchor="t"/>
          <a:lstStyle/>
          <a:p>
            <a:pPr marL="0" indent="0">
              <a:buNone/>
            </a:pPr>
            <a:r>
              <a:rPr lang="en-US" sz="1400" dirty="0">
                <a:solidFill>
                  <a:schemeClr val="tx1"/>
                </a:solidFill>
              </a:rPr>
              <a:t>What gives us life? Recall peak moments.</a:t>
            </a:r>
            <a:endParaRPr lang="en-US" sz="1400" dirty="0"/>
          </a:p>
        </p:txBody>
      </p:sp>
      <p:sp>
        <p:nvSpPr>
          <p:cNvPr id="8" name="ai-arrow-342"/>
          <p:cNvSpPr/>
          <p:nvPr/>
        </p:nvSpPr>
        <p:spPr>
          <a:xfrm>
            <a:off x="2322576" y="2240280"/>
            <a:ext cx="228600" cy="320040"/>
          </a:xfrm>
          <a:prstGeom prst="rightArrow">
            <a:avLst/>
          </a:prstGeom>
          <a:solidFill>
            <a:schemeClr val="tx2"/>
          </a:solidFill>
          <a:ln/>
        </p:spPr>
        <p:txBody>
          <a:bodyPr/>
          <a:lstStyle/>
          <a:p>
            <a:endParaRPr lang="en-US"/>
          </a:p>
        </p:txBody>
      </p:sp>
      <p:sp>
        <p:nvSpPr>
          <p:cNvPr id="9" name="ai-card-343"/>
          <p:cNvSpPr/>
          <p:nvPr/>
        </p:nvSpPr>
        <p:spPr>
          <a:xfrm>
            <a:off x="2587752" y="1280160"/>
            <a:ext cx="1828800" cy="2331720"/>
          </a:xfrm>
          <a:prstGeom prst="roundRect">
            <a:avLst>
              <a:gd name="adj" fmla="val 4000"/>
            </a:avLst>
          </a:prstGeom>
          <a:solidFill>
            <a:schemeClr val="bg2"/>
          </a:solidFill>
          <a:ln/>
        </p:spPr>
        <p:txBody>
          <a:bodyPr/>
          <a:lstStyle/>
          <a:p>
            <a:endParaRPr lang="en-US"/>
          </a:p>
        </p:txBody>
      </p:sp>
      <p:sp>
        <p:nvSpPr>
          <p:cNvPr id="10" name="circle-344"/>
          <p:cNvSpPr/>
          <p:nvPr/>
        </p:nvSpPr>
        <p:spPr>
          <a:xfrm>
            <a:off x="2770632" y="1463040"/>
            <a:ext cx="502920" cy="502920"/>
          </a:xfrm>
          <a:prstGeom prst="ellipse">
            <a:avLst/>
          </a:prstGeom>
          <a:solidFill>
            <a:srgbClr val="1F8A8A"/>
          </a:solidFill>
          <a:ln/>
        </p:spPr>
        <p:txBody>
          <a:bodyPr/>
          <a:lstStyle/>
          <a:p>
            <a:endParaRPr lang="en-US"/>
          </a:p>
        </p:txBody>
      </p:sp>
      <p:sp>
        <p:nvSpPr>
          <p:cNvPr id="11" name="text-345"/>
          <p:cNvSpPr txBox="1"/>
          <p:nvPr/>
        </p:nvSpPr>
        <p:spPr>
          <a:xfrm>
            <a:off x="2770632" y="1463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2" name="text-346"/>
          <p:cNvSpPr txBox="1"/>
          <p:nvPr/>
        </p:nvSpPr>
        <p:spPr>
          <a:xfrm>
            <a:off x="2770632" y="21488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Dream</a:t>
            </a:r>
            <a:endParaRPr lang="en-US" sz="1800" dirty="0"/>
          </a:p>
        </p:txBody>
      </p:sp>
      <p:sp>
        <p:nvSpPr>
          <p:cNvPr id="13" name="text-347"/>
          <p:cNvSpPr txBox="1"/>
          <p:nvPr/>
        </p:nvSpPr>
        <p:spPr>
          <a:xfrm>
            <a:off x="2770632" y="2560320"/>
            <a:ext cx="1508760" cy="960120"/>
          </a:xfrm>
          <a:prstGeom prst="rect">
            <a:avLst/>
          </a:prstGeom>
          <a:noFill/>
          <a:ln/>
        </p:spPr>
        <p:txBody>
          <a:bodyPr wrap="square" lIns="0" tIns="0" rIns="0" bIns="0" rtlCol="0" anchor="t"/>
          <a:lstStyle/>
          <a:p>
            <a:pPr marL="0" indent="0">
              <a:buNone/>
            </a:pPr>
            <a:r>
              <a:rPr lang="en-US" sz="1400" dirty="0">
                <a:solidFill>
                  <a:schemeClr val="tx1"/>
                </a:solidFill>
              </a:rPr>
              <a:t>What could this look like at its best?</a:t>
            </a:r>
            <a:endParaRPr lang="en-US" sz="1400" dirty="0"/>
          </a:p>
        </p:txBody>
      </p:sp>
      <p:sp>
        <p:nvSpPr>
          <p:cNvPr id="14" name="ai-arrow-348"/>
          <p:cNvSpPr/>
          <p:nvPr/>
        </p:nvSpPr>
        <p:spPr>
          <a:xfrm>
            <a:off x="4453128" y="2240280"/>
            <a:ext cx="228600" cy="320040"/>
          </a:xfrm>
          <a:prstGeom prst="rightArrow">
            <a:avLst/>
          </a:prstGeom>
          <a:solidFill>
            <a:schemeClr val="tx2"/>
          </a:solidFill>
          <a:ln/>
        </p:spPr>
        <p:txBody>
          <a:bodyPr/>
          <a:lstStyle/>
          <a:p>
            <a:endParaRPr lang="en-US"/>
          </a:p>
        </p:txBody>
      </p:sp>
      <p:sp>
        <p:nvSpPr>
          <p:cNvPr id="15" name="ai-card-349"/>
          <p:cNvSpPr/>
          <p:nvPr/>
        </p:nvSpPr>
        <p:spPr>
          <a:xfrm>
            <a:off x="4718304" y="1280160"/>
            <a:ext cx="1828800" cy="2331720"/>
          </a:xfrm>
          <a:prstGeom prst="roundRect">
            <a:avLst>
              <a:gd name="adj" fmla="val 4000"/>
            </a:avLst>
          </a:prstGeom>
          <a:solidFill>
            <a:schemeClr val="bg2"/>
          </a:solidFill>
          <a:ln/>
        </p:spPr>
        <p:txBody>
          <a:bodyPr/>
          <a:lstStyle/>
          <a:p>
            <a:endParaRPr lang="en-US"/>
          </a:p>
        </p:txBody>
      </p:sp>
      <p:sp>
        <p:nvSpPr>
          <p:cNvPr id="16" name="circle-350"/>
          <p:cNvSpPr/>
          <p:nvPr/>
        </p:nvSpPr>
        <p:spPr>
          <a:xfrm>
            <a:off x="4901184" y="1463040"/>
            <a:ext cx="502920" cy="502920"/>
          </a:xfrm>
          <a:prstGeom prst="ellipse">
            <a:avLst/>
          </a:prstGeom>
          <a:solidFill>
            <a:srgbClr val="C8452F"/>
          </a:solidFill>
          <a:ln/>
        </p:spPr>
        <p:txBody>
          <a:bodyPr/>
          <a:lstStyle/>
          <a:p>
            <a:endParaRPr lang="en-US"/>
          </a:p>
        </p:txBody>
      </p:sp>
      <p:sp>
        <p:nvSpPr>
          <p:cNvPr id="17" name="text-351"/>
          <p:cNvSpPr txBox="1"/>
          <p:nvPr/>
        </p:nvSpPr>
        <p:spPr>
          <a:xfrm>
            <a:off x="4901184" y="1463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8" name="text-352"/>
          <p:cNvSpPr txBox="1"/>
          <p:nvPr/>
        </p:nvSpPr>
        <p:spPr>
          <a:xfrm>
            <a:off x="4901184" y="21488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Design</a:t>
            </a:r>
            <a:endParaRPr lang="en-US" sz="1800" dirty="0"/>
          </a:p>
        </p:txBody>
      </p:sp>
      <p:sp>
        <p:nvSpPr>
          <p:cNvPr id="19" name="text-353"/>
          <p:cNvSpPr txBox="1"/>
          <p:nvPr/>
        </p:nvSpPr>
        <p:spPr>
          <a:xfrm>
            <a:off x="4901184" y="2560320"/>
            <a:ext cx="1508760" cy="960120"/>
          </a:xfrm>
          <a:prstGeom prst="rect">
            <a:avLst/>
          </a:prstGeom>
          <a:noFill/>
          <a:ln/>
        </p:spPr>
        <p:txBody>
          <a:bodyPr wrap="square" lIns="0" tIns="0" rIns="0" bIns="0" rtlCol="0" anchor="t"/>
          <a:lstStyle/>
          <a:p>
            <a:pPr marL="0" indent="0">
              <a:buNone/>
            </a:pPr>
            <a:r>
              <a:rPr lang="en-US" sz="1400" dirty="0">
                <a:solidFill>
                  <a:schemeClr val="tx1"/>
                </a:solidFill>
              </a:rPr>
              <a:t>What systems and roles would make it real?</a:t>
            </a:r>
            <a:endParaRPr lang="en-US" sz="1400" dirty="0"/>
          </a:p>
        </p:txBody>
      </p:sp>
      <p:sp>
        <p:nvSpPr>
          <p:cNvPr id="20" name="ai-arrow-354"/>
          <p:cNvSpPr/>
          <p:nvPr/>
        </p:nvSpPr>
        <p:spPr>
          <a:xfrm>
            <a:off x="6583680" y="2240280"/>
            <a:ext cx="228600" cy="320040"/>
          </a:xfrm>
          <a:prstGeom prst="rightArrow">
            <a:avLst/>
          </a:prstGeom>
          <a:solidFill>
            <a:schemeClr val="tx2"/>
          </a:solidFill>
          <a:ln/>
        </p:spPr>
        <p:txBody>
          <a:bodyPr/>
          <a:lstStyle/>
          <a:p>
            <a:endParaRPr lang="en-US"/>
          </a:p>
        </p:txBody>
      </p:sp>
      <p:sp>
        <p:nvSpPr>
          <p:cNvPr id="21" name="ai-card-355"/>
          <p:cNvSpPr/>
          <p:nvPr/>
        </p:nvSpPr>
        <p:spPr>
          <a:xfrm>
            <a:off x="6848856" y="1280160"/>
            <a:ext cx="1828800" cy="2331720"/>
          </a:xfrm>
          <a:prstGeom prst="roundRect">
            <a:avLst>
              <a:gd name="adj" fmla="val 4000"/>
            </a:avLst>
          </a:prstGeom>
          <a:solidFill>
            <a:schemeClr val="bg2"/>
          </a:solidFill>
          <a:ln/>
        </p:spPr>
        <p:txBody>
          <a:bodyPr/>
          <a:lstStyle/>
          <a:p>
            <a:endParaRPr lang="en-US"/>
          </a:p>
        </p:txBody>
      </p:sp>
      <p:sp>
        <p:nvSpPr>
          <p:cNvPr id="22" name="circle-356"/>
          <p:cNvSpPr/>
          <p:nvPr/>
        </p:nvSpPr>
        <p:spPr>
          <a:xfrm>
            <a:off x="7031736" y="1463040"/>
            <a:ext cx="502920" cy="502920"/>
          </a:xfrm>
          <a:prstGeom prst="ellipse">
            <a:avLst/>
          </a:prstGeom>
          <a:solidFill>
            <a:srgbClr val="6B4FA0"/>
          </a:solidFill>
          <a:ln/>
        </p:spPr>
        <p:txBody>
          <a:bodyPr/>
          <a:lstStyle/>
          <a:p>
            <a:endParaRPr lang="en-US"/>
          </a:p>
        </p:txBody>
      </p:sp>
      <p:sp>
        <p:nvSpPr>
          <p:cNvPr id="23" name="text-357"/>
          <p:cNvSpPr txBox="1"/>
          <p:nvPr/>
        </p:nvSpPr>
        <p:spPr>
          <a:xfrm>
            <a:off x="7031736" y="14630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rPr>
              <a:t>4</a:t>
            </a:r>
            <a:endParaRPr lang="en-US" sz="2000" dirty="0"/>
          </a:p>
        </p:txBody>
      </p:sp>
      <p:sp>
        <p:nvSpPr>
          <p:cNvPr id="24" name="text-358"/>
          <p:cNvSpPr txBox="1"/>
          <p:nvPr/>
        </p:nvSpPr>
        <p:spPr>
          <a:xfrm>
            <a:off x="7031736" y="2148840"/>
            <a:ext cx="1554480" cy="365760"/>
          </a:xfrm>
          <a:prstGeom prst="rect">
            <a:avLst/>
          </a:prstGeom>
          <a:noFill/>
          <a:ln/>
        </p:spPr>
        <p:txBody>
          <a:bodyPr wrap="square" lIns="0" tIns="0" rIns="0" bIns="0" rtlCol="0" anchor="t"/>
          <a:lstStyle/>
          <a:p>
            <a:pPr marL="0" indent="0">
              <a:buNone/>
            </a:pPr>
            <a:r>
              <a:rPr lang="en-US" sz="1800" b="1" dirty="0">
                <a:solidFill>
                  <a:schemeClr val="tx2"/>
                </a:solidFill>
              </a:rPr>
              <a:t>Destiny</a:t>
            </a:r>
            <a:endParaRPr lang="en-US" sz="1800" dirty="0"/>
          </a:p>
        </p:txBody>
      </p:sp>
      <p:sp>
        <p:nvSpPr>
          <p:cNvPr id="25" name="text-359"/>
          <p:cNvSpPr txBox="1"/>
          <p:nvPr/>
        </p:nvSpPr>
        <p:spPr>
          <a:xfrm>
            <a:off x="7031736" y="2560320"/>
            <a:ext cx="1508760" cy="960120"/>
          </a:xfrm>
          <a:prstGeom prst="rect">
            <a:avLst/>
          </a:prstGeom>
          <a:noFill/>
          <a:ln/>
        </p:spPr>
        <p:txBody>
          <a:bodyPr wrap="square" lIns="0" tIns="0" rIns="0" bIns="0" rtlCol="0" anchor="t"/>
          <a:lstStyle/>
          <a:p>
            <a:pPr marL="0" indent="0">
              <a:buNone/>
            </a:pPr>
            <a:r>
              <a:rPr lang="en-US" sz="1400" dirty="0">
                <a:solidFill>
                  <a:schemeClr val="tx1"/>
                </a:solidFill>
              </a:rPr>
              <a:t>What will we commit to doing?</a:t>
            </a:r>
            <a:endParaRPr lang="en-US" sz="1400" dirty="0"/>
          </a:p>
        </p:txBody>
      </p:sp>
      <p:sp>
        <p:nvSpPr>
          <p:cNvPr id="26" name="try-it-360"/>
          <p:cNvSpPr/>
          <p:nvPr/>
        </p:nvSpPr>
        <p:spPr>
          <a:xfrm>
            <a:off x="457200" y="3794760"/>
            <a:ext cx="8229600" cy="731520"/>
          </a:xfrm>
          <a:prstGeom prst="roundRect">
            <a:avLst>
              <a:gd name="adj" fmla="val 10000"/>
            </a:avLst>
          </a:prstGeom>
          <a:solidFill>
            <a:schemeClr val="accent1"/>
          </a:solidFill>
          <a:ln/>
        </p:spPr>
        <p:txBody>
          <a:bodyPr/>
          <a:lstStyle/>
          <a:p>
            <a:endParaRPr lang="en-US"/>
          </a:p>
        </p:txBody>
      </p:sp>
      <p:sp>
        <p:nvSpPr>
          <p:cNvPr id="27" name="text-361"/>
          <p:cNvSpPr txBox="1"/>
          <p:nvPr/>
        </p:nvSpPr>
        <p:spPr>
          <a:xfrm>
            <a:off x="685800" y="3794760"/>
            <a:ext cx="7772400" cy="731520"/>
          </a:xfrm>
          <a:prstGeom prst="rect">
            <a:avLst/>
          </a:prstGeom>
          <a:noFill/>
          <a:ln/>
        </p:spPr>
        <p:txBody>
          <a:bodyPr wrap="square" lIns="0" tIns="0" rIns="0" bIns="0" rtlCol="0" anchor="ctr"/>
          <a:lstStyle/>
          <a:p>
            <a:pPr marL="0" indent="0">
              <a:buNone/>
            </a:pPr>
            <a:r>
              <a:rPr lang="en-US" sz="1600" b="1" dirty="0">
                <a:solidFill>
                  <a:schemeClr val="tx2"/>
                </a:solidFill>
              </a:rPr>
              <a:t>Try it: open your next meeting with “Tell us about a time this month we were at our best.”</a:t>
            </a:r>
            <a:endParaRPr lang="en-US" sz="1600" dirty="0"/>
          </a:p>
        </p:txBody>
      </p:sp>
      <p:sp>
        <p:nvSpPr>
          <p:cNvPr id="28"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23</a:t>
            </a:fld>
            <a:endParaRPr lang="en-US"/>
          </a:p>
        </p:txBody>
      </p:sp>
      <p:sp>
        <p:nvSpPr>
          <p:cNvPr id="29" name="TextBox 28">
            <a:extLst>
              <a:ext uri="{FF2B5EF4-FFF2-40B4-BE49-F238E27FC236}">
                <a16:creationId xmlns:a16="http://schemas.microsoft.com/office/drawing/2014/main" id="{9EF41C45-4823-8908-A1A8-C06BBC59E51B}"/>
              </a:ext>
            </a:extLst>
          </p:cNvPr>
          <p:cNvSpPr txBox="1"/>
          <p:nvPr/>
        </p:nvSpPr>
        <p:spPr>
          <a:xfrm>
            <a:off x="448056" y="4526280"/>
            <a:ext cx="8229600" cy="461665"/>
          </a:xfrm>
          <a:prstGeom prst="rect">
            <a:avLst/>
          </a:prstGeom>
          <a:noFill/>
        </p:spPr>
        <p:txBody>
          <a:bodyPr wrap="square" rtlCol="0">
            <a:spAutoFit/>
          </a:bodyPr>
          <a:lstStyle/>
          <a:p>
            <a:r>
              <a:rPr lang="en-US" sz="1200" dirty="0"/>
              <a:t>Appreciative inquiry (AI) was developed by David Cooperrider and colleagues (Cooperrider and </a:t>
            </a:r>
            <a:r>
              <a:rPr lang="en-US" sz="1200" dirty="0" err="1"/>
              <a:t>Srivastva</a:t>
            </a:r>
            <a:r>
              <a:rPr lang="en-US" sz="1200" dirty="0"/>
              <a:t>, 1987; Cooperrider and      </a:t>
            </a:r>
          </a:p>
          <a:p>
            <a:r>
              <a:rPr lang="en-US" sz="1200" dirty="0"/>
              <a:t>                                                                                                                                                                                                  Whitney, 2005). </a:t>
            </a:r>
          </a:p>
        </p:txBody>
      </p:sp>
      <p:sp>
        <p:nvSpPr>
          <p:cNvPr id="30" name="TextBox 29">
            <a:extLst>
              <a:ext uri="{FF2B5EF4-FFF2-40B4-BE49-F238E27FC236}">
                <a16:creationId xmlns:a16="http://schemas.microsoft.com/office/drawing/2014/main" id="{4C3C98B4-1E3F-CCF9-5B44-D6EB1E1CB53E}"/>
              </a:ext>
            </a:extLst>
          </p:cNvPr>
          <p:cNvSpPr txBox="1"/>
          <p:nvPr/>
        </p:nvSpPr>
        <p:spPr>
          <a:xfrm>
            <a:off x="4251960" y="495329"/>
            <a:ext cx="4407408" cy="646331"/>
          </a:xfrm>
          <a:prstGeom prst="rect">
            <a:avLst/>
          </a:prstGeom>
          <a:noFill/>
        </p:spPr>
        <p:txBody>
          <a:bodyPr wrap="square" rtlCol="0">
            <a:spAutoFit/>
          </a:bodyPr>
          <a:lstStyle/>
          <a:p>
            <a:r>
              <a:rPr lang="en-US" dirty="0"/>
              <a:t>Instead of starting change with "what is the problem?"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Positivity is not pretending</a:t>
            </a:r>
            <a:endParaRPr lang="en-US" sz="3000" dirty="0"/>
          </a:p>
        </p:txBody>
      </p:sp>
      <p:sp>
        <p:nvSpPr>
          <p:cNvPr id="3" name="head-toxic-362"/>
          <p:cNvSpPr/>
          <p:nvPr/>
        </p:nvSpPr>
        <p:spPr>
          <a:xfrm>
            <a:off x="457200" y="1280160"/>
            <a:ext cx="4023360" cy="548640"/>
          </a:xfrm>
          <a:prstGeom prst="roundRect">
            <a:avLst>
              <a:gd name="adj" fmla="val 13333"/>
            </a:avLst>
          </a:prstGeom>
          <a:solidFill>
            <a:schemeClr val="accent2"/>
          </a:solidFill>
          <a:ln/>
        </p:spPr>
        <p:txBody>
          <a:bodyPr/>
          <a:lstStyle/>
          <a:p>
            <a:endParaRPr lang="en-US"/>
          </a:p>
        </p:txBody>
      </p:sp>
      <p:sp>
        <p:nvSpPr>
          <p:cNvPr id="4" name="head-real-363"/>
          <p:cNvSpPr/>
          <p:nvPr/>
        </p:nvSpPr>
        <p:spPr>
          <a:xfrm>
            <a:off x="4663440" y="1280160"/>
            <a:ext cx="4023360" cy="548640"/>
          </a:xfrm>
          <a:prstGeom prst="roundRect">
            <a:avLst>
              <a:gd name="adj" fmla="val 13333"/>
            </a:avLst>
          </a:prstGeom>
          <a:solidFill>
            <a:schemeClr val="accent3"/>
          </a:solidFill>
          <a:ln/>
        </p:spPr>
        <p:txBody>
          <a:bodyPr/>
          <a:lstStyle/>
          <a:p>
            <a:endParaRPr lang="en-US"/>
          </a:p>
        </p:txBody>
      </p:sp>
      <p:sp>
        <p:nvSpPr>
          <p:cNvPr id="5" name="text-364"/>
          <p:cNvSpPr txBox="1"/>
          <p:nvPr/>
        </p:nvSpPr>
        <p:spPr>
          <a:xfrm>
            <a:off x="457200" y="1280160"/>
            <a:ext cx="4023360" cy="548640"/>
          </a:xfrm>
          <a:prstGeom prst="rect">
            <a:avLst/>
          </a:prstGeom>
          <a:noFill/>
          <a:ln/>
        </p:spPr>
        <p:txBody>
          <a:bodyPr wrap="square" lIns="0" tIns="0" rIns="0" bIns="0" rtlCol="0" anchor="ctr"/>
          <a:lstStyle/>
          <a:p>
            <a:pPr marL="0" indent="0" algn="ctr">
              <a:buNone/>
            </a:pPr>
            <a:r>
              <a:rPr lang="en-US" sz="1800" b="1" dirty="0">
                <a:solidFill>
                  <a:schemeClr val="bg1"/>
                </a:solidFill>
              </a:rPr>
              <a:t>Toxic positivity</a:t>
            </a:r>
            <a:endParaRPr lang="en-US" sz="1800" dirty="0"/>
          </a:p>
        </p:txBody>
      </p:sp>
      <p:sp>
        <p:nvSpPr>
          <p:cNvPr id="6" name="text-365"/>
          <p:cNvSpPr txBox="1"/>
          <p:nvPr/>
        </p:nvSpPr>
        <p:spPr>
          <a:xfrm>
            <a:off x="4663440" y="1280160"/>
            <a:ext cx="4023360" cy="548640"/>
          </a:xfrm>
          <a:prstGeom prst="rect">
            <a:avLst/>
          </a:prstGeom>
          <a:noFill/>
          <a:ln/>
        </p:spPr>
        <p:txBody>
          <a:bodyPr wrap="square" lIns="0" tIns="0" rIns="0" bIns="0" rtlCol="0" anchor="ctr"/>
          <a:lstStyle/>
          <a:p>
            <a:pPr marL="0" indent="0" algn="ctr">
              <a:buNone/>
            </a:pPr>
            <a:r>
              <a:rPr lang="en-US" sz="1800" b="1" dirty="0">
                <a:solidFill>
                  <a:schemeClr val="bg1"/>
                </a:solidFill>
              </a:rPr>
              <a:t>Realistic optimism</a:t>
            </a:r>
            <a:endParaRPr lang="en-US" sz="1800" dirty="0"/>
          </a:p>
        </p:txBody>
      </p:sp>
      <p:sp>
        <p:nvSpPr>
          <p:cNvPr id="7" name="toxic-card-366"/>
          <p:cNvSpPr/>
          <p:nvPr/>
        </p:nvSpPr>
        <p:spPr>
          <a:xfrm>
            <a:off x="457200" y="1828800"/>
            <a:ext cx="4023360" cy="2011680"/>
          </a:xfrm>
          <a:prstGeom prst="rect">
            <a:avLst/>
          </a:prstGeom>
          <a:solidFill>
            <a:schemeClr val="bg2"/>
          </a:solidFill>
          <a:ln/>
        </p:spPr>
        <p:txBody>
          <a:bodyPr/>
          <a:lstStyle/>
          <a:p>
            <a:endParaRPr lang="en-US"/>
          </a:p>
        </p:txBody>
      </p:sp>
      <p:sp>
        <p:nvSpPr>
          <p:cNvPr id="8" name="real-card-367"/>
          <p:cNvSpPr/>
          <p:nvPr/>
        </p:nvSpPr>
        <p:spPr>
          <a:xfrm>
            <a:off x="4663440" y="1828800"/>
            <a:ext cx="4023360" cy="2011680"/>
          </a:xfrm>
          <a:prstGeom prst="rect">
            <a:avLst/>
          </a:prstGeom>
          <a:solidFill>
            <a:schemeClr val="bg2"/>
          </a:solidFill>
          <a:ln/>
        </p:spPr>
        <p:txBody>
          <a:bodyPr/>
          <a:lstStyle/>
          <a:p>
            <a:endParaRPr lang="en-US"/>
          </a:p>
        </p:txBody>
      </p:sp>
      <p:sp>
        <p:nvSpPr>
          <p:cNvPr id="9" name="text-368"/>
          <p:cNvSpPr txBox="1"/>
          <p:nvPr/>
        </p:nvSpPr>
        <p:spPr>
          <a:xfrm>
            <a:off x="685800" y="1965960"/>
            <a:ext cx="36118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“Just stay positive!”</a:t>
            </a:r>
            <a:endParaRPr lang="en-US" sz="1600" dirty="0"/>
          </a:p>
          <a:p>
            <a:pPr marL="342900" indent="-342900">
              <a:spcAft>
                <a:spcPts val="800"/>
              </a:spcAft>
              <a:buSzPct val="100000"/>
              <a:buChar char="•"/>
            </a:pPr>
            <a:r>
              <a:rPr lang="en-US" sz="1600" dirty="0">
                <a:solidFill>
                  <a:schemeClr val="tx1"/>
                </a:solidFill>
              </a:rPr>
              <a:t>Hides problems until they grow</a:t>
            </a:r>
            <a:endParaRPr lang="en-US" sz="1600" dirty="0"/>
          </a:p>
          <a:p>
            <a:pPr marL="342900" indent="-342900">
              <a:spcAft>
                <a:spcPts val="800"/>
              </a:spcAft>
              <a:buSzPct val="100000"/>
              <a:buChar char="•"/>
            </a:pPr>
            <a:r>
              <a:rPr lang="en-US" sz="1600" dirty="0">
                <a:solidFill>
                  <a:schemeClr val="tx1"/>
                </a:solidFill>
              </a:rPr>
              <a:t>Shames normal negative emotion</a:t>
            </a:r>
            <a:endParaRPr lang="en-US" sz="1600" dirty="0"/>
          </a:p>
          <a:p>
            <a:pPr marL="342900" indent="-342900">
              <a:spcAft>
                <a:spcPts val="800"/>
              </a:spcAft>
              <a:buSzPct val="100000"/>
              <a:buChar char="•"/>
            </a:pPr>
            <a:r>
              <a:rPr lang="en-US" sz="1600" dirty="0">
                <a:solidFill>
                  <a:schemeClr val="tx1"/>
                </a:solidFill>
              </a:rPr>
              <a:t>Silences honest dissent</a:t>
            </a:r>
            <a:endParaRPr lang="en-US" sz="1600" dirty="0"/>
          </a:p>
        </p:txBody>
      </p:sp>
      <p:sp>
        <p:nvSpPr>
          <p:cNvPr id="10" name="text-369"/>
          <p:cNvSpPr txBox="1"/>
          <p:nvPr/>
        </p:nvSpPr>
        <p:spPr>
          <a:xfrm>
            <a:off x="4892040" y="1965960"/>
            <a:ext cx="3611880"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1"/>
                </a:solidFill>
              </a:rPr>
              <a:t>Faces facts and believes in the effort</a:t>
            </a:r>
            <a:endParaRPr lang="en-US" sz="1600" dirty="0"/>
          </a:p>
          <a:p>
            <a:pPr marL="342900" indent="-342900">
              <a:spcAft>
                <a:spcPts val="800"/>
              </a:spcAft>
              <a:buSzPct val="100000"/>
              <a:buChar char="•"/>
            </a:pPr>
            <a:r>
              <a:rPr lang="en-US" sz="1600" dirty="0">
                <a:solidFill>
                  <a:schemeClr val="tx1"/>
                </a:solidFill>
              </a:rPr>
              <a:t>Makes room for worry and grief</a:t>
            </a:r>
            <a:endParaRPr lang="en-US" sz="1600" dirty="0"/>
          </a:p>
          <a:p>
            <a:pPr marL="342900" indent="-342900">
              <a:spcAft>
                <a:spcPts val="800"/>
              </a:spcAft>
              <a:buSzPct val="100000"/>
              <a:buChar char="•"/>
            </a:pPr>
            <a:r>
              <a:rPr lang="en-US" sz="1600" dirty="0">
                <a:solidFill>
                  <a:schemeClr val="tx1"/>
                </a:solidFill>
              </a:rPr>
              <a:t>Welcomes bad news and dissent</a:t>
            </a:r>
            <a:endParaRPr lang="en-US" sz="1600" dirty="0"/>
          </a:p>
          <a:p>
            <a:pPr marL="342900" indent="-342900">
              <a:spcAft>
                <a:spcPts val="800"/>
              </a:spcAft>
              <a:buSzPct val="100000"/>
              <a:buChar char="•"/>
            </a:pPr>
            <a:r>
              <a:rPr lang="en-US" sz="1600" dirty="0">
                <a:solidFill>
                  <a:schemeClr val="tx1"/>
                </a:solidFill>
              </a:rPr>
              <a:t>Pairs hope with a concrete plan</a:t>
            </a:r>
            <a:endParaRPr lang="en-US" sz="1600" dirty="0"/>
          </a:p>
        </p:txBody>
      </p:sp>
      <p:sp>
        <p:nvSpPr>
          <p:cNvPr id="11" name="tools-strip-370"/>
          <p:cNvSpPr/>
          <p:nvPr/>
        </p:nvSpPr>
        <p:spPr>
          <a:xfrm>
            <a:off x="457200" y="3977640"/>
            <a:ext cx="8229600" cy="685800"/>
          </a:xfrm>
          <a:prstGeom prst="roundRect">
            <a:avLst>
              <a:gd name="adj" fmla="val 10667"/>
            </a:avLst>
          </a:prstGeom>
          <a:solidFill>
            <a:schemeClr val="tx2"/>
          </a:solidFill>
          <a:ln/>
        </p:spPr>
        <p:txBody>
          <a:bodyPr/>
          <a:lstStyle/>
          <a:p>
            <a:endParaRPr lang="en-US"/>
          </a:p>
        </p:txBody>
      </p:sp>
      <p:sp>
        <p:nvSpPr>
          <p:cNvPr id="12" name="text-371"/>
          <p:cNvSpPr txBox="1"/>
          <p:nvPr/>
        </p:nvSpPr>
        <p:spPr>
          <a:xfrm>
            <a:off x="685800" y="3977640"/>
            <a:ext cx="7772400" cy="685800"/>
          </a:xfrm>
          <a:prstGeom prst="rect">
            <a:avLst/>
          </a:prstGeom>
          <a:noFill/>
          <a:ln/>
        </p:spPr>
        <p:txBody>
          <a:bodyPr wrap="square" lIns="0" tIns="0" rIns="0" bIns="0" rtlCol="0" anchor="ctr"/>
          <a:lstStyle/>
          <a:p>
            <a:pPr marL="0" indent="0">
              <a:buNone/>
            </a:pPr>
            <a:r>
              <a:rPr lang="en-US" sz="1400" dirty="0">
                <a:solidFill>
                  <a:schemeClr val="bg1"/>
                </a:solidFill>
              </a:rPr>
              <a:t>Stockdale paradox: keep faith that you will prevail while confronting the brutal facts (Collins). WOOP: Wish, Outcome, Obstacle, Plan (Oettingen).</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Case: the demoralized team</a:t>
            </a:r>
            <a:endParaRPr lang="en-US" sz="3000" dirty="0"/>
          </a:p>
        </p:txBody>
      </p:sp>
      <p:sp>
        <p:nvSpPr>
          <p:cNvPr id="3" name="scenario-card-372"/>
          <p:cNvSpPr/>
          <p:nvPr/>
        </p:nvSpPr>
        <p:spPr>
          <a:xfrm>
            <a:off x="457200" y="1280160"/>
            <a:ext cx="3657600" cy="3200400"/>
          </a:xfrm>
          <a:prstGeom prst="roundRect">
            <a:avLst>
              <a:gd name="adj" fmla="val 2286"/>
            </a:avLst>
          </a:prstGeom>
          <a:solidFill>
            <a:schemeClr val="tx2"/>
          </a:solidFill>
          <a:ln/>
        </p:spPr>
        <p:txBody>
          <a:bodyPr/>
          <a:lstStyle/>
          <a:p>
            <a:endParaRPr lang="en-US"/>
          </a:p>
        </p:txBody>
      </p:sp>
      <p:sp>
        <p:nvSpPr>
          <p:cNvPr id="4" name="circle-373"/>
          <p:cNvSpPr/>
          <p:nvPr/>
        </p:nvSpPr>
        <p:spPr>
          <a:xfrm>
            <a:off x="685800" y="1508760"/>
            <a:ext cx="640080" cy="640080"/>
          </a:xfrm>
          <a:prstGeom prst="ellipse">
            <a:avLst/>
          </a:prstGeom>
          <a:solidFill>
            <a:srgbClr val="F5A623"/>
          </a:solidFill>
          <a:ln/>
        </p:spPr>
        <p:txBody>
          <a:bodyPr/>
          <a:lstStyle/>
          <a:p>
            <a:endParaRPr lang="en-US"/>
          </a:p>
        </p:txBody>
      </p:sp>
      <p:pic>
        <p:nvPicPr>
          <p:cNvPr id="5" name="icon-374" descr="icon"/>
          <p:cNvPicPr>
            <a:picLocks noChangeAspect="1"/>
          </p:cNvPicPr>
          <p:nvPr/>
        </p:nvPicPr>
        <p:blipFill>
          <a:blip r:embed="rId3"/>
          <a:stretch>
            <a:fillRect/>
          </a:stretch>
        </p:blipFill>
        <p:spPr>
          <a:xfrm>
            <a:off x="845820" y="1668780"/>
            <a:ext cx="320040" cy="320040"/>
          </a:xfrm>
          <a:prstGeom prst="rect">
            <a:avLst/>
          </a:prstGeom>
        </p:spPr>
      </p:pic>
      <p:sp>
        <p:nvSpPr>
          <p:cNvPr id="6" name="text-375"/>
          <p:cNvSpPr txBox="1"/>
          <p:nvPr/>
        </p:nvSpPr>
        <p:spPr>
          <a:xfrm>
            <a:off x="1508760" y="1508760"/>
            <a:ext cx="2468880" cy="640080"/>
          </a:xfrm>
          <a:prstGeom prst="rect">
            <a:avLst/>
          </a:prstGeom>
          <a:noFill/>
          <a:ln/>
        </p:spPr>
        <p:txBody>
          <a:bodyPr wrap="square" lIns="0" tIns="0" rIns="0" bIns="0" rtlCol="0" anchor="ctr"/>
          <a:lstStyle/>
          <a:p>
            <a:pPr marL="0" indent="0">
              <a:buNone/>
            </a:pPr>
            <a:r>
              <a:rPr lang="en-US" sz="2000" b="1" dirty="0">
                <a:solidFill>
                  <a:schemeClr val="accent1"/>
                </a:solidFill>
              </a:rPr>
              <a:t>The scenario</a:t>
            </a:r>
            <a:endParaRPr lang="en-US" sz="2000" dirty="0"/>
          </a:p>
        </p:txBody>
      </p:sp>
      <p:sp>
        <p:nvSpPr>
          <p:cNvPr id="7" name="text-376"/>
          <p:cNvSpPr txBox="1"/>
          <p:nvPr/>
        </p:nvSpPr>
        <p:spPr>
          <a:xfrm>
            <a:off x="685800" y="2377440"/>
            <a:ext cx="3200400" cy="1920240"/>
          </a:xfrm>
          <a:prstGeom prst="rect">
            <a:avLst/>
          </a:prstGeom>
          <a:noFill/>
          <a:ln/>
        </p:spPr>
        <p:txBody>
          <a:bodyPr wrap="square" lIns="0" tIns="0" rIns="0" bIns="0" rtlCol="0" anchor="t"/>
          <a:lstStyle/>
          <a:p>
            <a:pPr marL="0" indent="0">
              <a:buNone/>
            </a:pPr>
            <a:r>
              <a:rPr lang="en-US" sz="1600" dirty="0">
                <a:solidFill>
                  <a:schemeClr val="bg1"/>
                </a:solidFill>
              </a:rPr>
              <a:t>You are a new manager. Your team of eight just lost two colleagues in a restructuring. Targets have not changed. Meetings are silent and cynicism is rising.</a:t>
            </a:r>
            <a:endParaRPr lang="en-US" sz="1600" dirty="0"/>
          </a:p>
        </p:txBody>
      </p:sp>
      <p:sp>
        <p:nvSpPr>
          <p:cNvPr id="8" name="question-row-377"/>
          <p:cNvSpPr/>
          <p:nvPr/>
        </p:nvSpPr>
        <p:spPr>
          <a:xfrm>
            <a:off x="4389120" y="1280160"/>
            <a:ext cx="4297680" cy="822960"/>
          </a:xfrm>
          <a:prstGeom prst="roundRect">
            <a:avLst>
              <a:gd name="adj" fmla="val 8889"/>
            </a:avLst>
          </a:prstGeom>
          <a:solidFill>
            <a:schemeClr val="bg2"/>
          </a:solidFill>
          <a:ln/>
        </p:spPr>
        <p:txBody>
          <a:bodyPr/>
          <a:lstStyle/>
          <a:p>
            <a:endParaRPr lang="en-US"/>
          </a:p>
        </p:txBody>
      </p:sp>
      <p:sp>
        <p:nvSpPr>
          <p:cNvPr id="9" name="circle-378"/>
          <p:cNvSpPr/>
          <p:nvPr/>
        </p:nvSpPr>
        <p:spPr>
          <a:xfrm>
            <a:off x="4526280" y="1417320"/>
            <a:ext cx="548640" cy="548640"/>
          </a:xfrm>
          <a:prstGeom prst="ellipse">
            <a:avLst/>
          </a:prstGeom>
          <a:solidFill>
            <a:srgbClr val="1F8A8A"/>
          </a:solidFill>
          <a:ln/>
        </p:spPr>
        <p:txBody>
          <a:bodyPr/>
          <a:lstStyle/>
          <a:p>
            <a:endParaRPr lang="en-US"/>
          </a:p>
        </p:txBody>
      </p:sp>
      <p:sp>
        <p:nvSpPr>
          <p:cNvPr id="10" name="text-379"/>
          <p:cNvSpPr txBox="1"/>
          <p:nvPr/>
        </p:nvSpPr>
        <p:spPr>
          <a:xfrm>
            <a:off x="4526280" y="14173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1</a:t>
            </a:r>
            <a:endParaRPr lang="en-US" sz="2000" dirty="0"/>
          </a:p>
        </p:txBody>
      </p:sp>
      <p:sp>
        <p:nvSpPr>
          <p:cNvPr id="11" name="text-380"/>
          <p:cNvSpPr txBox="1"/>
          <p:nvPr/>
        </p:nvSpPr>
        <p:spPr>
          <a:xfrm>
            <a:off x="5257800" y="1280160"/>
            <a:ext cx="3291840" cy="822960"/>
          </a:xfrm>
          <a:prstGeom prst="rect">
            <a:avLst/>
          </a:prstGeom>
          <a:noFill/>
          <a:ln/>
        </p:spPr>
        <p:txBody>
          <a:bodyPr wrap="square" lIns="0" tIns="0" rIns="0" bIns="0" rtlCol="0" anchor="ctr"/>
          <a:lstStyle/>
          <a:p>
            <a:pPr marL="0" indent="0">
              <a:buNone/>
            </a:pPr>
            <a:r>
              <a:rPr lang="en-US" sz="1600" dirty="0">
                <a:solidFill>
                  <a:schemeClr val="tx1"/>
                </a:solidFill>
              </a:rPr>
              <a:t>What do you do in your first week?</a:t>
            </a:r>
            <a:endParaRPr lang="en-US" sz="1600" dirty="0"/>
          </a:p>
        </p:txBody>
      </p:sp>
      <p:sp>
        <p:nvSpPr>
          <p:cNvPr id="12" name="question-row-381"/>
          <p:cNvSpPr/>
          <p:nvPr/>
        </p:nvSpPr>
        <p:spPr>
          <a:xfrm>
            <a:off x="4389120" y="2194560"/>
            <a:ext cx="4297680" cy="822960"/>
          </a:xfrm>
          <a:prstGeom prst="roundRect">
            <a:avLst>
              <a:gd name="adj" fmla="val 8889"/>
            </a:avLst>
          </a:prstGeom>
          <a:solidFill>
            <a:schemeClr val="bg2"/>
          </a:solidFill>
          <a:ln/>
        </p:spPr>
        <p:txBody>
          <a:bodyPr/>
          <a:lstStyle/>
          <a:p>
            <a:endParaRPr lang="en-US"/>
          </a:p>
        </p:txBody>
      </p:sp>
      <p:sp>
        <p:nvSpPr>
          <p:cNvPr id="13" name="circle-382"/>
          <p:cNvSpPr/>
          <p:nvPr/>
        </p:nvSpPr>
        <p:spPr>
          <a:xfrm>
            <a:off x="4526280" y="2331720"/>
            <a:ext cx="548640" cy="548640"/>
          </a:xfrm>
          <a:prstGeom prst="ellipse">
            <a:avLst/>
          </a:prstGeom>
          <a:solidFill>
            <a:srgbClr val="C8452F"/>
          </a:solidFill>
          <a:ln/>
        </p:spPr>
        <p:txBody>
          <a:bodyPr/>
          <a:lstStyle/>
          <a:p>
            <a:endParaRPr lang="en-US"/>
          </a:p>
        </p:txBody>
      </p:sp>
      <p:sp>
        <p:nvSpPr>
          <p:cNvPr id="14" name="text-383"/>
          <p:cNvSpPr txBox="1"/>
          <p:nvPr/>
        </p:nvSpPr>
        <p:spPr>
          <a:xfrm>
            <a:off x="4526280" y="23317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2</a:t>
            </a:r>
            <a:endParaRPr lang="en-US" sz="2000" dirty="0"/>
          </a:p>
        </p:txBody>
      </p:sp>
      <p:sp>
        <p:nvSpPr>
          <p:cNvPr id="15" name="text-384"/>
          <p:cNvSpPr txBox="1"/>
          <p:nvPr/>
        </p:nvSpPr>
        <p:spPr>
          <a:xfrm>
            <a:off x="5257800" y="2194560"/>
            <a:ext cx="3291840" cy="822960"/>
          </a:xfrm>
          <a:prstGeom prst="rect">
            <a:avLst/>
          </a:prstGeom>
          <a:noFill/>
          <a:ln/>
        </p:spPr>
        <p:txBody>
          <a:bodyPr wrap="square" lIns="0" tIns="0" rIns="0" bIns="0" rtlCol="0" anchor="ctr"/>
          <a:lstStyle/>
          <a:p>
            <a:pPr marL="0" indent="0">
              <a:buNone/>
            </a:pPr>
            <a:r>
              <a:rPr lang="en-US" sz="1600" dirty="0">
                <a:solidFill>
                  <a:schemeClr val="tx1"/>
                </a:solidFill>
              </a:rPr>
              <a:t>Which tools from today would you use, and in what order?</a:t>
            </a:r>
            <a:endParaRPr lang="en-US" sz="1600" dirty="0"/>
          </a:p>
        </p:txBody>
      </p:sp>
      <p:sp>
        <p:nvSpPr>
          <p:cNvPr id="16" name="question-row-385"/>
          <p:cNvSpPr/>
          <p:nvPr/>
        </p:nvSpPr>
        <p:spPr>
          <a:xfrm>
            <a:off x="4389120" y="3108960"/>
            <a:ext cx="4297680" cy="822960"/>
          </a:xfrm>
          <a:prstGeom prst="roundRect">
            <a:avLst>
              <a:gd name="adj" fmla="val 8889"/>
            </a:avLst>
          </a:prstGeom>
          <a:solidFill>
            <a:schemeClr val="bg2"/>
          </a:solidFill>
          <a:ln/>
        </p:spPr>
        <p:txBody>
          <a:bodyPr/>
          <a:lstStyle/>
          <a:p>
            <a:endParaRPr lang="en-US"/>
          </a:p>
        </p:txBody>
      </p:sp>
      <p:sp>
        <p:nvSpPr>
          <p:cNvPr id="17" name="circle-386"/>
          <p:cNvSpPr/>
          <p:nvPr/>
        </p:nvSpPr>
        <p:spPr>
          <a:xfrm>
            <a:off x="4526280" y="3246120"/>
            <a:ext cx="548640" cy="548640"/>
          </a:xfrm>
          <a:prstGeom prst="ellipse">
            <a:avLst/>
          </a:prstGeom>
          <a:solidFill>
            <a:srgbClr val="6B4FA0"/>
          </a:solidFill>
          <a:ln/>
        </p:spPr>
        <p:txBody>
          <a:bodyPr/>
          <a:lstStyle/>
          <a:p>
            <a:endParaRPr lang="en-US"/>
          </a:p>
        </p:txBody>
      </p:sp>
      <p:sp>
        <p:nvSpPr>
          <p:cNvPr id="18" name="text-387"/>
          <p:cNvSpPr txBox="1"/>
          <p:nvPr/>
        </p:nvSpPr>
        <p:spPr>
          <a:xfrm>
            <a:off x="4526280" y="32461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rPr>
              <a:t>3</a:t>
            </a:r>
            <a:endParaRPr lang="en-US" sz="2000" dirty="0"/>
          </a:p>
        </p:txBody>
      </p:sp>
      <p:sp>
        <p:nvSpPr>
          <p:cNvPr id="19" name="text-388"/>
          <p:cNvSpPr txBox="1"/>
          <p:nvPr/>
        </p:nvSpPr>
        <p:spPr>
          <a:xfrm>
            <a:off x="5257800" y="3108960"/>
            <a:ext cx="3291840" cy="822960"/>
          </a:xfrm>
          <a:prstGeom prst="rect">
            <a:avLst/>
          </a:prstGeom>
          <a:noFill/>
          <a:ln/>
        </p:spPr>
        <p:txBody>
          <a:bodyPr wrap="square" lIns="0" tIns="0" rIns="0" bIns="0" rtlCol="0" anchor="ctr"/>
          <a:lstStyle/>
          <a:p>
            <a:pPr marL="0" indent="0">
              <a:buNone/>
            </a:pPr>
            <a:r>
              <a:rPr lang="en-US" sz="1600" dirty="0">
                <a:solidFill>
                  <a:schemeClr val="tx1"/>
                </a:solidFill>
              </a:rPr>
              <a:t>How do you stay honest and avoid toxic positivity?</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Your positive-leadership toolkit</a:t>
            </a:r>
            <a:endParaRPr lang="en-US" sz="3000" dirty="0"/>
          </a:p>
        </p:txBody>
      </p:sp>
      <p:sp>
        <p:nvSpPr>
          <p:cNvPr id="3" name="toolkit-card-390"/>
          <p:cNvSpPr/>
          <p:nvPr/>
        </p:nvSpPr>
        <p:spPr>
          <a:xfrm>
            <a:off x="457200" y="1280160"/>
            <a:ext cx="4023360" cy="960120"/>
          </a:xfrm>
          <a:prstGeom prst="roundRect">
            <a:avLst>
              <a:gd name="adj" fmla="val 7619"/>
            </a:avLst>
          </a:prstGeom>
          <a:solidFill>
            <a:schemeClr val="bg2"/>
          </a:solidFill>
          <a:ln/>
        </p:spPr>
        <p:txBody>
          <a:bodyPr/>
          <a:lstStyle/>
          <a:p>
            <a:endParaRPr lang="en-US"/>
          </a:p>
        </p:txBody>
      </p:sp>
      <p:sp>
        <p:nvSpPr>
          <p:cNvPr id="4" name="circle-391"/>
          <p:cNvSpPr/>
          <p:nvPr/>
        </p:nvSpPr>
        <p:spPr>
          <a:xfrm>
            <a:off x="640080" y="1527048"/>
            <a:ext cx="457200" cy="457200"/>
          </a:xfrm>
          <a:prstGeom prst="ellipse">
            <a:avLst/>
          </a:prstGeom>
          <a:solidFill>
            <a:srgbClr val="F5A623"/>
          </a:solidFill>
          <a:ln/>
        </p:spPr>
        <p:txBody>
          <a:bodyPr/>
          <a:lstStyle/>
          <a:p>
            <a:endParaRPr lang="en-US"/>
          </a:p>
        </p:txBody>
      </p:sp>
      <p:sp>
        <p:nvSpPr>
          <p:cNvPr id="5" name="text-392"/>
          <p:cNvSpPr txBox="1"/>
          <p:nvPr/>
        </p:nvSpPr>
        <p:spPr>
          <a:xfrm>
            <a:off x="640080" y="1527048"/>
            <a:ext cx="457200" cy="457200"/>
          </a:xfrm>
          <a:prstGeom prst="rect">
            <a:avLst/>
          </a:prstGeom>
          <a:noFill/>
          <a:ln/>
        </p:spPr>
        <p:txBody>
          <a:bodyPr wrap="square" lIns="0" tIns="0" rIns="0" bIns="0" rtlCol="0" anchor="ctr"/>
          <a:lstStyle/>
          <a:p>
            <a:pPr marL="0" indent="0" algn="ctr">
              <a:buNone/>
            </a:pPr>
            <a:r>
              <a:rPr lang="en-US" sz="1800" b="1" dirty="0">
                <a:solidFill>
                  <a:srgbClr val="0B3C49"/>
                </a:solidFill>
              </a:rPr>
              <a:t>1</a:t>
            </a:r>
            <a:endParaRPr lang="en-US" sz="1800" dirty="0"/>
          </a:p>
        </p:txBody>
      </p:sp>
      <p:sp>
        <p:nvSpPr>
          <p:cNvPr id="6" name="text-393"/>
          <p:cNvSpPr txBox="1"/>
          <p:nvPr/>
        </p:nvSpPr>
        <p:spPr>
          <a:xfrm>
            <a:off x="1280160" y="1389888"/>
            <a:ext cx="3108960" cy="320040"/>
          </a:xfrm>
          <a:prstGeom prst="rect">
            <a:avLst/>
          </a:prstGeom>
          <a:noFill/>
          <a:ln/>
        </p:spPr>
        <p:txBody>
          <a:bodyPr wrap="square" lIns="0" tIns="0" rIns="0" bIns="0" rtlCol="0" anchor="t"/>
          <a:lstStyle/>
          <a:p>
            <a:pPr marL="0" indent="0">
              <a:buNone/>
            </a:pPr>
            <a:r>
              <a:rPr lang="en-US" sz="1600" b="1" dirty="0">
                <a:solidFill>
                  <a:schemeClr val="tx2"/>
                </a:solidFill>
              </a:rPr>
              <a:t>Three good things</a:t>
            </a:r>
            <a:endParaRPr lang="en-US" sz="1600" dirty="0"/>
          </a:p>
        </p:txBody>
      </p:sp>
      <p:sp>
        <p:nvSpPr>
          <p:cNvPr id="7" name="text-394"/>
          <p:cNvSpPr txBox="1"/>
          <p:nvPr/>
        </p:nvSpPr>
        <p:spPr>
          <a:xfrm>
            <a:off x="1280160" y="1719072"/>
            <a:ext cx="3108960" cy="457200"/>
          </a:xfrm>
          <a:prstGeom prst="rect">
            <a:avLst/>
          </a:prstGeom>
          <a:noFill/>
          <a:ln/>
        </p:spPr>
        <p:txBody>
          <a:bodyPr wrap="square" lIns="0" tIns="0" rIns="0" bIns="0" rtlCol="0" anchor="t"/>
          <a:lstStyle/>
          <a:p>
            <a:pPr marL="0" indent="0">
              <a:buNone/>
            </a:pPr>
            <a:r>
              <a:rPr lang="en-US" sz="1400" dirty="0">
                <a:solidFill>
                  <a:schemeClr val="tx1"/>
                </a:solidFill>
              </a:rPr>
              <a:t>Each night, note 3 wins and why they happened</a:t>
            </a:r>
            <a:endParaRPr lang="en-US" sz="1400" dirty="0"/>
          </a:p>
        </p:txBody>
      </p:sp>
      <p:sp>
        <p:nvSpPr>
          <p:cNvPr id="8" name="toolkit-card-395"/>
          <p:cNvSpPr/>
          <p:nvPr/>
        </p:nvSpPr>
        <p:spPr>
          <a:xfrm>
            <a:off x="457200" y="2377440"/>
            <a:ext cx="4023360" cy="960120"/>
          </a:xfrm>
          <a:prstGeom prst="roundRect">
            <a:avLst>
              <a:gd name="adj" fmla="val 7619"/>
            </a:avLst>
          </a:prstGeom>
          <a:solidFill>
            <a:schemeClr val="bg2"/>
          </a:solidFill>
          <a:ln/>
        </p:spPr>
        <p:txBody>
          <a:bodyPr/>
          <a:lstStyle/>
          <a:p>
            <a:endParaRPr lang="en-US"/>
          </a:p>
        </p:txBody>
      </p:sp>
      <p:sp>
        <p:nvSpPr>
          <p:cNvPr id="9" name="circle-396"/>
          <p:cNvSpPr/>
          <p:nvPr/>
        </p:nvSpPr>
        <p:spPr>
          <a:xfrm>
            <a:off x="640080" y="2624328"/>
            <a:ext cx="457200" cy="457200"/>
          </a:xfrm>
          <a:prstGeom prst="ellipse">
            <a:avLst/>
          </a:prstGeom>
          <a:solidFill>
            <a:srgbClr val="1F8A8A"/>
          </a:solidFill>
          <a:ln/>
        </p:spPr>
        <p:txBody>
          <a:bodyPr/>
          <a:lstStyle/>
          <a:p>
            <a:endParaRPr lang="en-US"/>
          </a:p>
        </p:txBody>
      </p:sp>
      <p:sp>
        <p:nvSpPr>
          <p:cNvPr id="10" name="text-397"/>
          <p:cNvSpPr txBox="1"/>
          <p:nvPr/>
        </p:nvSpPr>
        <p:spPr>
          <a:xfrm>
            <a:off x="640080" y="262432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1" name="text-398"/>
          <p:cNvSpPr txBox="1"/>
          <p:nvPr/>
        </p:nvSpPr>
        <p:spPr>
          <a:xfrm>
            <a:off x="1280160" y="2487168"/>
            <a:ext cx="3108960" cy="320040"/>
          </a:xfrm>
          <a:prstGeom prst="rect">
            <a:avLst/>
          </a:prstGeom>
          <a:noFill/>
          <a:ln/>
        </p:spPr>
        <p:txBody>
          <a:bodyPr wrap="square" lIns="0" tIns="0" rIns="0" bIns="0" rtlCol="0" anchor="t"/>
          <a:lstStyle/>
          <a:p>
            <a:pPr marL="0" indent="0">
              <a:buNone/>
            </a:pPr>
            <a:r>
              <a:rPr lang="en-US" sz="1600" b="1" dirty="0">
                <a:solidFill>
                  <a:schemeClr val="tx2"/>
                </a:solidFill>
              </a:rPr>
              <a:t>Strengths spotting</a:t>
            </a:r>
            <a:endParaRPr lang="en-US" sz="1600" dirty="0"/>
          </a:p>
        </p:txBody>
      </p:sp>
      <p:sp>
        <p:nvSpPr>
          <p:cNvPr id="12" name="text-399"/>
          <p:cNvSpPr txBox="1"/>
          <p:nvPr/>
        </p:nvSpPr>
        <p:spPr>
          <a:xfrm>
            <a:off x="1280160" y="2816352"/>
            <a:ext cx="3108960" cy="457200"/>
          </a:xfrm>
          <a:prstGeom prst="rect">
            <a:avLst/>
          </a:prstGeom>
          <a:noFill/>
          <a:ln/>
        </p:spPr>
        <p:txBody>
          <a:bodyPr wrap="square" lIns="0" tIns="0" rIns="0" bIns="0" rtlCol="0" anchor="t"/>
          <a:lstStyle/>
          <a:p>
            <a:pPr marL="0" indent="0">
              <a:buNone/>
            </a:pPr>
            <a:r>
              <a:rPr lang="en-US" sz="1400" dirty="0">
                <a:solidFill>
                  <a:schemeClr val="tx1"/>
                </a:solidFill>
              </a:rPr>
              <a:t>Name one strength you saw in someone today</a:t>
            </a:r>
            <a:endParaRPr lang="en-US" sz="1400" dirty="0"/>
          </a:p>
        </p:txBody>
      </p:sp>
      <p:sp>
        <p:nvSpPr>
          <p:cNvPr id="13" name="toolkit-card-400"/>
          <p:cNvSpPr/>
          <p:nvPr/>
        </p:nvSpPr>
        <p:spPr>
          <a:xfrm>
            <a:off x="457200" y="3474720"/>
            <a:ext cx="4023360" cy="960120"/>
          </a:xfrm>
          <a:prstGeom prst="roundRect">
            <a:avLst>
              <a:gd name="adj" fmla="val 7619"/>
            </a:avLst>
          </a:prstGeom>
          <a:solidFill>
            <a:schemeClr val="bg2"/>
          </a:solidFill>
          <a:ln/>
        </p:spPr>
        <p:txBody>
          <a:bodyPr/>
          <a:lstStyle/>
          <a:p>
            <a:endParaRPr lang="en-US"/>
          </a:p>
        </p:txBody>
      </p:sp>
      <p:sp>
        <p:nvSpPr>
          <p:cNvPr id="14" name="circle-401"/>
          <p:cNvSpPr/>
          <p:nvPr/>
        </p:nvSpPr>
        <p:spPr>
          <a:xfrm>
            <a:off x="640080" y="3721608"/>
            <a:ext cx="457200" cy="457200"/>
          </a:xfrm>
          <a:prstGeom prst="ellipse">
            <a:avLst/>
          </a:prstGeom>
          <a:solidFill>
            <a:srgbClr val="C8452F"/>
          </a:solidFill>
          <a:ln/>
        </p:spPr>
        <p:txBody>
          <a:bodyPr/>
          <a:lstStyle/>
          <a:p>
            <a:endParaRPr lang="en-US"/>
          </a:p>
        </p:txBody>
      </p:sp>
      <p:sp>
        <p:nvSpPr>
          <p:cNvPr id="15" name="text-402"/>
          <p:cNvSpPr txBox="1"/>
          <p:nvPr/>
        </p:nvSpPr>
        <p:spPr>
          <a:xfrm>
            <a:off x="640080" y="372160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6" name="text-403"/>
          <p:cNvSpPr txBox="1"/>
          <p:nvPr/>
        </p:nvSpPr>
        <p:spPr>
          <a:xfrm>
            <a:off x="1280160" y="3584448"/>
            <a:ext cx="3108960" cy="320040"/>
          </a:xfrm>
          <a:prstGeom prst="rect">
            <a:avLst/>
          </a:prstGeom>
          <a:noFill/>
          <a:ln/>
        </p:spPr>
        <p:txBody>
          <a:bodyPr wrap="square" lIns="0" tIns="0" rIns="0" bIns="0" rtlCol="0" anchor="t"/>
          <a:lstStyle/>
          <a:p>
            <a:pPr marL="0" indent="0">
              <a:buNone/>
            </a:pPr>
            <a:r>
              <a:rPr lang="en-US" sz="1600" b="1" dirty="0">
                <a:solidFill>
                  <a:schemeClr val="tx2"/>
                </a:solidFill>
              </a:rPr>
              <a:t>Gratitude note</a:t>
            </a:r>
            <a:endParaRPr lang="en-US" sz="1600" dirty="0"/>
          </a:p>
        </p:txBody>
      </p:sp>
      <p:sp>
        <p:nvSpPr>
          <p:cNvPr id="17" name="text-404"/>
          <p:cNvSpPr txBox="1"/>
          <p:nvPr/>
        </p:nvSpPr>
        <p:spPr>
          <a:xfrm>
            <a:off x="1280160" y="3913632"/>
            <a:ext cx="3108960" cy="457200"/>
          </a:xfrm>
          <a:prstGeom prst="rect">
            <a:avLst/>
          </a:prstGeom>
          <a:noFill/>
          <a:ln/>
        </p:spPr>
        <p:txBody>
          <a:bodyPr wrap="square" lIns="0" tIns="0" rIns="0" bIns="0" rtlCol="0" anchor="t"/>
          <a:lstStyle/>
          <a:p>
            <a:pPr marL="0" indent="0">
              <a:buNone/>
            </a:pPr>
            <a:r>
              <a:rPr lang="en-US" sz="1400" dirty="0">
                <a:solidFill>
                  <a:schemeClr val="tx1"/>
                </a:solidFill>
              </a:rPr>
              <a:t>Send one specific thank-you each week</a:t>
            </a:r>
            <a:endParaRPr lang="en-US" sz="1400" dirty="0"/>
          </a:p>
        </p:txBody>
      </p:sp>
      <p:sp>
        <p:nvSpPr>
          <p:cNvPr id="18" name="toolkit-card-405"/>
          <p:cNvSpPr/>
          <p:nvPr/>
        </p:nvSpPr>
        <p:spPr>
          <a:xfrm>
            <a:off x="4663440" y="1280160"/>
            <a:ext cx="4023360" cy="960120"/>
          </a:xfrm>
          <a:prstGeom prst="roundRect">
            <a:avLst>
              <a:gd name="adj" fmla="val 7619"/>
            </a:avLst>
          </a:prstGeom>
          <a:solidFill>
            <a:schemeClr val="bg2"/>
          </a:solidFill>
          <a:ln/>
        </p:spPr>
        <p:txBody>
          <a:bodyPr/>
          <a:lstStyle/>
          <a:p>
            <a:endParaRPr lang="en-US"/>
          </a:p>
        </p:txBody>
      </p:sp>
      <p:sp>
        <p:nvSpPr>
          <p:cNvPr id="19" name="circle-406"/>
          <p:cNvSpPr/>
          <p:nvPr/>
        </p:nvSpPr>
        <p:spPr>
          <a:xfrm>
            <a:off x="4846320" y="1527048"/>
            <a:ext cx="457200" cy="457200"/>
          </a:xfrm>
          <a:prstGeom prst="ellipse">
            <a:avLst/>
          </a:prstGeom>
          <a:solidFill>
            <a:srgbClr val="6B4FA0"/>
          </a:solidFill>
          <a:ln/>
        </p:spPr>
        <p:txBody>
          <a:bodyPr/>
          <a:lstStyle/>
          <a:p>
            <a:endParaRPr lang="en-US"/>
          </a:p>
        </p:txBody>
      </p:sp>
      <p:sp>
        <p:nvSpPr>
          <p:cNvPr id="20" name="text-407"/>
          <p:cNvSpPr txBox="1"/>
          <p:nvPr/>
        </p:nvSpPr>
        <p:spPr>
          <a:xfrm>
            <a:off x="4846320" y="152704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1" name="text-408"/>
          <p:cNvSpPr txBox="1"/>
          <p:nvPr/>
        </p:nvSpPr>
        <p:spPr>
          <a:xfrm>
            <a:off x="5486400" y="1389888"/>
            <a:ext cx="3108960" cy="320040"/>
          </a:xfrm>
          <a:prstGeom prst="rect">
            <a:avLst/>
          </a:prstGeom>
          <a:noFill/>
          <a:ln/>
        </p:spPr>
        <p:txBody>
          <a:bodyPr wrap="square" lIns="0" tIns="0" rIns="0" bIns="0" rtlCol="0" anchor="t"/>
          <a:lstStyle/>
          <a:p>
            <a:pPr marL="0" indent="0">
              <a:buNone/>
            </a:pPr>
            <a:r>
              <a:rPr lang="en-US" sz="1600" b="1" dirty="0">
                <a:solidFill>
                  <a:schemeClr val="tx2"/>
                </a:solidFill>
              </a:rPr>
              <a:t>ABCDE reframe</a:t>
            </a:r>
            <a:endParaRPr lang="en-US" sz="1600" dirty="0"/>
          </a:p>
        </p:txBody>
      </p:sp>
      <p:sp>
        <p:nvSpPr>
          <p:cNvPr id="22" name="text-409"/>
          <p:cNvSpPr txBox="1"/>
          <p:nvPr/>
        </p:nvSpPr>
        <p:spPr>
          <a:xfrm>
            <a:off x="5486400" y="1719072"/>
            <a:ext cx="3108960" cy="457200"/>
          </a:xfrm>
          <a:prstGeom prst="rect">
            <a:avLst/>
          </a:prstGeom>
          <a:noFill/>
          <a:ln/>
        </p:spPr>
        <p:txBody>
          <a:bodyPr wrap="square" lIns="0" tIns="0" rIns="0" bIns="0" rtlCol="0" anchor="t"/>
          <a:lstStyle/>
          <a:p>
            <a:pPr marL="0" indent="0">
              <a:buNone/>
            </a:pPr>
            <a:r>
              <a:rPr lang="en-US" sz="1400" dirty="0">
                <a:solidFill>
                  <a:schemeClr val="tx1"/>
                </a:solidFill>
              </a:rPr>
              <a:t>Challenge unhelpful beliefs after a setback</a:t>
            </a:r>
            <a:endParaRPr lang="en-US" sz="1400" dirty="0"/>
          </a:p>
        </p:txBody>
      </p:sp>
      <p:sp>
        <p:nvSpPr>
          <p:cNvPr id="23" name="toolkit-card-410"/>
          <p:cNvSpPr/>
          <p:nvPr/>
        </p:nvSpPr>
        <p:spPr>
          <a:xfrm>
            <a:off x="4663440" y="2377440"/>
            <a:ext cx="4023360" cy="960120"/>
          </a:xfrm>
          <a:prstGeom prst="roundRect">
            <a:avLst>
              <a:gd name="adj" fmla="val 7619"/>
            </a:avLst>
          </a:prstGeom>
          <a:solidFill>
            <a:schemeClr val="bg2"/>
          </a:solidFill>
          <a:ln/>
        </p:spPr>
        <p:txBody>
          <a:bodyPr/>
          <a:lstStyle/>
          <a:p>
            <a:endParaRPr lang="en-US"/>
          </a:p>
        </p:txBody>
      </p:sp>
      <p:sp>
        <p:nvSpPr>
          <p:cNvPr id="24" name="circle-411"/>
          <p:cNvSpPr/>
          <p:nvPr/>
        </p:nvSpPr>
        <p:spPr>
          <a:xfrm>
            <a:off x="4846320" y="2624328"/>
            <a:ext cx="457200" cy="457200"/>
          </a:xfrm>
          <a:prstGeom prst="ellipse">
            <a:avLst/>
          </a:prstGeom>
          <a:solidFill>
            <a:srgbClr val="3E8E5A"/>
          </a:solidFill>
          <a:ln/>
        </p:spPr>
        <p:txBody>
          <a:bodyPr/>
          <a:lstStyle/>
          <a:p>
            <a:endParaRPr lang="en-US"/>
          </a:p>
        </p:txBody>
      </p:sp>
      <p:sp>
        <p:nvSpPr>
          <p:cNvPr id="25" name="text-412"/>
          <p:cNvSpPr txBox="1"/>
          <p:nvPr/>
        </p:nvSpPr>
        <p:spPr>
          <a:xfrm>
            <a:off x="4846320" y="2624328"/>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6" name="text-413"/>
          <p:cNvSpPr txBox="1"/>
          <p:nvPr/>
        </p:nvSpPr>
        <p:spPr>
          <a:xfrm>
            <a:off x="5486400" y="2487168"/>
            <a:ext cx="3108960" cy="320040"/>
          </a:xfrm>
          <a:prstGeom prst="rect">
            <a:avLst/>
          </a:prstGeom>
          <a:noFill/>
          <a:ln/>
        </p:spPr>
        <p:txBody>
          <a:bodyPr wrap="square" lIns="0" tIns="0" rIns="0" bIns="0" rtlCol="0" anchor="t"/>
          <a:lstStyle/>
          <a:p>
            <a:pPr marL="0" indent="0">
              <a:buNone/>
            </a:pPr>
            <a:r>
              <a:rPr lang="en-US" sz="1600" b="1" dirty="0">
                <a:solidFill>
                  <a:schemeClr val="tx2"/>
                </a:solidFill>
              </a:rPr>
              <a:t>Wins-first meetings</a:t>
            </a:r>
            <a:endParaRPr lang="en-US" sz="1600" dirty="0"/>
          </a:p>
        </p:txBody>
      </p:sp>
      <p:sp>
        <p:nvSpPr>
          <p:cNvPr id="27" name="text-414"/>
          <p:cNvSpPr txBox="1"/>
          <p:nvPr/>
        </p:nvSpPr>
        <p:spPr>
          <a:xfrm>
            <a:off x="5486400" y="2816352"/>
            <a:ext cx="3108960" cy="457200"/>
          </a:xfrm>
          <a:prstGeom prst="rect">
            <a:avLst/>
          </a:prstGeom>
          <a:noFill/>
          <a:ln/>
        </p:spPr>
        <p:txBody>
          <a:bodyPr wrap="square" lIns="0" tIns="0" rIns="0" bIns="0" rtlCol="0" anchor="t"/>
          <a:lstStyle/>
          <a:p>
            <a:pPr marL="0" indent="0">
              <a:buNone/>
            </a:pPr>
            <a:r>
              <a:rPr lang="en-US" sz="1400" dirty="0">
                <a:solidFill>
                  <a:schemeClr val="tx1"/>
                </a:solidFill>
              </a:rPr>
              <a:t>Open every meeting with one thing that worked</a:t>
            </a:r>
            <a:endParaRPr lang="en-US" sz="1400" dirty="0"/>
          </a:p>
        </p:txBody>
      </p:sp>
      <p:sp>
        <p:nvSpPr>
          <p:cNvPr id="28" name="pick-one-415"/>
          <p:cNvSpPr/>
          <p:nvPr/>
        </p:nvSpPr>
        <p:spPr>
          <a:xfrm>
            <a:off x="4663440" y="3474720"/>
            <a:ext cx="4023360" cy="960120"/>
          </a:xfrm>
          <a:prstGeom prst="roundRect">
            <a:avLst>
              <a:gd name="adj" fmla="val 7619"/>
            </a:avLst>
          </a:prstGeom>
          <a:solidFill>
            <a:schemeClr val="tx2"/>
          </a:solidFill>
          <a:ln/>
        </p:spPr>
        <p:txBody>
          <a:bodyPr/>
          <a:lstStyle/>
          <a:p>
            <a:endParaRPr lang="en-US"/>
          </a:p>
        </p:txBody>
      </p:sp>
      <p:sp>
        <p:nvSpPr>
          <p:cNvPr id="29" name="text-416"/>
          <p:cNvSpPr txBox="1"/>
          <p:nvPr/>
        </p:nvSpPr>
        <p:spPr>
          <a:xfrm>
            <a:off x="4846320" y="3474720"/>
            <a:ext cx="3657600" cy="960120"/>
          </a:xfrm>
          <a:prstGeom prst="rect">
            <a:avLst/>
          </a:prstGeom>
          <a:noFill/>
          <a:ln/>
        </p:spPr>
        <p:txBody>
          <a:bodyPr wrap="square" lIns="0" tIns="0" rIns="0" bIns="0" rtlCol="0" anchor="ctr"/>
          <a:lstStyle/>
          <a:p>
            <a:pPr marL="0" indent="0" algn="ctr">
              <a:buNone/>
            </a:pPr>
            <a:r>
              <a:rPr lang="en-US" sz="2200" b="1" dirty="0">
                <a:solidFill>
                  <a:schemeClr val="accent1"/>
                </a:solidFill>
              </a:rPr>
              <a:t>Pick one. Start Monday.</a:t>
            </a:r>
            <a:endParaRPr lang="en-US" sz="2200" dirty="0"/>
          </a:p>
        </p:txBody>
      </p:sp>
      <p:sp>
        <p:nvSpPr>
          <p:cNvPr id="30"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tx2"/>
                </a:solidFill>
              </a:rPr>
              <a:t>Your 30-day commitment</a:t>
            </a:r>
            <a:endParaRPr lang="en-US" sz="3000" dirty="0"/>
          </a:p>
        </p:txBody>
      </p:sp>
      <p:sp>
        <p:nvSpPr>
          <p:cNvPr id="3" name="commit-row-417"/>
          <p:cNvSpPr/>
          <p:nvPr/>
        </p:nvSpPr>
        <p:spPr>
          <a:xfrm>
            <a:off x="457200" y="1280160"/>
            <a:ext cx="8229600" cy="914400"/>
          </a:xfrm>
          <a:prstGeom prst="roundRect">
            <a:avLst>
              <a:gd name="adj" fmla="val 8000"/>
            </a:avLst>
          </a:prstGeom>
          <a:solidFill>
            <a:schemeClr val="bg2"/>
          </a:solidFill>
          <a:ln/>
        </p:spPr>
        <p:txBody>
          <a:bodyPr/>
          <a:lstStyle/>
          <a:p>
            <a:endParaRPr lang="en-US"/>
          </a:p>
        </p:txBody>
      </p:sp>
      <p:sp>
        <p:nvSpPr>
          <p:cNvPr id="4" name="circle-418"/>
          <p:cNvSpPr/>
          <p:nvPr/>
        </p:nvSpPr>
        <p:spPr>
          <a:xfrm>
            <a:off x="640080" y="1417320"/>
            <a:ext cx="640080" cy="640080"/>
          </a:xfrm>
          <a:prstGeom prst="ellipse">
            <a:avLst/>
          </a:prstGeom>
          <a:solidFill>
            <a:srgbClr val="1F8A8A"/>
          </a:solidFill>
          <a:ln/>
        </p:spPr>
        <p:txBody>
          <a:bodyPr/>
          <a:lstStyle/>
          <a:p>
            <a:endParaRPr lang="en-US"/>
          </a:p>
        </p:txBody>
      </p:sp>
      <p:pic>
        <p:nvPicPr>
          <p:cNvPr id="5" name="icon-419" descr="icon"/>
          <p:cNvPicPr>
            <a:picLocks noChangeAspect="1"/>
          </p:cNvPicPr>
          <p:nvPr/>
        </p:nvPicPr>
        <p:blipFill>
          <a:blip r:embed="rId3"/>
          <a:stretch>
            <a:fillRect/>
          </a:stretch>
        </p:blipFill>
        <p:spPr>
          <a:xfrm>
            <a:off x="793699" y="1570939"/>
            <a:ext cx="332842" cy="332842"/>
          </a:xfrm>
          <a:prstGeom prst="rect">
            <a:avLst/>
          </a:prstGeom>
        </p:spPr>
      </p:pic>
      <p:sp>
        <p:nvSpPr>
          <p:cNvPr id="6" name="text-420"/>
          <p:cNvSpPr txBox="1"/>
          <p:nvPr/>
        </p:nvSpPr>
        <p:spPr>
          <a:xfrm>
            <a:off x="1508760" y="1280160"/>
            <a:ext cx="2743200" cy="914400"/>
          </a:xfrm>
          <a:prstGeom prst="rect">
            <a:avLst/>
          </a:prstGeom>
          <a:noFill/>
          <a:ln/>
        </p:spPr>
        <p:txBody>
          <a:bodyPr wrap="square" lIns="0" tIns="0" rIns="0" bIns="0" rtlCol="0" anchor="ctr"/>
          <a:lstStyle/>
          <a:p>
            <a:pPr marL="0" indent="0">
              <a:buNone/>
            </a:pPr>
            <a:r>
              <a:rPr lang="en-US" sz="1700" b="1" dirty="0">
                <a:solidFill>
                  <a:schemeClr val="tx2"/>
                </a:solidFill>
              </a:rPr>
              <a:t>One practice I will start</a:t>
            </a:r>
            <a:endParaRPr lang="en-US" sz="1700" dirty="0"/>
          </a:p>
        </p:txBody>
      </p:sp>
      <p:sp>
        <p:nvSpPr>
          <p:cNvPr id="7" name="write-line-421"/>
          <p:cNvSpPr/>
          <p:nvPr/>
        </p:nvSpPr>
        <p:spPr>
          <a:xfrm>
            <a:off x="4389120" y="1965960"/>
            <a:ext cx="4023360" cy="0"/>
          </a:xfrm>
          <a:prstGeom prst="line">
            <a:avLst/>
          </a:prstGeom>
          <a:noFill/>
          <a:ln w="15875">
            <a:solidFill>
              <a:schemeClr val="tx2"/>
            </a:solidFill>
            <a:prstDash val="solid"/>
          </a:ln>
        </p:spPr>
        <p:txBody>
          <a:bodyPr/>
          <a:lstStyle/>
          <a:p>
            <a:endParaRPr lang="en-US"/>
          </a:p>
        </p:txBody>
      </p:sp>
      <p:sp>
        <p:nvSpPr>
          <p:cNvPr id="8" name="commit-row-422"/>
          <p:cNvSpPr/>
          <p:nvPr/>
        </p:nvSpPr>
        <p:spPr>
          <a:xfrm>
            <a:off x="457200" y="2331720"/>
            <a:ext cx="8229600" cy="914400"/>
          </a:xfrm>
          <a:prstGeom prst="roundRect">
            <a:avLst>
              <a:gd name="adj" fmla="val 8000"/>
            </a:avLst>
          </a:prstGeom>
          <a:solidFill>
            <a:schemeClr val="bg2"/>
          </a:solidFill>
          <a:ln/>
        </p:spPr>
        <p:txBody>
          <a:bodyPr/>
          <a:lstStyle/>
          <a:p>
            <a:endParaRPr lang="en-US"/>
          </a:p>
        </p:txBody>
      </p:sp>
      <p:sp>
        <p:nvSpPr>
          <p:cNvPr id="9" name="circle-423"/>
          <p:cNvSpPr/>
          <p:nvPr/>
        </p:nvSpPr>
        <p:spPr>
          <a:xfrm>
            <a:off x="640080" y="2468880"/>
            <a:ext cx="640080" cy="640080"/>
          </a:xfrm>
          <a:prstGeom prst="ellipse">
            <a:avLst/>
          </a:prstGeom>
          <a:solidFill>
            <a:srgbClr val="C8452F"/>
          </a:solidFill>
          <a:ln/>
        </p:spPr>
        <p:txBody>
          <a:bodyPr/>
          <a:lstStyle/>
          <a:p>
            <a:endParaRPr lang="en-US"/>
          </a:p>
        </p:txBody>
      </p:sp>
      <p:pic>
        <p:nvPicPr>
          <p:cNvPr id="10" name="icon-424" descr="icon"/>
          <p:cNvPicPr>
            <a:picLocks noChangeAspect="1"/>
          </p:cNvPicPr>
          <p:nvPr/>
        </p:nvPicPr>
        <p:blipFill>
          <a:blip r:embed="rId4"/>
          <a:stretch>
            <a:fillRect/>
          </a:stretch>
        </p:blipFill>
        <p:spPr>
          <a:xfrm>
            <a:off x="793699" y="2622499"/>
            <a:ext cx="332842" cy="332842"/>
          </a:xfrm>
          <a:prstGeom prst="rect">
            <a:avLst/>
          </a:prstGeom>
        </p:spPr>
      </p:pic>
      <p:sp>
        <p:nvSpPr>
          <p:cNvPr id="11" name="text-425"/>
          <p:cNvSpPr txBox="1"/>
          <p:nvPr/>
        </p:nvSpPr>
        <p:spPr>
          <a:xfrm>
            <a:off x="1508760" y="2331720"/>
            <a:ext cx="2743200" cy="914400"/>
          </a:xfrm>
          <a:prstGeom prst="rect">
            <a:avLst/>
          </a:prstGeom>
          <a:noFill/>
          <a:ln/>
        </p:spPr>
        <p:txBody>
          <a:bodyPr wrap="square" lIns="0" tIns="0" rIns="0" bIns="0" rtlCol="0" anchor="ctr"/>
          <a:lstStyle/>
          <a:p>
            <a:pPr marL="0" indent="0">
              <a:buNone/>
            </a:pPr>
            <a:r>
              <a:rPr lang="en-US" sz="1700" b="1" dirty="0">
                <a:solidFill>
                  <a:schemeClr val="tx2"/>
                </a:solidFill>
              </a:rPr>
              <a:t>One person I will start with</a:t>
            </a:r>
            <a:endParaRPr lang="en-US" sz="1700" dirty="0"/>
          </a:p>
        </p:txBody>
      </p:sp>
      <p:sp>
        <p:nvSpPr>
          <p:cNvPr id="12" name="write-line-426"/>
          <p:cNvSpPr/>
          <p:nvPr/>
        </p:nvSpPr>
        <p:spPr>
          <a:xfrm>
            <a:off x="4389120" y="3017520"/>
            <a:ext cx="4023360" cy="0"/>
          </a:xfrm>
          <a:prstGeom prst="line">
            <a:avLst/>
          </a:prstGeom>
          <a:noFill/>
          <a:ln w="15875">
            <a:solidFill>
              <a:schemeClr val="tx2"/>
            </a:solidFill>
            <a:prstDash val="solid"/>
          </a:ln>
        </p:spPr>
        <p:txBody>
          <a:bodyPr/>
          <a:lstStyle/>
          <a:p>
            <a:endParaRPr lang="en-US"/>
          </a:p>
        </p:txBody>
      </p:sp>
      <p:sp>
        <p:nvSpPr>
          <p:cNvPr id="13" name="commit-row-427"/>
          <p:cNvSpPr/>
          <p:nvPr/>
        </p:nvSpPr>
        <p:spPr>
          <a:xfrm>
            <a:off x="457200" y="3383280"/>
            <a:ext cx="8229600" cy="914400"/>
          </a:xfrm>
          <a:prstGeom prst="roundRect">
            <a:avLst>
              <a:gd name="adj" fmla="val 8000"/>
            </a:avLst>
          </a:prstGeom>
          <a:solidFill>
            <a:schemeClr val="bg2"/>
          </a:solidFill>
          <a:ln/>
        </p:spPr>
        <p:txBody>
          <a:bodyPr/>
          <a:lstStyle/>
          <a:p>
            <a:endParaRPr lang="en-US"/>
          </a:p>
        </p:txBody>
      </p:sp>
      <p:sp>
        <p:nvSpPr>
          <p:cNvPr id="14" name="circle-428"/>
          <p:cNvSpPr/>
          <p:nvPr/>
        </p:nvSpPr>
        <p:spPr>
          <a:xfrm>
            <a:off x="640080" y="3520440"/>
            <a:ext cx="640080" cy="640080"/>
          </a:xfrm>
          <a:prstGeom prst="ellipse">
            <a:avLst/>
          </a:prstGeom>
          <a:solidFill>
            <a:srgbClr val="6B4FA0"/>
          </a:solidFill>
          <a:ln/>
        </p:spPr>
        <p:txBody>
          <a:bodyPr/>
          <a:lstStyle/>
          <a:p>
            <a:endParaRPr lang="en-US"/>
          </a:p>
        </p:txBody>
      </p:sp>
      <p:pic>
        <p:nvPicPr>
          <p:cNvPr id="15" name="icon-429" descr="icon"/>
          <p:cNvPicPr>
            <a:picLocks noChangeAspect="1"/>
          </p:cNvPicPr>
          <p:nvPr/>
        </p:nvPicPr>
        <p:blipFill>
          <a:blip r:embed="rId5"/>
          <a:stretch>
            <a:fillRect/>
          </a:stretch>
        </p:blipFill>
        <p:spPr>
          <a:xfrm>
            <a:off x="793699" y="3674059"/>
            <a:ext cx="332842" cy="332842"/>
          </a:xfrm>
          <a:prstGeom prst="rect">
            <a:avLst/>
          </a:prstGeom>
        </p:spPr>
      </p:pic>
      <p:sp>
        <p:nvSpPr>
          <p:cNvPr id="16" name="text-430"/>
          <p:cNvSpPr txBox="1"/>
          <p:nvPr/>
        </p:nvSpPr>
        <p:spPr>
          <a:xfrm>
            <a:off x="1508760" y="3383280"/>
            <a:ext cx="2743200" cy="914400"/>
          </a:xfrm>
          <a:prstGeom prst="rect">
            <a:avLst/>
          </a:prstGeom>
          <a:noFill/>
          <a:ln/>
        </p:spPr>
        <p:txBody>
          <a:bodyPr wrap="square" lIns="0" tIns="0" rIns="0" bIns="0" rtlCol="0" anchor="ctr"/>
          <a:lstStyle/>
          <a:p>
            <a:pPr marL="0" indent="0">
              <a:buNone/>
            </a:pPr>
            <a:r>
              <a:rPr lang="en-US" sz="1700" b="1" dirty="0">
                <a:solidFill>
                  <a:schemeClr val="tx2"/>
                </a:solidFill>
              </a:rPr>
              <a:t>How I will know it is working</a:t>
            </a:r>
            <a:endParaRPr lang="en-US" sz="1700" dirty="0"/>
          </a:p>
        </p:txBody>
      </p:sp>
      <p:sp>
        <p:nvSpPr>
          <p:cNvPr id="17" name="write-line-431"/>
          <p:cNvSpPr/>
          <p:nvPr/>
        </p:nvSpPr>
        <p:spPr>
          <a:xfrm>
            <a:off x="4389120" y="4069080"/>
            <a:ext cx="4023360" cy="0"/>
          </a:xfrm>
          <a:prstGeom prst="line">
            <a:avLst/>
          </a:prstGeom>
          <a:noFill/>
          <a:ln w="15875">
            <a:solidFill>
              <a:schemeClr val="tx2"/>
            </a:solidFill>
            <a:prstDash val="solid"/>
          </a:ln>
        </p:spPr>
        <p:txBody>
          <a:bodyPr/>
          <a:lstStyle/>
          <a:p>
            <a:endParaRPr lang="en-US"/>
          </a:p>
        </p:txBody>
      </p:sp>
      <p:sp>
        <p:nvSpPr>
          <p:cNvPr id="18" name="text-432"/>
          <p:cNvSpPr txBox="1"/>
          <p:nvPr/>
        </p:nvSpPr>
        <p:spPr>
          <a:xfrm>
            <a:off x="457200" y="4480560"/>
            <a:ext cx="8229600" cy="274320"/>
          </a:xfrm>
          <a:prstGeom prst="rect">
            <a:avLst/>
          </a:prstGeom>
          <a:noFill/>
          <a:ln/>
        </p:spPr>
        <p:txBody>
          <a:bodyPr wrap="square" lIns="0" tIns="0" rIns="0" bIns="0" rtlCol="0" anchor="t"/>
          <a:lstStyle/>
          <a:p>
            <a:pPr marL="0" indent="0">
              <a:buNone/>
            </a:pPr>
            <a:r>
              <a:rPr lang="en-US" sz="1400" i="1" dirty="0">
                <a:solidFill>
                  <a:schemeClr val="tx2"/>
                </a:solidFill>
              </a:rPr>
              <a:t>Write it down now (2 minutes), then share it with your partner.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tx2"/>
                </a:solidFill>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777240"/>
          </a:xfrm>
          <a:prstGeom prst="rect">
            <a:avLst/>
          </a:prstGeom>
          <a:noFill/>
          <a:ln/>
        </p:spPr>
        <p:txBody>
          <a:bodyPr wrap="square" lIns="0" tIns="0" rIns="0" bIns="0" rtlCol="0" anchor="ctr"/>
          <a:lstStyle/>
          <a:p>
            <a:pPr marL="0" indent="0" algn="l">
              <a:buNone/>
            </a:pPr>
            <a:r>
              <a:rPr lang="en-US" sz="3000" b="1" dirty="0">
                <a:solidFill>
                  <a:schemeClr val="bg1"/>
                </a:solidFill>
              </a:rPr>
              <a:t>Key takeaways</a:t>
            </a:r>
            <a:endParaRPr lang="en-US" sz="3000" dirty="0"/>
          </a:p>
        </p:txBody>
      </p:sp>
      <p:sp>
        <p:nvSpPr>
          <p:cNvPr id="3" name="text-433"/>
          <p:cNvSpPr txBox="1"/>
          <p:nvPr/>
        </p:nvSpPr>
        <p:spPr>
          <a:xfrm>
            <a:off x="457200" y="1280160"/>
            <a:ext cx="731520" cy="731520"/>
          </a:xfrm>
          <a:prstGeom prst="rect">
            <a:avLst/>
          </a:prstGeom>
          <a:noFill/>
          <a:ln/>
        </p:spPr>
        <p:txBody>
          <a:bodyPr wrap="square" lIns="0" tIns="0" rIns="0" bIns="0" rtlCol="0" anchor="ctr"/>
          <a:lstStyle/>
          <a:p>
            <a:pPr marL="0" indent="0">
              <a:buNone/>
            </a:pPr>
            <a:r>
              <a:rPr lang="en-US" sz="4000" b="1" dirty="0">
                <a:solidFill>
                  <a:schemeClr val="accent1"/>
                </a:solidFill>
              </a:rPr>
              <a:t>1</a:t>
            </a:r>
            <a:endParaRPr lang="en-US" sz="4000" dirty="0"/>
          </a:p>
        </p:txBody>
      </p:sp>
      <p:sp>
        <p:nvSpPr>
          <p:cNvPr id="4" name="text-434"/>
          <p:cNvSpPr txBox="1"/>
          <p:nvPr/>
        </p:nvSpPr>
        <p:spPr>
          <a:xfrm>
            <a:off x="1371600" y="1280160"/>
            <a:ext cx="7315200" cy="731520"/>
          </a:xfrm>
          <a:prstGeom prst="rect">
            <a:avLst/>
          </a:prstGeom>
          <a:noFill/>
          <a:ln/>
        </p:spPr>
        <p:txBody>
          <a:bodyPr wrap="square" lIns="0" tIns="0" rIns="0" bIns="0" rtlCol="0" anchor="ctr"/>
          <a:lstStyle/>
          <a:p>
            <a:pPr marL="0" indent="0">
              <a:buNone/>
            </a:pPr>
            <a:r>
              <a:rPr lang="en-US" sz="2000" dirty="0">
                <a:solidFill>
                  <a:schemeClr val="bg1"/>
                </a:solidFill>
              </a:rPr>
              <a:t>Positivity is a performance strategy, not a mood.</a:t>
            </a:r>
            <a:endParaRPr lang="en-US" sz="2000" dirty="0"/>
          </a:p>
        </p:txBody>
      </p:sp>
      <p:sp>
        <p:nvSpPr>
          <p:cNvPr id="5" name="text-435"/>
          <p:cNvSpPr txBox="1"/>
          <p:nvPr/>
        </p:nvSpPr>
        <p:spPr>
          <a:xfrm>
            <a:off x="457200" y="2103120"/>
            <a:ext cx="731520" cy="731520"/>
          </a:xfrm>
          <a:prstGeom prst="rect">
            <a:avLst/>
          </a:prstGeom>
          <a:noFill/>
          <a:ln/>
        </p:spPr>
        <p:txBody>
          <a:bodyPr wrap="square" lIns="0" tIns="0" rIns="0" bIns="0" rtlCol="0" anchor="ctr"/>
          <a:lstStyle/>
          <a:p>
            <a:pPr marL="0" indent="0">
              <a:buNone/>
            </a:pPr>
            <a:r>
              <a:rPr lang="en-US" sz="4000" b="1" dirty="0">
                <a:solidFill>
                  <a:schemeClr val="accent1"/>
                </a:solidFill>
              </a:rPr>
              <a:t>2</a:t>
            </a:r>
            <a:endParaRPr lang="en-US" sz="4000" dirty="0"/>
          </a:p>
        </p:txBody>
      </p:sp>
      <p:sp>
        <p:nvSpPr>
          <p:cNvPr id="6" name="text-436"/>
          <p:cNvSpPr txBox="1"/>
          <p:nvPr/>
        </p:nvSpPr>
        <p:spPr>
          <a:xfrm>
            <a:off x="1371600" y="2103120"/>
            <a:ext cx="7315200" cy="731520"/>
          </a:xfrm>
          <a:prstGeom prst="rect">
            <a:avLst/>
          </a:prstGeom>
          <a:noFill/>
          <a:ln/>
        </p:spPr>
        <p:txBody>
          <a:bodyPr wrap="square" lIns="0" tIns="0" rIns="0" bIns="0" rtlCol="0" anchor="ctr"/>
          <a:lstStyle/>
          <a:p>
            <a:pPr marL="0" indent="0">
              <a:buNone/>
            </a:pPr>
            <a:r>
              <a:rPr lang="en-US" sz="2000" dirty="0">
                <a:solidFill>
                  <a:schemeClr val="bg1"/>
                </a:solidFill>
              </a:rPr>
              <a:t>Build on strengths; grow with mindset and learned optimism.</a:t>
            </a:r>
            <a:endParaRPr lang="en-US" sz="2000" dirty="0"/>
          </a:p>
        </p:txBody>
      </p:sp>
      <p:sp>
        <p:nvSpPr>
          <p:cNvPr id="7" name="text-437"/>
          <p:cNvSpPr txBox="1"/>
          <p:nvPr/>
        </p:nvSpPr>
        <p:spPr>
          <a:xfrm>
            <a:off x="457200" y="2926080"/>
            <a:ext cx="731520" cy="731520"/>
          </a:xfrm>
          <a:prstGeom prst="rect">
            <a:avLst/>
          </a:prstGeom>
          <a:noFill/>
          <a:ln/>
        </p:spPr>
        <p:txBody>
          <a:bodyPr wrap="square" lIns="0" tIns="0" rIns="0" bIns="0" rtlCol="0" anchor="ctr"/>
          <a:lstStyle/>
          <a:p>
            <a:pPr marL="0" indent="0">
              <a:buNone/>
            </a:pPr>
            <a:r>
              <a:rPr lang="en-US" sz="4000" b="1" dirty="0">
                <a:solidFill>
                  <a:schemeClr val="accent1"/>
                </a:solidFill>
              </a:rPr>
              <a:t>3</a:t>
            </a:r>
            <a:endParaRPr lang="en-US" sz="4000" dirty="0"/>
          </a:p>
        </p:txBody>
      </p:sp>
      <p:sp>
        <p:nvSpPr>
          <p:cNvPr id="8" name="text-438"/>
          <p:cNvSpPr txBox="1"/>
          <p:nvPr/>
        </p:nvSpPr>
        <p:spPr>
          <a:xfrm>
            <a:off x="1371600" y="2926080"/>
            <a:ext cx="7315200" cy="731520"/>
          </a:xfrm>
          <a:prstGeom prst="rect">
            <a:avLst/>
          </a:prstGeom>
          <a:noFill/>
          <a:ln/>
        </p:spPr>
        <p:txBody>
          <a:bodyPr wrap="square" lIns="0" tIns="0" rIns="0" bIns="0" rtlCol="0" anchor="ctr"/>
          <a:lstStyle/>
          <a:p>
            <a:pPr marL="0" indent="0">
              <a:buNone/>
            </a:pPr>
            <a:r>
              <a:rPr lang="en-US" sz="2000" dirty="0">
                <a:solidFill>
                  <a:schemeClr val="bg1"/>
                </a:solidFill>
              </a:rPr>
              <a:t>Create safety, gratitude, and meaning for your team.</a:t>
            </a:r>
            <a:endParaRPr lang="en-US" sz="2000" dirty="0"/>
          </a:p>
        </p:txBody>
      </p:sp>
      <p:sp>
        <p:nvSpPr>
          <p:cNvPr id="9" name="text-439"/>
          <p:cNvSpPr txBox="1"/>
          <p:nvPr/>
        </p:nvSpPr>
        <p:spPr>
          <a:xfrm>
            <a:off x="457200" y="3749040"/>
            <a:ext cx="731520" cy="731520"/>
          </a:xfrm>
          <a:prstGeom prst="rect">
            <a:avLst/>
          </a:prstGeom>
          <a:noFill/>
          <a:ln/>
        </p:spPr>
        <p:txBody>
          <a:bodyPr wrap="square" lIns="0" tIns="0" rIns="0" bIns="0" rtlCol="0" anchor="ctr"/>
          <a:lstStyle/>
          <a:p>
            <a:pPr marL="0" indent="0">
              <a:buNone/>
            </a:pPr>
            <a:r>
              <a:rPr lang="en-US" sz="4000" b="1" dirty="0">
                <a:solidFill>
                  <a:schemeClr val="accent1"/>
                </a:solidFill>
              </a:rPr>
              <a:t>4</a:t>
            </a:r>
            <a:endParaRPr lang="en-US" sz="4000" dirty="0"/>
          </a:p>
        </p:txBody>
      </p:sp>
      <p:sp>
        <p:nvSpPr>
          <p:cNvPr id="10" name="text-440"/>
          <p:cNvSpPr txBox="1"/>
          <p:nvPr/>
        </p:nvSpPr>
        <p:spPr>
          <a:xfrm>
            <a:off x="1371600" y="3749040"/>
            <a:ext cx="7315200" cy="731520"/>
          </a:xfrm>
          <a:prstGeom prst="rect">
            <a:avLst/>
          </a:prstGeom>
          <a:noFill/>
          <a:ln/>
        </p:spPr>
        <p:txBody>
          <a:bodyPr wrap="square" lIns="0" tIns="0" rIns="0" bIns="0" rtlCol="0" anchor="ctr"/>
          <a:lstStyle/>
          <a:p>
            <a:pPr marL="0" indent="0">
              <a:buNone/>
            </a:pPr>
            <a:r>
              <a:rPr lang="en-US" sz="2000" dirty="0">
                <a:solidFill>
                  <a:schemeClr val="bg1"/>
                </a:solidFill>
              </a:rPr>
              <a:t>Stay honest: realistic optimism beats forced cheer.</a:t>
            </a:r>
            <a:endParaRPr 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441"/>
          <p:cNvSpPr txBox="1"/>
          <p:nvPr/>
        </p:nvSpPr>
        <p:spPr>
          <a:xfrm>
            <a:off x="594361" y="4206240"/>
            <a:ext cx="3840480" cy="457200"/>
          </a:xfrm>
          <a:prstGeom prst="rect">
            <a:avLst/>
          </a:prstGeom>
          <a:noFill/>
          <a:ln/>
        </p:spPr>
        <p:txBody>
          <a:bodyPr wrap="square" lIns="0" tIns="0" rIns="0" bIns="0" rtlCol="0" anchor="t"/>
          <a:lstStyle/>
          <a:p>
            <a:pPr marL="0" indent="0">
              <a:buNone/>
            </a:pPr>
            <a:r>
              <a:rPr lang="en-US" sz="2000" b="1" dirty="0">
                <a:solidFill>
                  <a:schemeClr val="accent1"/>
                </a:solidFill>
              </a:rPr>
              <a:t>Next: your presentations</a:t>
            </a:r>
            <a:endParaRPr lang="en-US" sz="2000" dirty="0"/>
          </a:p>
        </p:txBody>
      </p:sp>
      <p:sp>
        <p:nvSpPr>
          <p:cNvPr id="4" name="circle-442"/>
          <p:cNvSpPr/>
          <p:nvPr/>
        </p:nvSpPr>
        <p:spPr>
          <a:xfrm>
            <a:off x="457200" y="2286000"/>
            <a:ext cx="1280160" cy="1280160"/>
          </a:xfrm>
          <a:prstGeom prst="ellipse">
            <a:avLst/>
          </a:prstGeom>
          <a:solidFill>
            <a:srgbClr val="F5A623"/>
          </a:solidFill>
          <a:ln/>
        </p:spPr>
        <p:txBody>
          <a:bodyPr/>
          <a:lstStyle/>
          <a:p>
            <a:endParaRPr lang="en-US"/>
          </a:p>
        </p:txBody>
      </p:sp>
      <p:pic>
        <p:nvPicPr>
          <p:cNvPr id="5" name="icon-443" descr="icon"/>
          <p:cNvPicPr>
            <a:picLocks noChangeAspect="1"/>
          </p:cNvPicPr>
          <p:nvPr/>
        </p:nvPicPr>
        <p:blipFill>
          <a:blip r:embed="rId3"/>
          <a:stretch>
            <a:fillRect/>
          </a:stretch>
        </p:blipFill>
        <p:spPr>
          <a:xfrm>
            <a:off x="745236" y="2596896"/>
            <a:ext cx="704088" cy="704088"/>
          </a:xfrm>
          <a:prstGeom prst="rect">
            <a:avLst/>
          </a:prstGeom>
        </p:spPr>
      </p:pic>
      <p:sp>
        <p:nvSpPr>
          <p:cNvPr id="6" name="reading-card-444"/>
          <p:cNvSpPr/>
          <p:nvPr/>
        </p:nvSpPr>
        <p:spPr>
          <a:xfrm>
            <a:off x="4334256" y="1188720"/>
            <a:ext cx="4206240" cy="3246120"/>
          </a:xfrm>
          <a:prstGeom prst="roundRect">
            <a:avLst>
              <a:gd name="adj" fmla="val 2254"/>
            </a:avLst>
          </a:prstGeom>
          <a:solidFill>
            <a:schemeClr val="accent3"/>
          </a:solidFill>
          <a:ln/>
        </p:spPr>
        <p:txBody>
          <a:bodyPr/>
          <a:lstStyle/>
          <a:p>
            <a:endParaRPr lang="en-US"/>
          </a:p>
        </p:txBody>
      </p:sp>
      <p:sp>
        <p:nvSpPr>
          <p:cNvPr id="7" name="text-445"/>
          <p:cNvSpPr txBox="1"/>
          <p:nvPr/>
        </p:nvSpPr>
        <p:spPr>
          <a:xfrm>
            <a:off x="4709160" y="1417320"/>
            <a:ext cx="3749040" cy="365760"/>
          </a:xfrm>
          <a:prstGeom prst="rect">
            <a:avLst/>
          </a:prstGeom>
          <a:noFill/>
          <a:ln/>
        </p:spPr>
        <p:txBody>
          <a:bodyPr wrap="square" lIns="0" tIns="0" rIns="0" bIns="0" rtlCol="0" anchor="t"/>
          <a:lstStyle/>
          <a:p>
            <a:pPr marL="0" indent="0">
              <a:buNone/>
            </a:pPr>
            <a:r>
              <a:rPr lang="en-US" sz="1800" b="1" dirty="0">
                <a:solidFill>
                  <a:schemeClr val="bg1"/>
                </a:solidFill>
              </a:rPr>
              <a:t>Further reading</a:t>
            </a:r>
            <a:endParaRPr lang="en-US" sz="1800" dirty="0"/>
          </a:p>
        </p:txBody>
      </p:sp>
      <p:sp>
        <p:nvSpPr>
          <p:cNvPr id="8" name="text-446"/>
          <p:cNvSpPr txBox="1"/>
          <p:nvPr/>
        </p:nvSpPr>
        <p:spPr>
          <a:xfrm>
            <a:off x="4709160" y="1874520"/>
            <a:ext cx="3749040" cy="2560320"/>
          </a:xfrm>
          <a:prstGeom prst="rect">
            <a:avLst/>
          </a:prstGeom>
          <a:noFill/>
          <a:ln/>
        </p:spPr>
        <p:txBody>
          <a:bodyPr wrap="square" lIns="0" tIns="0" rIns="0" bIns="0" rtlCol="0" anchor="t"/>
          <a:lstStyle/>
          <a:p>
            <a:pPr marL="0" indent="0">
              <a:spcAft>
                <a:spcPts val="600"/>
              </a:spcAft>
              <a:buNone/>
            </a:pPr>
            <a:r>
              <a:rPr lang="en-US" sz="1500" dirty="0">
                <a:solidFill>
                  <a:schemeClr val="bg1"/>
                </a:solidFill>
              </a:rPr>
              <a:t>Seligman, Flourish (2011)</a:t>
            </a:r>
            <a:endParaRPr lang="en-US" sz="1500" dirty="0"/>
          </a:p>
          <a:p>
            <a:pPr marL="0" indent="0">
              <a:spcAft>
                <a:spcPts val="600"/>
              </a:spcAft>
              <a:buNone/>
            </a:pPr>
            <a:r>
              <a:rPr lang="en-US" sz="1500" dirty="0">
                <a:solidFill>
                  <a:schemeClr val="bg1"/>
                </a:solidFill>
              </a:rPr>
              <a:t>Seligman, Learned Optimism (1990)</a:t>
            </a:r>
            <a:endParaRPr lang="en-US" sz="1500" dirty="0"/>
          </a:p>
          <a:p>
            <a:pPr marL="0" indent="0">
              <a:spcAft>
                <a:spcPts val="600"/>
              </a:spcAft>
              <a:buNone/>
            </a:pPr>
            <a:r>
              <a:rPr lang="en-US" sz="1500" dirty="0">
                <a:solidFill>
                  <a:schemeClr val="bg1"/>
                </a:solidFill>
              </a:rPr>
              <a:t>Fredrickson, Positivity (2009)</a:t>
            </a:r>
            <a:endParaRPr lang="en-US" sz="1500" dirty="0"/>
          </a:p>
          <a:p>
            <a:pPr marL="0" indent="0">
              <a:spcAft>
                <a:spcPts val="600"/>
              </a:spcAft>
              <a:buNone/>
            </a:pPr>
            <a:r>
              <a:rPr lang="en-US" sz="1500" dirty="0">
                <a:solidFill>
                  <a:schemeClr val="bg1"/>
                </a:solidFill>
              </a:rPr>
              <a:t>Cameron, Positive Leadership (2008)</a:t>
            </a:r>
            <a:endParaRPr lang="en-US" sz="1500" dirty="0"/>
          </a:p>
          <a:p>
            <a:pPr marL="0" indent="0">
              <a:spcAft>
                <a:spcPts val="600"/>
              </a:spcAft>
              <a:buNone/>
            </a:pPr>
            <a:r>
              <a:rPr lang="en-US" sz="1500" dirty="0">
                <a:solidFill>
                  <a:schemeClr val="bg1"/>
                </a:solidFill>
              </a:rPr>
              <a:t>Dweck, Mindset (2006)</a:t>
            </a:r>
            <a:endParaRPr lang="en-US" sz="1500" dirty="0"/>
          </a:p>
          <a:p>
            <a:pPr marL="0" indent="0">
              <a:spcAft>
                <a:spcPts val="600"/>
              </a:spcAft>
              <a:buNone/>
            </a:pPr>
            <a:r>
              <a:rPr lang="en-US" sz="1500" dirty="0">
                <a:solidFill>
                  <a:schemeClr val="bg1"/>
                </a:solidFill>
              </a:rPr>
              <a:t>Edmondson, The Fearless Organization (2018)</a:t>
            </a:r>
            <a:endParaRPr lang="en-US" sz="1500" dirty="0"/>
          </a:p>
          <a:p>
            <a:pPr marL="0" indent="0">
              <a:spcAft>
                <a:spcPts val="600"/>
              </a:spcAft>
              <a:buNone/>
            </a:pPr>
            <a:r>
              <a:rPr lang="en-US" sz="1500" dirty="0">
                <a:solidFill>
                  <a:schemeClr val="bg1"/>
                </a:solidFill>
              </a:rPr>
              <a:t>Csikszentmihalyi, Flow (1990)</a:t>
            </a:r>
            <a:endParaRPr lang="en-US" sz="1500" dirty="0"/>
          </a:p>
        </p:txBody>
      </p:sp>
    </p:spTree>
  </p:cSld>
  <p:clrMapOvr>
    <a:masterClrMapping/>
  </p:clrMapOvr>
</p:sld>
</file>

<file path=ppt/theme/theme1.xml><?xml version="1.0" encoding="utf-8"?>
<a:theme xmlns:a="http://schemas.openxmlformats.org/drawingml/2006/main" name="Positivity">
  <a:themeElements>
    <a:clrScheme name="Positivity">
      <a:dk1>
        <a:srgbClr val="1F2A30"/>
      </a:dk1>
      <a:lt1>
        <a:srgbClr val="FFFFFF"/>
      </a:lt1>
      <a:dk2>
        <a:srgbClr val="0B3C49"/>
      </a:dk2>
      <a:lt2>
        <a:srgbClr val="E8F4F1"/>
      </a:lt2>
      <a:accent1>
        <a:srgbClr val="F5A623"/>
      </a:accent1>
      <a:accent2>
        <a:srgbClr val="C8452F"/>
      </a:accent2>
      <a:accent3>
        <a:srgbClr val="1F8A8A"/>
      </a:accent3>
      <a:accent4>
        <a:srgbClr val="6B4FA0"/>
      </a:accent4>
      <a:accent5>
        <a:srgbClr val="3E8E5A"/>
      </a:accent5>
      <a:accent6>
        <a:srgbClr val="3F7FB5"/>
      </a:accent6>
      <a:hlink>
        <a:srgbClr val="1F8A8A"/>
      </a:hlink>
      <a:folHlink>
        <a:srgbClr val="6B4FA0"/>
      </a:folHlink>
    </a:clrScheme>
    <a:fontScheme name="Positivit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TotalTime>
  <Words>8283</Words>
  <Application>Microsoft Office PowerPoint</Application>
  <PresentationFormat>On-screen Show (16:9)</PresentationFormat>
  <Paragraphs>337</Paragraphs>
  <Slides>29</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Times New Roman</vt:lpstr>
      <vt:lpstr>Positivity</vt:lpstr>
      <vt:lpstr>Leading with Positivity</vt:lpstr>
      <vt:lpstr>By the end of this session</vt:lpstr>
      <vt:lpstr>Warm-up: your best leader</vt:lpstr>
      <vt:lpstr>Positivity drives performance</vt:lpstr>
      <vt:lpstr>PowerPoint Presentation</vt:lpstr>
      <vt:lpstr>PowerPoint Presentation</vt:lpstr>
      <vt:lpstr>PowerPoint Presentation</vt:lpstr>
      <vt:lpstr>PowerPoint Presentation</vt:lpstr>
      <vt:lpstr>PowerPoint Presentation</vt:lpstr>
      <vt:lpstr>PowerPoint Presentation</vt:lpstr>
      <vt:lpstr>From fixing to flourishing</vt:lpstr>
      <vt:lpstr>PERMA: the five building blocks</vt:lpstr>
      <vt:lpstr>PERMA in your team</vt:lpstr>
      <vt:lpstr>Broaden and build Barbara Fredrickson's broaden-and-build                 theory (2001). </vt:lpstr>
      <vt:lpstr>24 strengths, 6 virtues</vt:lpstr>
      <vt:lpstr>Lead from strengths</vt:lpstr>
      <vt:lpstr>Fixed vs growth mindset</vt:lpstr>
      <vt:lpstr>Optimism is learnable: the 3 Ps</vt:lpstr>
      <vt:lpstr>Flow: challenge meets skill</vt:lpstr>
      <vt:lpstr>Psychological safety comes first</vt:lpstr>
      <vt:lpstr>Positive leadership: 4 strategies</vt:lpstr>
      <vt:lpstr>Gratitude changes behavior</vt:lpstr>
      <vt:lpstr>Appreciative inquiry -</vt:lpstr>
      <vt:lpstr>Positivity is not pretending</vt:lpstr>
      <vt:lpstr>Case: the demoralized team</vt:lpstr>
      <vt:lpstr>Your positive-leadership toolkit</vt:lpstr>
      <vt:lpstr>Your 30-day commitment</vt:lpstr>
      <vt:lpstr>Key takeaways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Leading with Positivity: The Power of Positive Psychology</dc:title>
  <dc:subject>PptxGenJS Presentation</dc:subject>
  <dc:creator>PptxGenJS</dc:creator>
  <cp:lastModifiedBy>Mueen Zafar</cp:lastModifiedBy>
  <cp:revision>3</cp:revision>
  <dcterms:created xsi:type="dcterms:W3CDTF">2026-10-03T18:25:51Z</dcterms:created>
  <dcterms:modified xsi:type="dcterms:W3CDTF">2026-10-03T19:24:18Z</dcterms:modified>
</cp:coreProperties>
</file>